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7" r:id="rId1"/>
  </p:sldMasterIdLst>
  <p:notesMasterIdLst>
    <p:notesMasterId r:id="rId120"/>
  </p:notesMasterIdLst>
  <p:sldIdLst>
    <p:sldId id="275" r:id="rId2"/>
    <p:sldId id="322" r:id="rId3"/>
    <p:sldId id="354" r:id="rId4"/>
    <p:sldId id="268" r:id="rId5"/>
    <p:sldId id="257" r:id="rId6"/>
    <p:sldId id="357" r:id="rId7"/>
    <p:sldId id="378" r:id="rId8"/>
    <p:sldId id="384" r:id="rId9"/>
    <p:sldId id="385" r:id="rId10"/>
    <p:sldId id="386" r:id="rId11"/>
    <p:sldId id="381" r:id="rId12"/>
    <p:sldId id="382" r:id="rId13"/>
    <p:sldId id="387" r:id="rId14"/>
    <p:sldId id="393" r:id="rId15"/>
    <p:sldId id="395" r:id="rId16"/>
    <p:sldId id="396" r:id="rId17"/>
    <p:sldId id="397" r:id="rId18"/>
    <p:sldId id="398" r:id="rId19"/>
    <p:sldId id="358" r:id="rId20"/>
    <p:sldId id="388" r:id="rId21"/>
    <p:sldId id="359" r:id="rId22"/>
    <p:sldId id="369" r:id="rId23"/>
    <p:sldId id="370" r:id="rId24"/>
    <p:sldId id="371" r:id="rId25"/>
    <p:sldId id="372" r:id="rId26"/>
    <p:sldId id="373" r:id="rId27"/>
    <p:sldId id="374" r:id="rId28"/>
    <p:sldId id="375" r:id="rId29"/>
    <p:sldId id="401" r:id="rId30"/>
    <p:sldId id="402" r:id="rId31"/>
    <p:sldId id="259" r:id="rId32"/>
    <p:sldId id="276" r:id="rId33"/>
    <p:sldId id="277" r:id="rId34"/>
    <p:sldId id="278" r:id="rId35"/>
    <p:sldId id="403" r:id="rId36"/>
    <p:sldId id="368" r:id="rId37"/>
    <p:sldId id="404" r:id="rId38"/>
    <p:sldId id="280" r:id="rId39"/>
    <p:sldId id="279" r:id="rId40"/>
    <p:sldId id="348" r:id="rId41"/>
    <p:sldId id="283" r:id="rId42"/>
    <p:sldId id="349" r:id="rId43"/>
    <p:sldId id="350" r:id="rId44"/>
    <p:sldId id="282" r:id="rId45"/>
    <p:sldId id="270" r:id="rId46"/>
    <p:sldId id="351" r:id="rId47"/>
    <p:sldId id="288" r:id="rId48"/>
    <p:sldId id="310" r:id="rId49"/>
    <p:sldId id="352" r:id="rId50"/>
    <p:sldId id="353" r:id="rId51"/>
    <p:sldId id="405" r:id="rId52"/>
    <p:sldId id="355" r:id="rId53"/>
    <p:sldId id="406" r:id="rId54"/>
    <p:sldId id="407" r:id="rId55"/>
    <p:sldId id="408" r:id="rId56"/>
    <p:sldId id="409" r:id="rId57"/>
    <p:sldId id="410" r:id="rId58"/>
    <p:sldId id="363" r:id="rId59"/>
    <p:sldId id="413" r:id="rId60"/>
    <p:sldId id="414" r:id="rId61"/>
    <p:sldId id="415" r:id="rId62"/>
    <p:sldId id="416" r:id="rId63"/>
    <p:sldId id="417" r:id="rId64"/>
    <p:sldId id="418" r:id="rId65"/>
    <p:sldId id="376" r:id="rId66"/>
    <p:sldId id="419" r:id="rId67"/>
    <p:sldId id="380" r:id="rId68"/>
    <p:sldId id="420" r:id="rId69"/>
    <p:sldId id="421" r:id="rId70"/>
    <p:sldId id="422" r:id="rId71"/>
    <p:sldId id="423" r:id="rId72"/>
    <p:sldId id="424" r:id="rId73"/>
    <p:sldId id="383" r:id="rId74"/>
    <p:sldId id="425" r:id="rId75"/>
    <p:sldId id="426" r:id="rId76"/>
    <p:sldId id="427" r:id="rId77"/>
    <p:sldId id="389" r:id="rId78"/>
    <p:sldId id="428" r:id="rId79"/>
    <p:sldId id="429" r:id="rId80"/>
    <p:sldId id="430" r:id="rId81"/>
    <p:sldId id="431" r:id="rId82"/>
    <p:sldId id="432" r:id="rId83"/>
    <p:sldId id="394" r:id="rId84"/>
    <p:sldId id="433" r:id="rId85"/>
    <p:sldId id="434" r:id="rId86"/>
    <p:sldId id="435" r:id="rId87"/>
    <p:sldId id="399" r:id="rId88"/>
    <p:sldId id="400" r:id="rId89"/>
    <p:sldId id="436" r:id="rId90"/>
    <p:sldId id="437" r:id="rId91"/>
    <p:sldId id="438" r:id="rId92"/>
    <p:sldId id="439" r:id="rId93"/>
    <p:sldId id="289" r:id="rId94"/>
    <p:sldId id="290" r:id="rId95"/>
    <p:sldId id="291" r:id="rId96"/>
    <p:sldId id="292" r:id="rId97"/>
    <p:sldId id="440" r:id="rId98"/>
    <p:sldId id="441" r:id="rId99"/>
    <p:sldId id="442" r:id="rId100"/>
    <p:sldId id="443" r:id="rId101"/>
    <p:sldId id="444" r:id="rId102"/>
    <p:sldId id="445" r:id="rId103"/>
    <p:sldId id="446" r:id="rId104"/>
    <p:sldId id="447" r:id="rId105"/>
    <p:sldId id="448" r:id="rId106"/>
    <p:sldId id="449" r:id="rId107"/>
    <p:sldId id="450" r:id="rId108"/>
    <p:sldId id="451" r:id="rId109"/>
    <p:sldId id="452" r:id="rId110"/>
    <p:sldId id="453" r:id="rId111"/>
    <p:sldId id="454" r:id="rId112"/>
    <p:sldId id="455" r:id="rId113"/>
    <p:sldId id="456" r:id="rId114"/>
    <p:sldId id="457" r:id="rId115"/>
    <p:sldId id="458" r:id="rId116"/>
    <p:sldId id="459" r:id="rId117"/>
    <p:sldId id="460" r:id="rId118"/>
    <p:sldId id="461" r:id="rId119"/>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it Viit" initials="VV"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AEFF"/>
    <a:srgbClr val="25A2FF"/>
    <a:srgbClr val="189CDE"/>
    <a:srgbClr val="0996FF"/>
    <a:srgbClr val="0192FF"/>
    <a:srgbClr val="0594FF"/>
    <a:srgbClr val="008FFA"/>
    <a:srgbClr val="008A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45" autoAdjust="0"/>
  </p:normalViewPr>
  <p:slideViewPr>
    <p:cSldViewPr snapToGrid="0">
      <p:cViewPr varScale="1">
        <p:scale>
          <a:sx n="74" d="100"/>
          <a:sy n="74" d="100"/>
        </p:scale>
        <p:origin x="336" y="3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commentAuthors" Target="commentAuthor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981B592-AEF7-4F19-89CE-62E2656F1C5E}" type="datetimeFigureOut">
              <a:rPr lang="en-IN" smtClean="0"/>
              <a:t>04-09-2025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559C-9A1D-465C-BD22-C64000BBBB10}" type="slidenum">
              <a:rPr lang="en-IN" smtClean="0"/>
              <a:t>‹#›</a:t>
            </a:fld>
            <a:endParaRPr lang="en-IN"/>
          </a:p>
        </p:txBody>
      </p:sp>
    </p:spTree>
    <p:extLst>
      <p:ext uri="{BB962C8B-B14F-4D97-AF65-F5344CB8AC3E}">
        <p14:creationId xmlns:p14="http://schemas.microsoft.com/office/powerpoint/2010/main" val="311978485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BD5559C-9A1D-465C-BD22-C64000BBBB10}" type="slidenum">
              <a:rPr lang="en-IN" smtClean="0"/>
              <a:t>2</a:t>
            </a:fld>
            <a:endParaRPr lang="en-IN"/>
          </a:p>
        </p:txBody>
      </p:sp>
    </p:spTree>
    <p:extLst>
      <p:ext uri="{BB962C8B-B14F-4D97-AF65-F5344CB8AC3E}">
        <p14:creationId xmlns:p14="http://schemas.microsoft.com/office/powerpoint/2010/main" val="1245510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5</a:t>
            </a:fld>
            <a:endParaRPr lang="en-IN" dirty="0"/>
          </a:p>
        </p:txBody>
      </p:sp>
    </p:spTree>
    <p:extLst>
      <p:ext uri="{BB962C8B-B14F-4D97-AF65-F5344CB8AC3E}">
        <p14:creationId xmlns:p14="http://schemas.microsoft.com/office/powerpoint/2010/main" val="1202755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6</a:t>
            </a:fld>
            <a:endParaRPr lang="en-IN" dirty="0"/>
          </a:p>
        </p:txBody>
      </p:sp>
    </p:spTree>
    <p:extLst>
      <p:ext uri="{BB962C8B-B14F-4D97-AF65-F5344CB8AC3E}">
        <p14:creationId xmlns:p14="http://schemas.microsoft.com/office/powerpoint/2010/main" val="3127168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EA941-9697-440E-EB89-10622F9C7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145E9-24FB-6EAC-118D-6509E1D2E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3EE3A0-CA26-5C8C-9A09-286F749B06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6D23BF-8C18-F2D1-5F23-22E21BC989E2}"/>
              </a:ext>
            </a:extLst>
          </p:cNvPr>
          <p:cNvSpPr>
            <a:spLocks noGrp="1"/>
          </p:cNvSpPr>
          <p:nvPr>
            <p:ph type="sldNum" sz="quarter" idx="5"/>
          </p:nvPr>
        </p:nvSpPr>
        <p:spPr/>
        <p:txBody>
          <a:bodyPr/>
          <a:lstStyle/>
          <a:p>
            <a:fld id="{4BD5559C-9A1D-465C-BD22-C64000BBBB10}" type="slidenum">
              <a:rPr lang="en-IN" smtClean="0"/>
              <a:t>7</a:t>
            </a:fld>
            <a:endParaRPr lang="en-IN" dirty="0"/>
          </a:p>
        </p:txBody>
      </p:sp>
    </p:spTree>
    <p:extLst>
      <p:ext uri="{BB962C8B-B14F-4D97-AF65-F5344CB8AC3E}">
        <p14:creationId xmlns:p14="http://schemas.microsoft.com/office/powerpoint/2010/main" val="941074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8</a:t>
            </a:fld>
            <a:endParaRPr lang="en-IN" dirty="0"/>
          </a:p>
        </p:txBody>
      </p:sp>
    </p:spTree>
    <p:extLst>
      <p:ext uri="{BB962C8B-B14F-4D97-AF65-F5344CB8AC3E}">
        <p14:creationId xmlns:p14="http://schemas.microsoft.com/office/powerpoint/2010/main" val="213428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9</a:t>
            </a:fld>
            <a:endParaRPr lang="en-IN" dirty="0"/>
          </a:p>
        </p:txBody>
      </p:sp>
    </p:spTree>
    <p:extLst>
      <p:ext uri="{BB962C8B-B14F-4D97-AF65-F5344CB8AC3E}">
        <p14:creationId xmlns:p14="http://schemas.microsoft.com/office/powerpoint/2010/main" val="103547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4256F-1820-58DE-6678-54E90229E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96EDD-9624-39C1-C5CF-EC1177820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638013-10C2-18DE-0CCB-0BE73DF17E5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6705481-41EB-5150-EABC-FBD6BA13427E}"/>
              </a:ext>
            </a:extLst>
          </p:cNvPr>
          <p:cNvSpPr>
            <a:spLocks noGrp="1"/>
          </p:cNvSpPr>
          <p:nvPr>
            <p:ph type="sldNum" sz="quarter" idx="5"/>
          </p:nvPr>
        </p:nvSpPr>
        <p:spPr/>
        <p:txBody>
          <a:bodyPr/>
          <a:lstStyle/>
          <a:p>
            <a:fld id="{4BD5559C-9A1D-465C-BD22-C64000BBBB10}" type="slidenum">
              <a:rPr lang="en-IN" smtClean="0"/>
              <a:t>10</a:t>
            </a:fld>
            <a:endParaRPr lang="en-IN" dirty="0"/>
          </a:p>
        </p:txBody>
      </p:sp>
    </p:spTree>
    <p:extLst>
      <p:ext uri="{BB962C8B-B14F-4D97-AF65-F5344CB8AC3E}">
        <p14:creationId xmlns:p14="http://schemas.microsoft.com/office/powerpoint/2010/main" val="2343936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11</a:t>
            </a:fld>
            <a:endParaRPr lang="en-IN" dirty="0"/>
          </a:p>
        </p:txBody>
      </p:sp>
    </p:spTree>
    <p:extLst>
      <p:ext uri="{BB962C8B-B14F-4D97-AF65-F5344CB8AC3E}">
        <p14:creationId xmlns:p14="http://schemas.microsoft.com/office/powerpoint/2010/main" val="12166449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12</a:t>
            </a:fld>
            <a:endParaRPr lang="en-IN" dirty="0"/>
          </a:p>
        </p:txBody>
      </p:sp>
    </p:spTree>
    <p:extLst>
      <p:ext uri="{BB962C8B-B14F-4D97-AF65-F5344CB8AC3E}">
        <p14:creationId xmlns:p14="http://schemas.microsoft.com/office/powerpoint/2010/main" val="695889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0A5A3-6E3E-5F24-99E2-685F291ED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42A3A-6871-222B-890D-647BC9B131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2FFF2-A3AC-9179-8171-DEB9A5616F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994A7B-008B-F5A0-5FD0-758893261263}"/>
              </a:ext>
            </a:extLst>
          </p:cNvPr>
          <p:cNvSpPr>
            <a:spLocks noGrp="1"/>
          </p:cNvSpPr>
          <p:nvPr>
            <p:ph type="sldNum" sz="quarter" idx="5"/>
          </p:nvPr>
        </p:nvSpPr>
        <p:spPr/>
        <p:txBody>
          <a:bodyPr/>
          <a:lstStyle/>
          <a:p>
            <a:fld id="{4BD5559C-9A1D-465C-BD22-C64000BBBB10}" type="slidenum">
              <a:rPr lang="en-IN" smtClean="0"/>
              <a:t>13</a:t>
            </a:fld>
            <a:endParaRPr lang="en-IN" dirty="0"/>
          </a:p>
        </p:txBody>
      </p:sp>
    </p:spTree>
    <p:extLst>
      <p:ext uri="{BB962C8B-B14F-4D97-AF65-F5344CB8AC3E}">
        <p14:creationId xmlns:p14="http://schemas.microsoft.com/office/powerpoint/2010/main" val="17752677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EEF2D-9732-8949-9340-3E17AC829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34F57-79F9-F015-31FE-264259199A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9EC7D2-5369-C320-6BEC-09CC951CB39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4C69776-2DDD-006F-C7E1-035F8B758E24}"/>
              </a:ext>
            </a:extLst>
          </p:cNvPr>
          <p:cNvSpPr>
            <a:spLocks noGrp="1"/>
          </p:cNvSpPr>
          <p:nvPr>
            <p:ph type="sldNum" sz="quarter" idx="5"/>
          </p:nvPr>
        </p:nvSpPr>
        <p:spPr/>
        <p:txBody>
          <a:bodyPr/>
          <a:lstStyle/>
          <a:p>
            <a:fld id="{4BD5559C-9A1D-465C-BD22-C64000BBBB10}" type="slidenum">
              <a:rPr lang="en-IN" smtClean="0"/>
              <a:t>14</a:t>
            </a:fld>
            <a:endParaRPr lang="en-IN" dirty="0"/>
          </a:p>
        </p:txBody>
      </p:sp>
    </p:spTree>
    <p:extLst>
      <p:ext uri="{BB962C8B-B14F-4D97-AF65-F5344CB8AC3E}">
        <p14:creationId xmlns:p14="http://schemas.microsoft.com/office/powerpoint/2010/main" val="25329597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AD0F-9C02-D37B-6578-DDFE794FEE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61290-D8BE-F1FB-17AD-4EFB13ECE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1875E3-F5B9-E3A1-95C9-B4690152BD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272759D-F238-1DA9-93B9-0CAB66A7256E}"/>
              </a:ext>
            </a:extLst>
          </p:cNvPr>
          <p:cNvSpPr>
            <a:spLocks noGrp="1"/>
          </p:cNvSpPr>
          <p:nvPr>
            <p:ph type="sldNum" sz="quarter" idx="5"/>
          </p:nvPr>
        </p:nvSpPr>
        <p:spPr/>
        <p:txBody>
          <a:bodyPr/>
          <a:lstStyle/>
          <a:p>
            <a:fld id="{4BD5559C-9A1D-465C-BD22-C64000BBBB10}" type="slidenum">
              <a:rPr lang="en-IN" smtClean="0"/>
              <a:t>15</a:t>
            </a:fld>
            <a:endParaRPr lang="en-IN" dirty="0"/>
          </a:p>
        </p:txBody>
      </p:sp>
    </p:spTree>
    <p:extLst>
      <p:ext uri="{BB962C8B-B14F-4D97-AF65-F5344CB8AC3E}">
        <p14:creationId xmlns:p14="http://schemas.microsoft.com/office/powerpoint/2010/main" val="2764819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0D77D-D367-B5F9-E606-C39FE6DCA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1884C7-6BD5-10EF-DFF8-8E9622A3F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0C197C-6825-E4FA-6DDD-331BB46422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A1E199-C740-00DB-D68F-87AEA1C6B4A6}"/>
              </a:ext>
            </a:extLst>
          </p:cNvPr>
          <p:cNvSpPr>
            <a:spLocks noGrp="1"/>
          </p:cNvSpPr>
          <p:nvPr>
            <p:ph type="sldNum" sz="quarter" idx="5"/>
          </p:nvPr>
        </p:nvSpPr>
        <p:spPr/>
        <p:txBody>
          <a:bodyPr/>
          <a:lstStyle/>
          <a:p>
            <a:fld id="{4BD5559C-9A1D-465C-BD22-C64000BBBB10}" type="slidenum">
              <a:rPr lang="en-IN" smtClean="0"/>
              <a:t>16</a:t>
            </a:fld>
            <a:endParaRPr lang="en-IN" dirty="0"/>
          </a:p>
        </p:txBody>
      </p:sp>
    </p:spTree>
    <p:extLst>
      <p:ext uri="{BB962C8B-B14F-4D97-AF65-F5344CB8AC3E}">
        <p14:creationId xmlns:p14="http://schemas.microsoft.com/office/powerpoint/2010/main" val="1178225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19CFE-375D-3580-ACE8-1964F6D5F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4937D-14AE-2827-BD21-C9132ABE1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22D9E-22A1-B1A2-351E-EB8CA8A73A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81D5814-0FB5-0081-234C-7AA4885A1FB9}"/>
              </a:ext>
            </a:extLst>
          </p:cNvPr>
          <p:cNvSpPr>
            <a:spLocks noGrp="1"/>
          </p:cNvSpPr>
          <p:nvPr>
            <p:ph type="sldNum" sz="quarter" idx="5"/>
          </p:nvPr>
        </p:nvSpPr>
        <p:spPr/>
        <p:txBody>
          <a:bodyPr/>
          <a:lstStyle/>
          <a:p>
            <a:fld id="{4BD5559C-9A1D-465C-BD22-C64000BBBB10}" type="slidenum">
              <a:rPr lang="en-IN" smtClean="0"/>
              <a:t>17</a:t>
            </a:fld>
            <a:endParaRPr lang="en-IN" dirty="0"/>
          </a:p>
        </p:txBody>
      </p:sp>
    </p:spTree>
    <p:extLst>
      <p:ext uri="{BB962C8B-B14F-4D97-AF65-F5344CB8AC3E}">
        <p14:creationId xmlns:p14="http://schemas.microsoft.com/office/powerpoint/2010/main" val="35198835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B0A65-414D-C310-8736-B61BA9A73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7685C-531F-E401-7E0D-D5F6C397E4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986FF-A7AF-8989-17A8-65B616953F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5479B0D-D047-1955-0057-635694878D8F}"/>
              </a:ext>
            </a:extLst>
          </p:cNvPr>
          <p:cNvSpPr>
            <a:spLocks noGrp="1"/>
          </p:cNvSpPr>
          <p:nvPr>
            <p:ph type="sldNum" sz="quarter" idx="5"/>
          </p:nvPr>
        </p:nvSpPr>
        <p:spPr/>
        <p:txBody>
          <a:bodyPr/>
          <a:lstStyle/>
          <a:p>
            <a:fld id="{4BD5559C-9A1D-465C-BD22-C64000BBBB10}" type="slidenum">
              <a:rPr lang="en-IN" smtClean="0"/>
              <a:t>18</a:t>
            </a:fld>
            <a:endParaRPr lang="en-IN" dirty="0"/>
          </a:p>
        </p:txBody>
      </p:sp>
    </p:spTree>
    <p:extLst>
      <p:ext uri="{BB962C8B-B14F-4D97-AF65-F5344CB8AC3E}">
        <p14:creationId xmlns:p14="http://schemas.microsoft.com/office/powerpoint/2010/main" val="1068086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t>19</a:t>
            </a:fld>
            <a:endParaRPr lang="en-IN" dirty="0"/>
          </a:p>
        </p:txBody>
      </p:sp>
    </p:spTree>
    <p:extLst>
      <p:ext uri="{BB962C8B-B14F-4D97-AF65-F5344CB8AC3E}">
        <p14:creationId xmlns:p14="http://schemas.microsoft.com/office/powerpoint/2010/main" val="4205062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6E2CD-96F9-1852-07D1-FC327FF14A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700C91-F2F3-E437-7944-75544D696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86FBC-1214-CA48-82AF-FC1D110D89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0FCCCF8-E628-99CE-CEBA-1126686DAEB4}"/>
              </a:ext>
            </a:extLst>
          </p:cNvPr>
          <p:cNvSpPr>
            <a:spLocks noGrp="1"/>
          </p:cNvSpPr>
          <p:nvPr>
            <p:ph type="sldNum" sz="quarter" idx="5"/>
          </p:nvPr>
        </p:nvSpPr>
        <p:spPr/>
        <p:txBody>
          <a:bodyPr/>
          <a:lstStyle/>
          <a:p>
            <a:fld id="{4BD5559C-9A1D-465C-BD22-C64000BBBB10}" type="slidenum">
              <a:rPr lang="en-IN" smtClean="0"/>
              <a:t>20</a:t>
            </a:fld>
            <a:endParaRPr lang="en-IN" dirty="0"/>
          </a:p>
        </p:txBody>
      </p:sp>
    </p:spTree>
    <p:extLst>
      <p:ext uri="{BB962C8B-B14F-4D97-AF65-F5344CB8AC3E}">
        <p14:creationId xmlns:p14="http://schemas.microsoft.com/office/powerpoint/2010/main" val="332419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11: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355" name="Google Shape;355;p1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7138880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2: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401" name="Google Shape;401;p1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669613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13: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406" name="Google Shape;406;p13: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38183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4: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411" name="Google Shape;411;p14: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529939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5: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416" name="Google Shape;416;p1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1386451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18: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436" name="Google Shape;436;p18: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780468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16:notes"/>
          <p:cNvSpPr txBox="1">
            <a:spLocks noGrp="1"/>
          </p:cNvSpPr>
          <p:nvPr>
            <p:ph type="body" idx="1"/>
          </p:nvPr>
        </p:nvSpPr>
        <p:spPr>
          <a:xfrm>
            <a:off x="756000" y="5078520"/>
            <a:ext cx="6047640" cy="48110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endParaRPr dirty="0"/>
          </a:p>
        </p:txBody>
      </p:sp>
      <p:sp>
        <p:nvSpPr>
          <p:cNvPr id="425" name="Google Shape;425;p1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20332055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0" name="Google Shape;430;p17: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457200" lvl="0" indent="-228600" algn="l" rtl="0">
              <a:lnSpc>
                <a:spcPct val="100000"/>
              </a:lnSpc>
              <a:spcBef>
                <a:spcPts val="0"/>
              </a:spcBef>
              <a:spcAft>
                <a:spcPts val="0"/>
              </a:spcAft>
              <a:buClr>
                <a:srgbClr val="000000"/>
              </a:buClr>
              <a:buSzPts val="1200"/>
              <a:buFont typeface="Arial"/>
              <a:buNone/>
            </a:pPr>
            <a:r>
              <a:rPr lang="en-IN" sz="1200" b="0" strike="noStrike" dirty="0">
                <a:solidFill>
                  <a:srgbClr val="000000"/>
                </a:solidFill>
                <a:latin typeface="Arial"/>
                <a:ea typeface="Arial"/>
                <a:cs typeface="Arial"/>
                <a:sym typeface="Arial"/>
              </a:rPr>
              <a:t>The canonical </a:t>
            </a:r>
            <a:r>
              <a:rPr lang="en-IN" sz="1200" b="1" strike="noStrike" dirty="0">
                <a:solidFill>
                  <a:srgbClr val="000000"/>
                </a:solidFill>
                <a:latin typeface="Arial"/>
                <a:ea typeface="Arial"/>
                <a:cs typeface="Arial"/>
                <a:sym typeface="Arial"/>
              </a:rPr>
              <a:t>examples of imperative programming languages</a:t>
            </a:r>
            <a:r>
              <a:rPr lang="en-IN" sz="1200" b="0" strike="noStrike" dirty="0">
                <a:solidFill>
                  <a:srgbClr val="000000"/>
                </a:solidFill>
                <a:latin typeface="Arial"/>
                <a:ea typeface="Arial"/>
                <a:cs typeface="Arial"/>
                <a:sym typeface="Arial"/>
              </a:rPr>
              <a:t> are Fortran and Algol. Others include Pascal, C, and Ada .</a:t>
            </a:r>
            <a:endParaRPr sz="1200" b="0" strike="noStrike" dirty="0">
              <a:latin typeface="Arial"/>
              <a:ea typeface="Arial"/>
              <a:cs typeface="Arial"/>
              <a:sym typeface="Arial"/>
            </a:endParaRPr>
          </a:p>
          <a:p>
            <a:pPr marL="457200" lvl="0" indent="-228600" algn="l" rtl="0">
              <a:lnSpc>
                <a:spcPct val="100000"/>
              </a:lnSpc>
              <a:spcBef>
                <a:spcPts val="0"/>
              </a:spcBef>
              <a:spcAft>
                <a:spcPts val="0"/>
              </a:spcAft>
              <a:buClr>
                <a:srgbClr val="000000"/>
              </a:buClr>
              <a:buSzPts val="1200"/>
              <a:buFont typeface="Arial"/>
              <a:buNone/>
            </a:pPr>
            <a:r>
              <a:rPr lang="en-IN" sz="1200" b="0" strike="noStrike" dirty="0">
                <a:solidFill>
                  <a:srgbClr val="000000"/>
                </a:solidFill>
                <a:latin typeface="Arial"/>
                <a:ea typeface="Arial"/>
                <a:cs typeface="Arial"/>
                <a:sym typeface="Arial"/>
              </a:rPr>
              <a:t>Some of the popular </a:t>
            </a:r>
            <a:r>
              <a:rPr lang="en-IN" sz="1200" b="1" strike="noStrike" dirty="0">
                <a:solidFill>
                  <a:srgbClr val="000000"/>
                </a:solidFill>
                <a:latin typeface="Arial"/>
                <a:ea typeface="Arial"/>
                <a:cs typeface="Arial"/>
                <a:sym typeface="Arial"/>
              </a:rPr>
              <a:t>functional programming languages</a:t>
            </a:r>
            <a:r>
              <a:rPr lang="en-IN" sz="1200" b="0" strike="noStrike" dirty="0">
                <a:solidFill>
                  <a:srgbClr val="000000"/>
                </a:solidFill>
                <a:latin typeface="Arial"/>
                <a:ea typeface="Arial"/>
                <a:cs typeface="Arial"/>
                <a:sym typeface="Arial"/>
              </a:rPr>
              <a:t> include: Lisp, Python, Erlang, Haskell, Clojure,</a:t>
            </a:r>
            <a:endParaRPr sz="1200" b="0" strike="noStrike" dirty="0">
              <a:latin typeface="Arial"/>
              <a:ea typeface="Arial"/>
              <a:cs typeface="Arial"/>
              <a:sym typeface="Arial"/>
            </a:endParaRPr>
          </a:p>
        </p:txBody>
      </p:sp>
      <p:sp>
        <p:nvSpPr>
          <p:cNvPr id="431" name="Google Shape;431;p17:notes"/>
          <p:cNvSpPr txBox="1">
            <a:spLocks noGrp="1"/>
          </p:cNvSpPr>
          <p:nvPr>
            <p:ph type="sldNum" idx="12"/>
          </p:nvPr>
        </p:nvSpPr>
        <p:spPr>
          <a:xfrm>
            <a:off x="3884760" y="8685360"/>
            <a:ext cx="2971440" cy="45828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IN" sz="1400" b="0" i="0" u="none" strike="noStrike" cap="none">
                <a:solidFill>
                  <a:srgbClr val="000000"/>
                </a:solidFill>
                <a:latin typeface="Arial"/>
                <a:ea typeface="Arial"/>
                <a:cs typeface="Arial"/>
                <a:sym typeface="Arial"/>
              </a:rPr>
              <a:t>28</a:t>
            </a:fld>
            <a:endParaRPr sz="140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001450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31</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32</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33</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34</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38</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39</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40</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41</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42</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43</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44</a:t>
            </a:fld>
            <a:endParaRPr lang="en-IN" dirty="0"/>
          </a:p>
        </p:txBody>
      </p:sp>
    </p:spTree>
    <p:extLst>
      <p:ext uri="{BB962C8B-B14F-4D97-AF65-F5344CB8AC3E}">
        <p14:creationId xmlns:p14="http://schemas.microsoft.com/office/powerpoint/2010/main" val="27498406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45</a:t>
            </a:fld>
            <a:endParaRPr lang="en-IN" dirty="0"/>
          </a:p>
        </p:txBody>
      </p:sp>
    </p:spTree>
    <p:extLst>
      <p:ext uri="{BB962C8B-B14F-4D97-AF65-F5344CB8AC3E}">
        <p14:creationId xmlns:p14="http://schemas.microsoft.com/office/powerpoint/2010/main" val="30890913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46</a:t>
            </a:fld>
            <a:endParaRPr lang="en-IN"/>
          </a:p>
        </p:txBody>
      </p:sp>
    </p:spTree>
    <p:extLst>
      <p:ext uri="{BB962C8B-B14F-4D97-AF65-F5344CB8AC3E}">
        <p14:creationId xmlns:p14="http://schemas.microsoft.com/office/powerpoint/2010/main" val="308909135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52</a:t>
            </a:fld>
            <a:endParaRPr lang="en-IN"/>
          </a:p>
        </p:txBody>
      </p:sp>
    </p:spTree>
    <p:extLst>
      <p:ext uri="{BB962C8B-B14F-4D97-AF65-F5344CB8AC3E}">
        <p14:creationId xmlns:p14="http://schemas.microsoft.com/office/powerpoint/2010/main" val="27498406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54</a:t>
            </a:fld>
            <a:endParaRPr lang="en-IN"/>
          </a:p>
        </p:txBody>
      </p:sp>
    </p:spTree>
    <p:extLst>
      <p:ext uri="{BB962C8B-B14F-4D97-AF65-F5344CB8AC3E}">
        <p14:creationId xmlns:p14="http://schemas.microsoft.com/office/powerpoint/2010/main" val="27498406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55</a:t>
            </a:fld>
            <a:endParaRPr lang="en-IN"/>
          </a:p>
        </p:txBody>
      </p:sp>
    </p:spTree>
    <p:extLst>
      <p:ext uri="{BB962C8B-B14F-4D97-AF65-F5344CB8AC3E}">
        <p14:creationId xmlns:p14="http://schemas.microsoft.com/office/powerpoint/2010/main" val="27498406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56</a:t>
            </a:fld>
            <a:endParaRPr lang="en-IN"/>
          </a:p>
        </p:txBody>
      </p:sp>
    </p:spTree>
    <p:extLst>
      <p:ext uri="{BB962C8B-B14F-4D97-AF65-F5344CB8AC3E}">
        <p14:creationId xmlns:p14="http://schemas.microsoft.com/office/powerpoint/2010/main" val="27498406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57</a:t>
            </a:fld>
            <a:endParaRPr lang="en-IN"/>
          </a:p>
        </p:txBody>
      </p:sp>
    </p:spTree>
    <p:extLst>
      <p:ext uri="{BB962C8B-B14F-4D97-AF65-F5344CB8AC3E}">
        <p14:creationId xmlns:p14="http://schemas.microsoft.com/office/powerpoint/2010/main" val="2749840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58</a:t>
            </a:fld>
            <a:endParaRPr lang="en-IN"/>
          </a:p>
        </p:txBody>
      </p:sp>
    </p:spTree>
    <p:extLst>
      <p:ext uri="{BB962C8B-B14F-4D97-AF65-F5344CB8AC3E}">
        <p14:creationId xmlns:p14="http://schemas.microsoft.com/office/powerpoint/2010/main" val="2749840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E9C4-19AC-4D01-81DA-E140B97A9BA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44BCA5E5-3A78-455F-A1D5-145EA917384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BA8103-6802-402E-8A9C-2FB10C13AF4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AEAE19A-DC0A-4D53-A4FB-E883E9391AD9}"/>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17209EA-FF5B-4648-B17D-3689B5157532}"/>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1827367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BEFC-853B-4E71-90C0-35BD8D1F83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AD4BB9-BDA4-4C04-BA11-57AE021A7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11086A-60FA-47B2-80EA-B781B0D07FF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C0DE884-2704-4762-B1F7-A390B52525A3}"/>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4A9461B4-73E9-4628-92E8-74939F9E75BC}"/>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752263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589E-9D4B-44E6-BF11-C075A0629675}"/>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2C8F49-9067-4135-A992-6FB9ECEA2A9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D58BF-DC88-48A8-8054-8760C54DAE4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410900E-11FD-4ACA-8E87-4EC87F1A191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D8AF7084-87E6-4F73-9995-37B9D5DA77B1}"/>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1995462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2823-44FC-4F0E-988B-2ACF3A6CE4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CB5ADA-214B-4BFF-9D95-4AACAA678348}"/>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A0DDFE-CE85-4487-A2F7-D43D9AD99D2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FE3102-E054-4C70-8672-73C06D74E67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AADA228-140D-4F9B-A2FE-74BFB213CF2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728C3789-8D8D-4D5C-A015-00F074C78764}"/>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3932263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AFB0-2CA1-458E-8D17-13C9D16023B7}"/>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598FFF-DC4E-46B0-93F5-FAB67A7D4A5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5204111-7E13-4A52-A9E1-956A87C87ED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A34A28-7BD2-4B06-ABF5-89A47C15645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6BDF0-5B29-4A2F-8CC0-14E57446D9A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41CA3A-A01B-4B5C-A4F8-C14D8EC45F28}"/>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8FCAA6B-C991-48DE-B578-AE2A9961C3C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9" name="Slide Number Placeholder 8">
            <a:extLst>
              <a:ext uri="{FF2B5EF4-FFF2-40B4-BE49-F238E27FC236}">
                <a16:creationId xmlns:a16="http://schemas.microsoft.com/office/drawing/2014/main" id="{D005B9A6-E7CF-4D3D-9193-F5CCF0408725}"/>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3722196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DAF43-78DB-4D57-9B2D-80B50CE225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681968-C016-4D62-894F-92EC20981B84}"/>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3BC0E1-975B-4302-8CF3-C520CED7189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5" name="Slide Number Placeholder 4">
            <a:extLst>
              <a:ext uri="{FF2B5EF4-FFF2-40B4-BE49-F238E27FC236}">
                <a16:creationId xmlns:a16="http://schemas.microsoft.com/office/drawing/2014/main" id="{C92DAC7F-9355-4792-84EA-A4C808E3F218}"/>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1815359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6E9C9-69F5-4D64-AFCA-189935E7A94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C3FB54D1-AD89-4CA0-8134-5D2BAF3393B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4" name="Slide Number Placeholder 3">
            <a:extLst>
              <a:ext uri="{FF2B5EF4-FFF2-40B4-BE49-F238E27FC236}">
                <a16:creationId xmlns:a16="http://schemas.microsoft.com/office/drawing/2014/main" id="{413B8272-E3A3-4683-B86E-79218886BA30}"/>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405398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ADB3-F3C8-4862-AF7F-04DDE9A441E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9489C0-5D66-43A0-995C-51CDB2B895D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9A2F6-A867-42FE-8C9C-0CD7E6653E7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B1724A67-3315-4540-9790-4166A5A8257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5DC2BE8-6B25-4D6D-A216-0288779C1086}"/>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8F23A18-5A76-4536-926B-E6B38286EE49}"/>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8725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3C2C-789D-4AF3-A6E0-0AE714409AD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A586BE-F0E8-46DC-B95E-EBCA679965B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35E20C7-39DD-4D17-B93E-E92481C7AFB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EB26E00D-6FB3-4F93-91B6-3385B363A08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4432EE8-F875-4115-8DB6-6E4C5A4D21E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4D366B0-CAEE-4D99-8704-EBC2029AC63D}"/>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1035520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BA33-3BCA-4D04-8B42-26F6BB1720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73B614-80E5-43E5-ACC0-10C094878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10C068-F4B8-4482-BCC2-F12B8405BE9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756C726-B8F7-46D8-A302-A3C69CBCE48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BB672F82-7742-49B4-9D22-A703AE78350A}"/>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2519751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894F4A-84CD-42EC-A311-E7DDDE5B9138}"/>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6F8A3-D97A-477F-8A9F-5D2D8FC9CD9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C056D-23ED-4173-85A0-B789F940CF4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C1BBEB-F29D-4181-968D-AF3F415CEC4F}"/>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FA03474-7DC7-49B8-A4C4-B10099ED3194}"/>
              </a:ext>
            </a:extLst>
          </p:cNvPr>
          <p:cNvSpPr>
            <a:spLocks noGrp="1"/>
          </p:cNvSpPr>
          <p:nvPr>
            <p:ph type="sldNum" sz="quarter" idx="12"/>
          </p:nvPr>
        </p:nvSpPr>
        <p:spPr/>
        <p:txBody>
          <a:bodyPr/>
          <a:lstStyle/>
          <a:p>
            <a:fld id="{3FCAF691-C30B-4477-A4FB-AFF7F164B000}" type="slidenum">
              <a:rPr lang="en-IN" smtClean="0"/>
              <a:t>‹#›</a:t>
            </a:fld>
            <a:endParaRPr lang="en-IN"/>
          </a:p>
        </p:txBody>
      </p:sp>
    </p:spTree>
    <p:extLst>
      <p:ext uri="{BB962C8B-B14F-4D97-AF65-F5344CB8AC3E}">
        <p14:creationId xmlns:p14="http://schemas.microsoft.com/office/powerpoint/2010/main" val="3857640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7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A35254-BA2C-4834-85C4-C01A1408BB62}"/>
              </a:ext>
            </a:extLst>
          </p:cNvPr>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1206B-E85F-4151-9F6F-B42BD4F2A14C}"/>
              </a:ext>
            </a:extLst>
          </p:cNvPr>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575DC-D9A3-4246-8E04-359C1E241650}"/>
              </a:ext>
            </a:extLst>
          </p:cNvPr>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A17412CA-D198-4AFA-9ADD-37508EAD6F93}"/>
              </a:ext>
            </a:extLst>
          </p:cNvPr>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5F525125-6F41-48E5-B98E-9C500B8810AA}"/>
              </a:ext>
            </a:extLst>
          </p:cNvPr>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3FCAF691-C30B-4477-A4FB-AFF7F164B000}" type="slidenum">
              <a:rPr lang="en-IN" smtClean="0"/>
              <a:t>‹#›</a:t>
            </a:fld>
            <a:endParaRPr lang="en-IN"/>
          </a:p>
        </p:txBody>
      </p:sp>
    </p:spTree>
    <p:extLst>
      <p:ext uri="{BB962C8B-B14F-4D97-AF65-F5344CB8AC3E}">
        <p14:creationId xmlns:p14="http://schemas.microsoft.com/office/powerpoint/2010/main" val="318238489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hyperlink" Target="https://en.wikipedia.org/wiki/Data_structure"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hyperlink" Target="https://en.wikipedia.org/wiki/Immutable_object"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en.wikipedia.org/wiki/Immutable_object"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4.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6.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eeksforgeeks.org/searching-algorithm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9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www.programiz.com/dsa/sorting-algorithm" TargetMode="Externa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0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10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0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110.xml.rels><?xml version="1.0" encoding="UTF-8" standalone="yes"?>
<Relationships xmlns="http://schemas.openxmlformats.org/package/2006/relationships"><Relationship Id="rId3" Type="http://schemas.openxmlformats.org/officeDocument/2006/relationships/hyperlink" Target="https://www.programiz.com/dsa/sorting-algorithm"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11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1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22FD-CCA9-4406-9618-24339941CFF9}"/>
              </a:ext>
            </a:extLst>
          </p:cNvPr>
          <p:cNvSpPr>
            <a:spLocks noGrp="1"/>
          </p:cNvSpPr>
          <p:nvPr>
            <p:ph type="ctrTitle"/>
          </p:nvPr>
        </p:nvSpPr>
        <p:spPr>
          <a:xfrm>
            <a:off x="823305" y="317048"/>
            <a:ext cx="7516836" cy="902154"/>
          </a:xfrm>
        </p:spPr>
        <p:txBody>
          <a:bodyPr>
            <a:normAutofit/>
          </a:bodyPr>
          <a:lstStyle/>
          <a:p>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 </a:t>
            </a:r>
            <a:endParaRPr lang="en-IN" sz="2700" b="1" dirty="0">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id="{82E6DDC4-FD95-4802-92CF-9A0A66152708}"/>
              </a:ext>
            </a:extLst>
          </p:cNvPr>
          <p:cNvSpPr>
            <a:spLocks noGrp="1"/>
          </p:cNvSpPr>
          <p:nvPr>
            <p:ph type="subTitle" idx="1"/>
          </p:nvPr>
        </p:nvSpPr>
        <p:spPr>
          <a:xfrm>
            <a:off x="974616" y="1017771"/>
            <a:ext cx="7214214" cy="984702"/>
          </a:xfrm>
        </p:spPr>
        <p:txBody>
          <a:bodyPr>
            <a:noAutofit/>
          </a:bodyPr>
          <a:lstStyle/>
          <a:p>
            <a:pPr>
              <a:lnSpc>
                <a:spcPct val="100000"/>
              </a:lnSpc>
              <a:spcBef>
                <a:spcPts val="0"/>
              </a:spcBef>
            </a:pPr>
            <a:r>
              <a:rPr lang="en-IN" sz="2000" b="1" dirty="0">
                <a:latin typeface="Times New Roman" pitchFamily="18" charset="0"/>
                <a:cs typeface="Times New Roman" pitchFamily="18" charset="0"/>
              </a:rPr>
              <a:t>Department of Computer Engineering</a:t>
            </a:r>
          </a:p>
        </p:txBody>
      </p:sp>
      <p:sp>
        <p:nvSpPr>
          <p:cNvPr id="5" name="Subtitle 2">
            <a:extLst>
              <a:ext uri="{FF2B5EF4-FFF2-40B4-BE49-F238E27FC236}">
                <a16:creationId xmlns:a16="http://schemas.microsoft.com/office/drawing/2014/main" id="{82E6DDC4-FD95-4802-92CF-9A0A66152708}"/>
              </a:ext>
            </a:extLst>
          </p:cNvPr>
          <p:cNvSpPr txBox="1">
            <a:spLocks/>
          </p:cNvSpPr>
          <p:nvPr/>
        </p:nvSpPr>
        <p:spPr>
          <a:xfrm>
            <a:off x="249210" y="4021068"/>
            <a:ext cx="8645581" cy="420461"/>
          </a:xfrm>
          <a:prstGeom prst="rect">
            <a:avLst/>
          </a:prstGeom>
          <a:solidFill>
            <a:srgbClr val="25A2FF"/>
          </a:solidFill>
          <a:ln>
            <a:noFill/>
          </a:ln>
        </p:spPr>
        <p:style>
          <a:lnRef idx="1">
            <a:schemeClr val="accent1"/>
          </a:lnRef>
          <a:fillRef idx="3">
            <a:schemeClr val="accent1"/>
          </a:fillRef>
          <a:effectRef idx="2">
            <a:schemeClr val="accent1"/>
          </a:effectRef>
          <a:fontRef idx="minor">
            <a:schemeClr val="lt1"/>
          </a:fontRef>
        </p:style>
        <p:txBody>
          <a:bodyPr vert="horz" lIns="68580" tIns="34290" rIns="68580" bIns="3429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IN" sz="2000" b="1" dirty="0">
                <a:solidFill>
                  <a:schemeClr val="bg1"/>
                </a:solidFill>
                <a:latin typeface="Arial" pitchFamily="34" charset="0"/>
                <a:cs typeface="Arial" pitchFamily="34" charset="0"/>
              </a:rPr>
              <a:t>BRACT’S, Vishwakarma Institute of Technology, Pune-37</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8605" y="2521468"/>
            <a:ext cx="1326236" cy="1499600"/>
          </a:xfrm>
          <a:prstGeom prst="rect">
            <a:avLst/>
          </a:prstGeom>
        </p:spPr>
      </p:pic>
      <p:sp>
        <p:nvSpPr>
          <p:cNvPr id="6" name="Rectangle 5"/>
          <p:cNvSpPr/>
          <p:nvPr/>
        </p:nvSpPr>
        <p:spPr>
          <a:xfrm>
            <a:off x="407052" y="4427922"/>
            <a:ext cx="8349342" cy="523220"/>
          </a:xfrm>
          <a:prstGeom prst="rect">
            <a:avLst/>
          </a:prstGeom>
        </p:spPr>
        <p:txBody>
          <a:bodyPr wrap="square">
            <a:spAutoFit/>
          </a:bodyPr>
          <a:lstStyle/>
          <a:p>
            <a:pPr algn="ctr"/>
            <a:r>
              <a:rPr lang="en-IN" b="1" dirty="0">
                <a:solidFill>
                  <a:schemeClr val="tx1">
                    <a:lumMod val="50000"/>
                    <a:lumOff val="50000"/>
                  </a:schemeClr>
                </a:solidFill>
                <a:latin typeface="Arial" pitchFamily="34" charset="0"/>
                <a:cs typeface="Arial" pitchFamily="34" charset="0"/>
              </a:rPr>
              <a:t>(An Autonomous Institute affiliated to Savitribai Phule Pune University)</a:t>
            </a:r>
          </a:p>
          <a:p>
            <a:pPr algn="ctr"/>
            <a:r>
              <a:rPr lang="en-IN" b="1" dirty="0">
                <a:solidFill>
                  <a:schemeClr val="tx1">
                    <a:lumMod val="50000"/>
                    <a:lumOff val="50000"/>
                  </a:schemeClr>
                </a:solidFill>
                <a:latin typeface="Arial" pitchFamily="34" charset="0"/>
                <a:cs typeface="Arial" pitchFamily="34" charset="0"/>
              </a:rPr>
              <a:t>(NBA and NAAC accredited, ISO 9001:2015 certified) </a:t>
            </a:r>
          </a:p>
        </p:txBody>
      </p:sp>
      <p:sp>
        <p:nvSpPr>
          <p:cNvPr id="8" name="Rectangle 7"/>
          <p:cNvSpPr/>
          <p:nvPr/>
        </p:nvSpPr>
        <p:spPr>
          <a:xfrm>
            <a:off x="249210" y="26128"/>
            <a:ext cx="8780490" cy="1538883"/>
          </a:xfrm>
          <a:prstGeom prst="rect">
            <a:avLst/>
          </a:prstGeom>
        </p:spPr>
        <p:txBody>
          <a:bodyPr wrap="square">
            <a:spAutoFit/>
          </a:bodyPr>
          <a:lstStyle/>
          <a:p>
            <a:pPr lvl="0" algn="ctr"/>
            <a:r>
              <a:rPr lang="en-IN" sz="1800" b="1" dirty="0">
                <a:solidFill>
                  <a:srgbClr val="000000"/>
                </a:solidFill>
                <a:latin typeface="Times New Roman" panose="02020603050405020304" pitchFamily="18" charset="0"/>
                <a:ea typeface="Calibri"/>
                <a:cs typeface="Times New Roman" panose="02020603050405020304" pitchFamily="18" charset="0"/>
                <a:sym typeface="Calibri"/>
              </a:rPr>
              <a:t>Data Structure</a:t>
            </a:r>
          </a:p>
          <a:p>
            <a:pPr lvl="0" algn="ctr"/>
            <a:r>
              <a:rPr lang="en-IN" sz="1800" b="1" dirty="0">
                <a:solidFill>
                  <a:srgbClr val="000000"/>
                </a:solidFill>
                <a:latin typeface="Times New Roman" panose="02020603050405020304" pitchFamily="18" charset="0"/>
                <a:ea typeface="Calibri"/>
                <a:cs typeface="Times New Roman" panose="02020603050405020304" pitchFamily="18" charset="0"/>
                <a:sym typeface="Calibri"/>
              </a:rPr>
              <a:t>Unit 1</a:t>
            </a:r>
          </a:p>
          <a:p>
            <a:pPr lvl="0" algn="ctr"/>
            <a:r>
              <a:rPr lang="en-IN" sz="1800" b="1" dirty="0">
                <a:solidFill>
                  <a:srgbClr val="000000"/>
                </a:solidFill>
                <a:latin typeface="Times New Roman" panose="02020603050405020304" pitchFamily="18" charset="0"/>
                <a:ea typeface="Calibri"/>
                <a:cs typeface="Times New Roman" panose="02020603050405020304" pitchFamily="18" charset="0"/>
                <a:sym typeface="Calibri"/>
              </a:rPr>
              <a:t>Array </a:t>
            </a:r>
          </a:p>
          <a:p>
            <a:pPr lvl="0" algn="ctr"/>
            <a:endParaRPr lang="en-IN" sz="4000" dirty="0">
              <a:solidFill>
                <a:schemeClr val="dk1"/>
              </a:solidFill>
              <a:latin typeface="Times New Roman" panose="02020603050405020304" pitchFamily="18" charset="0"/>
              <a:ea typeface="Arial"/>
              <a:cs typeface="Times New Roman" panose="02020603050405020304" pitchFamily="18" charset="0"/>
              <a:sym typeface="Arial"/>
            </a:endParaRPr>
          </a:p>
        </p:txBody>
      </p:sp>
    </p:spTree>
    <p:extLst>
      <p:ext uri="{BB962C8B-B14F-4D97-AF65-F5344CB8AC3E}">
        <p14:creationId xmlns:p14="http://schemas.microsoft.com/office/powerpoint/2010/main" val="26751402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IN" sz="2700" b="1" dirty="0">
                <a:latin typeface="Times New Roman" pitchFamily="18" charset="0"/>
                <a:cs typeface="Times New Roman" pitchFamily="18" charset="0"/>
              </a:rPr>
              <a:t>Syllabus of this Subject</a:t>
            </a:r>
          </a:p>
        </p:txBody>
      </p:sp>
      <p:sp>
        <p:nvSpPr>
          <p:cNvPr id="3" name="Content Placeholder 2">
            <a:extLst>
              <a:ext uri="{FF2B5EF4-FFF2-40B4-BE49-F238E27FC236}">
                <a16:creationId xmlns:a16="http://schemas.microsoft.com/office/drawing/2014/main" id="{8B0F5765-9B78-4DB7-A1DF-B1193D1F3BB0}"/>
              </a:ext>
            </a:extLst>
          </p:cNvPr>
          <p:cNvSpPr>
            <a:spLocks noGrp="1"/>
          </p:cNvSpPr>
          <p:nvPr>
            <p:ph idx="1"/>
          </p:nvPr>
        </p:nvSpPr>
        <p:spPr>
          <a:xfrm>
            <a:off x="362312" y="783633"/>
            <a:ext cx="8622200" cy="3805952"/>
          </a:xfrm>
        </p:spPr>
        <p:txBody>
          <a:bodyPr>
            <a:normAutofit/>
          </a:bodyPr>
          <a:lstStyle/>
          <a:p>
            <a:pPr marL="0" indent="0">
              <a:buNone/>
            </a:pPr>
            <a:endParaRPr lang="en-IN" dirty="0"/>
          </a:p>
          <a:p>
            <a:pPr marL="0" indent="0">
              <a:buNone/>
            </a:pPr>
            <a:endParaRPr lang="en-US" dirty="0">
              <a:latin typeface="Times New Roman" pitchFamily="18" charset="0"/>
              <a:cs typeface="Times New Roman" pitchFamily="18" charset="0"/>
            </a:endParaRPr>
          </a:p>
          <a:p>
            <a:pPr marL="0" indent="0">
              <a:buNone/>
            </a:pPr>
            <a:endParaRPr lang="en-IN" dirty="0"/>
          </a:p>
          <a:p>
            <a:pPr marL="0" indent="0">
              <a:buNone/>
            </a:pPr>
            <a:endParaRPr lang="en-IN" dirty="0"/>
          </a:p>
        </p:txBody>
      </p:sp>
      <p:sp>
        <p:nvSpPr>
          <p:cNvPr id="12"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a:t>
            </a:fld>
            <a:endParaRPr lang="en-IN" sz="1200" b="1" dirty="0">
              <a:solidFill>
                <a:schemeClr val="tx1"/>
              </a:solidFill>
            </a:endParaRPr>
          </a:p>
        </p:txBody>
      </p:sp>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284489892"/>
              </p:ext>
            </p:extLst>
          </p:nvPr>
        </p:nvGraphicFramePr>
        <p:xfrm>
          <a:off x="380840" y="749105"/>
          <a:ext cx="8603672" cy="3550106"/>
        </p:xfrm>
        <a:graphic>
          <a:graphicData uri="http://schemas.openxmlformats.org/drawingml/2006/table">
            <a:tbl>
              <a:tblPr firstRow="1" bandRow="1">
                <a:tableStyleId>{BC89EF96-8CEA-46FF-86C4-4CE0E7609802}</a:tableStyleId>
              </a:tblPr>
              <a:tblGrid>
                <a:gridCol w="4298596">
                  <a:extLst>
                    <a:ext uri="{9D8B030D-6E8A-4147-A177-3AD203B41FA5}">
                      <a16:colId xmlns:a16="http://schemas.microsoft.com/office/drawing/2014/main" val="20000"/>
                    </a:ext>
                  </a:extLst>
                </a:gridCol>
                <a:gridCol w="4305076">
                  <a:extLst>
                    <a:ext uri="{9D8B030D-6E8A-4147-A177-3AD203B41FA5}">
                      <a16:colId xmlns:a16="http://schemas.microsoft.com/office/drawing/2014/main" val="20001"/>
                    </a:ext>
                  </a:extLst>
                </a:gridCol>
              </a:tblGrid>
              <a:tr h="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u="none" strike="noStrike" kern="1200" baseline="0" dirty="0">
                          <a:latin typeface="Times New Roman" pitchFamily="18" charset="0"/>
                          <a:cs typeface="Times New Roman" pitchFamily="18" charset="0"/>
                        </a:rPr>
                        <a:t>Unit 1:</a:t>
                      </a:r>
                      <a:r>
                        <a:rPr lang="en-IN" sz="1400" b="1" u="none" strike="noStrike" kern="1200" baseline="0" dirty="0">
                          <a:solidFill>
                            <a:schemeClr val="tx1"/>
                          </a:solidFill>
                          <a:latin typeface="Times New Roman" pitchFamily="18" charset="0"/>
                          <a:ea typeface="+mn-ea"/>
                          <a:cs typeface="Times New Roman" pitchFamily="18" charset="0"/>
                        </a:rPr>
                        <a:t>Arrays </a:t>
                      </a:r>
                      <a:endParaRPr lang="en-US" sz="1400" b="1" u="none" strike="noStrike" kern="1200" baseline="0" dirty="0">
                        <a:solidFill>
                          <a:schemeClr val="tx1"/>
                        </a:solidFill>
                        <a:latin typeface="Times New Roman" pitchFamily="18" charset="0"/>
                        <a:ea typeface="+mn-ea"/>
                        <a:cs typeface="Times New Roman" pitchFamily="18" charset="0"/>
                      </a:endParaRP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b="1" u="none" strike="noStrike" kern="1200" baseline="0" dirty="0">
                          <a:solidFill>
                            <a:schemeClr val="tx1"/>
                          </a:solidFill>
                          <a:latin typeface="Times New Roman" pitchFamily="18" charset="0"/>
                          <a:ea typeface="+mn-ea"/>
                          <a:cs typeface="Times New Roman" pitchFamily="18" charset="0"/>
                        </a:rPr>
                        <a:t>Unit 2: </a:t>
                      </a:r>
                      <a:r>
                        <a:rPr lang="en-IN" sz="1400" b="1" u="none" strike="noStrike" kern="1200" baseline="0" dirty="0">
                          <a:solidFill>
                            <a:schemeClr val="tx1"/>
                          </a:solidFill>
                          <a:latin typeface="Times New Roman" pitchFamily="18" charset="0"/>
                          <a:ea typeface="+mn-ea"/>
                          <a:cs typeface="Times New Roman" pitchFamily="18" charset="0"/>
                        </a:rPr>
                        <a:t>Linked Lists </a:t>
                      </a:r>
                      <a:endParaRPr lang="en-US" sz="1400" b="1" u="none" strike="noStrike" kern="1200" baseline="0" dirty="0">
                        <a:solidFill>
                          <a:schemeClr val="tx1"/>
                        </a:solidFill>
                        <a:latin typeface="Times New Roman" pitchFamily="18" charset="0"/>
                        <a:ea typeface="+mn-ea"/>
                        <a:cs typeface="Times New Roman" pitchFamily="18" charset="0"/>
                      </a:endParaRPr>
                    </a:p>
                    <a:p>
                      <a:pPr algn="ct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1322984">
                <a:tc>
                  <a:txBody>
                    <a:bodyPr/>
                    <a:lstStyle/>
                    <a:p>
                      <a:pPr algn="just"/>
                      <a:r>
                        <a:rPr lang="en-US" sz="1100" b="1" i="0" u="none" strike="noStrike" kern="1200" baseline="0" dirty="0">
                          <a:solidFill>
                            <a:schemeClr val="tx1"/>
                          </a:solidFill>
                          <a:latin typeface="Times New Roman" pitchFamily="18" charset="0"/>
                          <a:ea typeface="+mn-ea"/>
                          <a:cs typeface="Times New Roman" pitchFamily="18" charset="0"/>
                        </a:rPr>
                        <a:t>Algorithms: </a:t>
                      </a:r>
                      <a:r>
                        <a:rPr lang="en-US" sz="1100" b="0" i="0" u="none" strike="noStrike" kern="1200" baseline="0" dirty="0">
                          <a:solidFill>
                            <a:schemeClr val="tx1"/>
                          </a:solidFill>
                          <a:latin typeface="Times New Roman" pitchFamily="18" charset="0"/>
                          <a:ea typeface="+mn-ea"/>
                          <a:cs typeface="Times New Roman" pitchFamily="18" charset="0"/>
                        </a:rPr>
                        <a:t>Asymptotic Notations, Time and Space Complexity </a:t>
                      </a:r>
                    </a:p>
                    <a:p>
                      <a:pPr algn="just"/>
                      <a:r>
                        <a:rPr lang="en-US" sz="1100" b="1" i="0" u="none" strike="noStrike" kern="1200" baseline="0" dirty="0">
                          <a:solidFill>
                            <a:schemeClr val="tx1"/>
                          </a:solidFill>
                          <a:latin typeface="Times New Roman" pitchFamily="18" charset="0"/>
                          <a:ea typeface="+mn-ea"/>
                          <a:cs typeface="Times New Roman" pitchFamily="18" charset="0"/>
                        </a:rPr>
                        <a:t>Arrays: </a:t>
                      </a:r>
                      <a:r>
                        <a:rPr lang="en-US" sz="1100" b="0" i="0" u="none" strike="noStrike" kern="1200" baseline="0" dirty="0">
                          <a:solidFill>
                            <a:schemeClr val="tx1"/>
                          </a:solidFill>
                          <a:latin typeface="Times New Roman" pitchFamily="18" charset="0"/>
                          <a:ea typeface="+mn-ea"/>
                          <a:cs typeface="Times New Roman" pitchFamily="18" charset="0"/>
                        </a:rPr>
                        <a:t>Introduction, Memory Representation and application of Single and Multidimensional arrays, Sparse Matrix. </a:t>
                      </a:r>
                    </a:p>
                    <a:p>
                      <a:pPr algn="just"/>
                      <a:r>
                        <a:rPr lang="en-US" sz="1100" b="1" i="0" u="none" strike="noStrike" kern="1200" baseline="0" dirty="0">
                          <a:solidFill>
                            <a:schemeClr val="tx1"/>
                          </a:solidFill>
                          <a:latin typeface="Times New Roman" pitchFamily="18" charset="0"/>
                          <a:ea typeface="+mn-ea"/>
                          <a:cs typeface="Times New Roman" pitchFamily="18" charset="0"/>
                        </a:rPr>
                        <a:t>Searching and sorting techniques: </a:t>
                      </a:r>
                      <a:r>
                        <a:rPr lang="en-US" sz="1100" b="0" i="0" u="none" strike="noStrike" kern="1200" baseline="0" dirty="0">
                          <a:solidFill>
                            <a:schemeClr val="tx1"/>
                          </a:solidFill>
                          <a:latin typeface="Times New Roman" pitchFamily="18" charset="0"/>
                          <a:ea typeface="+mn-ea"/>
                          <a:cs typeface="Times New Roman" pitchFamily="18" charset="0"/>
                        </a:rPr>
                        <a:t>Linear Search, Binary search with Analysis. </a:t>
                      </a:r>
                    </a:p>
                    <a:p>
                      <a:pPr algn="just"/>
                      <a:r>
                        <a:rPr lang="en-US" sz="1100" b="1" i="0" u="none" strike="noStrike" kern="1200" baseline="0" dirty="0">
                          <a:solidFill>
                            <a:schemeClr val="tx1"/>
                          </a:solidFill>
                          <a:latin typeface="Times New Roman" pitchFamily="18" charset="0"/>
                          <a:ea typeface="+mn-ea"/>
                          <a:cs typeface="Times New Roman" pitchFamily="18" charset="0"/>
                        </a:rPr>
                        <a:t>Sorting Techniques: </a:t>
                      </a:r>
                      <a:r>
                        <a:rPr lang="en-US" sz="1100" b="0" i="0" u="none" strike="noStrike" kern="1200" baseline="0" dirty="0">
                          <a:solidFill>
                            <a:schemeClr val="tx1"/>
                          </a:solidFill>
                          <a:latin typeface="Times New Roman" pitchFamily="18" charset="0"/>
                          <a:ea typeface="+mn-ea"/>
                          <a:cs typeface="Times New Roman" pitchFamily="18" charset="0"/>
                        </a:rPr>
                        <a:t>Bubble Sort, Insertion Sort, Merge Sort, Quick Sort with Analysis and passes. </a:t>
                      </a:r>
                    </a:p>
                  </a:txBody>
                  <a:tcPr/>
                </a:tc>
                <a:tc>
                  <a:txBody>
                    <a:bodyPr/>
                    <a:lstStyle/>
                    <a:p>
                      <a:pPr algn="just"/>
                      <a:r>
                        <a:rPr lang="en-US" sz="1100" b="0" i="0" u="none" strike="noStrike" kern="1200" baseline="0" dirty="0">
                          <a:solidFill>
                            <a:schemeClr val="tx1"/>
                          </a:solidFill>
                          <a:latin typeface="Times New Roman" pitchFamily="18" charset="0"/>
                          <a:ea typeface="+mn-ea"/>
                          <a:cs typeface="Times New Roman" pitchFamily="18" charset="0"/>
                        </a:rPr>
                        <a:t>Dynamic memory allocation, Singly Linked Lists, Doubly linked Lists, Circular linked lists and Generalized linked lists, Applications of Linked list, introduction to Vectors and Application. </a:t>
                      </a:r>
                    </a:p>
                  </a:txBody>
                  <a:tcPr/>
                </a:tc>
                <a:extLst>
                  <a:ext uri="{0D108BD9-81ED-4DB2-BD59-A6C34878D82A}">
                    <a16:rowId xmlns:a16="http://schemas.microsoft.com/office/drawing/2014/main" val="10001"/>
                  </a:ext>
                </a:extLst>
              </a:tr>
              <a:tr h="385978">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b="1" u="none" strike="noStrike" kern="1200" baseline="0" dirty="0">
                          <a:latin typeface="Times New Roman" pitchFamily="18" charset="0"/>
                          <a:cs typeface="Times New Roman" pitchFamily="18" charset="0"/>
                        </a:rPr>
                        <a:t>Unit 3: </a:t>
                      </a:r>
                      <a:r>
                        <a:rPr lang="en-IN" sz="1400" b="1" u="none" strike="noStrike" kern="1200" baseline="0" dirty="0">
                          <a:solidFill>
                            <a:schemeClr val="tx1"/>
                          </a:solidFill>
                          <a:latin typeface="Times New Roman" pitchFamily="18" charset="0"/>
                          <a:ea typeface="+mn-ea"/>
                          <a:cs typeface="Times New Roman" pitchFamily="18" charset="0"/>
                        </a:rPr>
                        <a:t>Stacks and Queues </a:t>
                      </a:r>
                      <a:endParaRPr lang="en-US" sz="1400" b="1" u="none" strike="noStrike" kern="1200" baseline="0" dirty="0">
                        <a:solidFill>
                          <a:schemeClr val="tx1"/>
                        </a:solidFill>
                        <a:latin typeface="Times New Roman" pitchFamily="18" charset="0"/>
                        <a:ea typeface="+mn-ea"/>
                        <a:cs typeface="Times New Roman" pitchFamily="18" charset="0"/>
                      </a:endParaRP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b="1" u="none" strike="noStrike" kern="1200" baseline="0" dirty="0">
                          <a:solidFill>
                            <a:schemeClr val="tx1"/>
                          </a:solidFill>
                          <a:latin typeface="Times New Roman" pitchFamily="18" charset="0"/>
                          <a:ea typeface="+mn-ea"/>
                          <a:cs typeface="Times New Roman" pitchFamily="18" charset="0"/>
                        </a:rPr>
                        <a:t>Unit 4: </a:t>
                      </a:r>
                      <a:r>
                        <a:rPr lang="en-IN" sz="1400" b="1" u="none" strike="noStrike" kern="1200" baseline="0" dirty="0">
                          <a:solidFill>
                            <a:schemeClr val="tx1"/>
                          </a:solidFill>
                          <a:latin typeface="Times New Roman" pitchFamily="18" charset="0"/>
                          <a:ea typeface="+mn-ea"/>
                          <a:cs typeface="Times New Roman" pitchFamily="18" charset="0"/>
                        </a:rPr>
                        <a:t>Trees </a:t>
                      </a:r>
                      <a:endParaRPr lang="en-US" sz="1400" b="1" u="none" strike="noStrike" kern="1200" baseline="0" dirty="0">
                        <a:solidFill>
                          <a:schemeClr val="tx1"/>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838468220"/>
                  </a:ext>
                </a:extLst>
              </a:tr>
              <a:tr h="1322984">
                <a:tc>
                  <a:txBody>
                    <a:bodyPr/>
                    <a:lstStyle/>
                    <a:p>
                      <a:pPr marL="0" marR="0" indent="0" algn="just" defTabSz="685800" rtl="0" eaLnBrk="1" fontAlgn="auto" latinLnBrk="0" hangingPunct="1">
                        <a:lnSpc>
                          <a:spcPct val="100000"/>
                        </a:lnSpc>
                        <a:spcBef>
                          <a:spcPts val="0"/>
                        </a:spcBef>
                        <a:spcAft>
                          <a:spcPts val="0"/>
                        </a:spcAft>
                        <a:buClrTx/>
                        <a:buSzTx/>
                        <a:buFontTx/>
                        <a:buNone/>
                        <a:tabLst/>
                        <a:defRPr/>
                      </a:pPr>
                      <a:r>
                        <a:rPr lang="en-US" sz="1100" b="1" i="0" u="none" strike="noStrike" kern="1200" baseline="0" dirty="0">
                          <a:solidFill>
                            <a:schemeClr val="tx1"/>
                          </a:solidFill>
                          <a:latin typeface="Times New Roman" pitchFamily="18" charset="0"/>
                          <a:ea typeface="+mn-ea"/>
                          <a:cs typeface="Times New Roman" pitchFamily="18" charset="0"/>
                        </a:rPr>
                        <a:t>Stack: </a:t>
                      </a:r>
                      <a:r>
                        <a:rPr lang="en-US" sz="1100" b="0" i="0" u="none" strike="noStrike" kern="1200" baseline="0" dirty="0">
                          <a:solidFill>
                            <a:schemeClr val="tx1"/>
                          </a:solidFill>
                          <a:latin typeface="Times New Roman" pitchFamily="18" charset="0"/>
                          <a:ea typeface="+mn-ea"/>
                          <a:cs typeface="Times New Roman" pitchFamily="18" charset="0"/>
                        </a:rPr>
                        <a:t>Stack representation and Implementation using arrays and Linked lists. Applications of stack in Recursion, Expression conversions and evaluations. </a:t>
                      </a:r>
                    </a:p>
                    <a:p>
                      <a:pPr marL="0" marR="0" indent="0" algn="just" defTabSz="685800" rtl="0" eaLnBrk="1" fontAlgn="auto" latinLnBrk="0" hangingPunct="1">
                        <a:lnSpc>
                          <a:spcPct val="100000"/>
                        </a:lnSpc>
                        <a:spcBef>
                          <a:spcPts val="0"/>
                        </a:spcBef>
                        <a:spcAft>
                          <a:spcPts val="0"/>
                        </a:spcAft>
                        <a:buClrTx/>
                        <a:buSzTx/>
                        <a:buFontTx/>
                        <a:buNone/>
                        <a:tabLst/>
                        <a:defRPr/>
                      </a:pPr>
                      <a:r>
                        <a:rPr lang="en-US" sz="1100" b="1" i="0" u="none" strike="noStrike" kern="1200" baseline="0" dirty="0">
                          <a:solidFill>
                            <a:schemeClr val="tx1"/>
                          </a:solidFill>
                          <a:latin typeface="Times New Roman" pitchFamily="18" charset="0"/>
                          <a:ea typeface="+mn-ea"/>
                          <a:cs typeface="Times New Roman" pitchFamily="18" charset="0"/>
                        </a:rPr>
                        <a:t>Queues: </a:t>
                      </a:r>
                      <a:r>
                        <a:rPr lang="en-US" sz="1100" b="0" i="0" u="none" strike="noStrike" kern="1200" baseline="0" dirty="0">
                          <a:solidFill>
                            <a:schemeClr val="tx1"/>
                          </a:solidFill>
                          <a:latin typeface="Times New Roman" pitchFamily="18" charset="0"/>
                          <a:ea typeface="+mn-ea"/>
                          <a:cs typeface="Times New Roman" pitchFamily="18" charset="0"/>
                        </a:rPr>
                        <a:t>Representation and implementation using array and Linked lists, Types of queue. Applications of Queues: Job Scheduling, Josephus problem etc. </a:t>
                      </a:r>
                    </a:p>
                  </a:txBody>
                  <a:tcPr/>
                </a:tc>
                <a:tc>
                  <a:txBody>
                    <a:bodyPr/>
                    <a:lstStyle/>
                    <a:p>
                      <a:pPr marL="0" marR="0" indent="0" algn="just" defTabSz="685800" rtl="0" eaLnBrk="1" fontAlgn="auto" latinLnBrk="0" hangingPunct="1">
                        <a:lnSpc>
                          <a:spcPct val="100000"/>
                        </a:lnSpc>
                        <a:spcBef>
                          <a:spcPts val="0"/>
                        </a:spcBef>
                        <a:spcAft>
                          <a:spcPts val="0"/>
                        </a:spcAft>
                        <a:buClrTx/>
                        <a:buSzTx/>
                        <a:buFontTx/>
                        <a:buNone/>
                        <a:tabLst/>
                        <a:defRPr/>
                      </a:pPr>
                      <a:r>
                        <a:rPr lang="en-US" sz="1100" b="0" i="0" u="none" strike="noStrike" kern="1200" baseline="0" dirty="0">
                          <a:solidFill>
                            <a:schemeClr val="tx1"/>
                          </a:solidFill>
                          <a:latin typeface="Times New Roman" pitchFamily="18" charset="0"/>
                          <a:ea typeface="+mn-ea"/>
                          <a:cs typeface="Times New Roman" pitchFamily="18" charset="0"/>
                        </a:rPr>
                        <a:t>Basic terminology, representation using array and linked lists. Tree Traversals: Recursive and Non recursive, Operations on binary tree. Binary Search trees (BST). </a:t>
                      </a:r>
                    </a:p>
                  </a:txBody>
                  <a:tcPr/>
                </a:tc>
                <a:extLst>
                  <a:ext uri="{0D108BD9-81ED-4DB2-BD59-A6C34878D82A}">
                    <a16:rowId xmlns:a16="http://schemas.microsoft.com/office/drawing/2014/main" val="3374157532"/>
                  </a:ext>
                </a:extLst>
              </a:tr>
            </a:tbl>
          </a:graphicData>
        </a:graphic>
      </p:graphicFrame>
      <p:sp>
        <p:nvSpPr>
          <p:cNvPr id="5" name="Rectangle 4">
            <a:extLst>
              <a:ext uri="{FF2B5EF4-FFF2-40B4-BE49-F238E27FC236}">
                <a16:creationId xmlns:a16="http://schemas.microsoft.com/office/drawing/2014/main" id="{07FAA04A-2C46-245C-6241-DF296684CD1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1678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IN" sz="2700" b="1" dirty="0">
                <a:latin typeface="Times New Roman" pitchFamily="18" charset="0"/>
                <a:cs typeface="Times New Roman" pitchFamily="18" charset="0"/>
              </a:rPr>
              <a:t>Syllabus of this Subject</a:t>
            </a:r>
          </a:p>
        </p:txBody>
      </p:sp>
      <p:sp>
        <p:nvSpPr>
          <p:cNvPr id="3" name="Content Placeholder 2">
            <a:extLst>
              <a:ext uri="{FF2B5EF4-FFF2-40B4-BE49-F238E27FC236}">
                <a16:creationId xmlns:a16="http://schemas.microsoft.com/office/drawing/2014/main" id="{8B0F5765-9B78-4DB7-A1DF-B1193D1F3BB0}"/>
              </a:ext>
            </a:extLst>
          </p:cNvPr>
          <p:cNvSpPr>
            <a:spLocks noGrp="1"/>
          </p:cNvSpPr>
          <p:nvPr>
            <p:ph idx="1"/>
          </p:nvPr>
        </p:nvSpPr>
        <p:spPr>
          <a:xfrm>
            <a:off x="362312" y="783633"/>
            <a:ext cx="8622200" cy="3805952"/>
          </a:xfrm>
        </p:spPr>
        <p:txBody>
          <a:bodyPr>
            <a:normAutofit/>
          </a:bodyPr>
          <a:lstStyle/>
          <a:p>
            <a:pPr marL="0" indent="0">
              <a:buNone/>
            </a:pPr>
            <a:endParaRPr lang="en-IN" dirty="0"/>
          </a:p>
          <a:p>
            <a:pPr marL="0" indent="0">
              <a:buNone/>
            </a:pPr>
            <a:endParaRPr lang="en-US" dirty="0">
              <a:latin typeface="Times New Roman" pitchFamily="18" charset="0"/>
              <a:cs typeface="Times New Roman" pitchFamily="18" charset="0"/>
            </a:endParaRPr>
          </a:p>
          <a:p>
            <a:pPr marL="0" indent="0">
              <a:buNone/>
            </a:pPr>
            <a:endParaRPr lang="en-IN" dirty="0"/>
          </a:p>
          <a:p>
            <a:pPr marL="0" indent="0">
              <a:buNone/>
            </a:pPr>
            <a:endParaRPr lang="en-IN" dirty="0"/>
          </a:p>
        </p:txBody>
      </p:sp>
      <p:sp>
        <p:nvSpPr>
          <p:cNvPr id="12"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3</a:t>
            </a:fld>
            <a:endParaRPr lang="en-IN" sz="1200" b="1" dirty="0">
              <a:solidFill>
                <a:schemeClr val="tx1"/>
              </a:solidFill>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4" name="Table 3"/>
          <p:cNvGraphicFramePr>
            <a:graphicFrameLocks noGrp="1"/>
          </p:cNvGraphicFramePr>
          <p:nvPr>
            <p:extLst>
              <p:ext uri="{D42A27DB-BD31-4B8C-83A1-F6EECF244321}">
                <p14:modId xmlns:p14="http://schemas.microsoft.com/office/powerpoint/2010/main" val="4110617325"/>
              </p:ext>
            </p:extLst>
          </p:nvPr>
        </p:nvGraphicFramePr>
        <p:xfrm>
          <a:off x="228601" y="819346"/>
          <a:ext cx="8603672" cy="1836549"/>
        </p:xfrm>
        <a:graphic>
          <a:graphicData uri="http://schemas.openxmlformats.org/drawingml/2006/table">
            <a:tbl>
              <a:tblPr firstRow="1" bandRow="1">
                <a:tableStyleId>{BC89EF96-8CEA-46FF-86C4-4CE0E7609802}</a:tableStyleId>
              </a:tblPr>
              <a:tblGrid>
                <a:gridCol w="4298596">
                  <a:extLst>
                    <a:ext uri="{9D8B030D-6E8A-4147-A177-3AD203B41FA5}">
                      <a16:colId xmlns:a16="http://schemas.microsoft.com/office/drawing/2014/main" val="20000"/>
                    </a:ext>
                  </a:extLst>
                </a:gridCol>
                <a:gridCol w="4305076">
                  <a:extLst>
                    <a:ext uri="{9D8B030D-6E8A-4147-A177-3AD203B41FA5}">
                      <a16:colId xmlns:a16="http://schemas.microsoft.com/office/drawing/2014/main" val="20001"/>
                    </a:ext>
                  </a:extLst>
                </a:gridCol>
              </a:tblGrid>
              <a:tr h="396390">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u="none" strike="noStrike" kern="1200" baseline="0" dirty="0">
                          <a:latin typeface="Times New Roman" pitchFamily="18" charset="0"/>
                          <a:cs typeface="Times New Roman" pitchFamily="18" charset="0"/>
                        </a:rPr>
                        <a:t>Unit 5: </a:t>
                      </a:r>
                      <a:r>
                        <a:rPr lang="en-IN" sz="1400" b="1" u="none" strike="noStrike" kern="1200" baseline="0" dirty="0">
                          <a:solidFill>
                            <a:schemeClr val="tx1"/>
                          </a:solidFill>
                          <a:latin typeface="Times New Roman" pitchFamily="18" charset="0"/>
                          <a:ea typeface="+mn-ea"/>
                          <a:cs typeface="Times New Roman" pitchFamily="18" charset="0"/>
                        </a:rPr>
                        <a:t>Graphs </a:t>
                      </a:r>
                      <a:endParaRPr lang="en-US" sz="1400" b="1" u="none" strike="noStrike" kern="1200" baseline="0" dirty="0">
                        <a:solidFill>
                          <a:schemeClr val="tx1"/>
                        </a:solidFill>
                        <a:latin typeface="Times New Roman" pitchFamily="18" charset="0"/>
                        <a:ea typeface="+mn-ea"/>
                        <a:cs typeface="Times New Roman" pitchFamily="18" charset="0"/>
                      </a:endParaRPr>
                    </a:p>
                  </a:txBody>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400" b="1" u="none" strike="noStrike" kern="1200" baseline="0" dirty="0">
                          <a:solidFill>
                            <a:schemeClr val="tx1"/>
                          </a:solidFill>
                          <a:latin typeface="Times New Roman" pitchFamily="18" charset="0"/>
                          <a:ea typeface="+mn-ea"/>
                          <a:cs typeface="Times New Roman" pitchFamily="18" charset="0"/>
                        </a:rPr>
                        <a:t>Unit 6: </a:t>
                      </a:r>
                      <a:r>
                        <a:rPr lang="en-IN" sz="1400" b="1" u="none" strike="noStrike" kern="1200" baseline="0" dirty="0">
                          <a:solidFill>
                            <a:schemeClr val="tx1"/>
                          </a:solidFill>
                          <a:latin typeface="Times New Roman" pitchFamily="18" charset="0"/>
                          <a:ea typeface="+mn-ea"/>
                          <a:cs typeface="Times New Roman" pitchFamily="18" charset="0"/>
                        </a:rPr>
                        <a:t>Hashing </a:t>
                      </a:r>
                      <a:endParaRPr lang="en-US" sz="1400" b="1" u="none" strike="noStrike" kern="1200" baseline="0" dirty="0">
                        <a:solidFill>
                          <a:schemeClr val="tx1"/>
                        </a:solidFill>
                        <a:latin typeface="Times New Roman" pitchFamily="18" charset="0"/>
                        <a:ea typeface="+mn-ea"/>
                        <a:cs typeface="Times New Roman" pitchFamily="18" charset="0"/>
                      </a:endParaRPr>
                    </a:p>
                  </a:txBody>
                  <a:tcPr/>
                </a:tc>
                <a:extLst>
                  <a:ext uri="{0D108BD9-81ED-4DB2-BD59-A6C34878D82A}">
                    <a16:rowId xmlns:a16="http://schemas.microsoft.com/office/drawing/2014/main" val="10000"/>
                  </a:ext>
                </a:extLst>
              </a:tr>
              <a:tr h="1440159">
                <a:tc>
                  <a:txBody>
                    <a:bodyPr/>
                    <a:lstStyle/>
                    <a:p>
                      <a:pPr algn="just"/>
                      <a:r>
                        <a:rPr lang="en-IN" sz="1100" b="0" i="0" u="none" strike="noStrike" kern="1200" baseline="0" dirty="0">
                          <a:solidFill>
                            <a:schemeClr val="tx1"/>
                          </a:solidFill>
                          <a:latin typeface="Times New Roman" pitchFamily="18" charset="0"/>
                          <a:ea typeface="+mn-ea"/>
                          <a:cs typeface="Times New Roman" pitchFamily="18" charset="0"/>
                        </a:rPr>
                        <a:t>Terminology and representation using Adjacency Matrix and Adjacency Lists, Graph Traversals and Application: BFS and DFS, Connected graph, Bipartite Graph, Detecting Cycle in graph. Minimum Spanning tree: Prims and Kruskal’s Algorithm, Shortest Path Algorithms, Union Find. </a:t>
                      </a:r>
                      <a:endParaRPr lang="en-US" sz="1100" b="0" i="0" u="none" strike="noStrike" kern="1200" baseline="0" dirty="0">
                        <a:solidFill>
                          <a:schemeClr val="tx1"/>
                        </a:solidFill>
                        <a:latin typeface="Times New Roman" pitchFamily="18" charset="0"/>
                        <a:ea typeface="+mn-ea"/>
                        <a:cs typeface="Times New Roman" pitchFamily="18" charset="0"/>
                      </a:endParaRPr>
                    </a:p>
                  </a:txBody>
                  <a:tcPr/>
                </a:tc>
                <a:tc>
                  <a:txBody>
                    <a:bodyPr/>
                    <a:lstStyle/>
                    <a:p>
                      <a:pPr algn="just"/>
                      <a:r>
                        <a:rPr lang="en-US" sz="1100" b="0" i="0" u="none" strike="noStrike" kern="1200" baseline="0" dirty="0">
                          <a:solidFill>
                            <a:schemeClr val="tx1"/>
                          </a:solidFill>
                          <a:latin typeface="Times New Roman" pitchFamily="18" charset="0"/>
                          <a:ea typeface="+mn-ea"/>
                          <a:cs typeface="Times New Roman" pitchFamily="18" charset="0"/>
                        </a:rPr>
                        <a:t>Hashing techniques, Hash table, Hash functions. Collision handling and Collision resolution techniques. </a:t>
                      </a:r>
                    </a:p>
                  </a:txBody>
                  <a:tcPr/>
                </a:tc>
                <a:extLst>
                  <a:ext uri="{0D108BD9-81ED-4DB2-BD59-A6C34878D82A}">
                    <a16:rowId xmlns:a16="http://schemas.microsoft.com/office/drawing/2014/main" val="10001"/>
                  </a:ext>
                </a:extLst>
              </a:tr>
            </a:tbl>
          </a:graphicData>
        </a:graphic>
      </p:graphicFrame>
      <p:sp>
        <p:nvSpPr>
          <p:cNvPr id="5" name="Rectangle 4">
            <a:extLst>
              <a:ext uri="{FF2B5EF4-FFF2-40B4-BE49-F238E27FC236}">
                <a16:creationId xmlns:a16="http://schemas.microsoft.com/office/drawing/2014/main" id="{1AE3DCF2-C46A-43C6-0057-5E582024DAF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48919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IN" sz="2700" b="1" dirty="0">
                <a:latin typeface="Times New Roman" pitchFamily="18" charset="0"/>
                <a:cs typeface="Times New Roman" pitchFamily="18" charset="0"/>
              </a:rPr>
              <a:t>Objective/s of this session </a:t>
            </a:r>
          </a:p>
        </p:txBody>
      </p:sp>
      <p:sp>
        <p:nvSpPr>
          <p:cNvPr id="3" name="Content Placeholder 2">
            <a:extLst>
              <a:ext uri="{FF2B5EF4-FFF2-40B4-BE49-F238E27FC236}">
                <a16:creationId xmlns:a16="http://schemas.microsoft.com/office/drawing/2014/main" id="{8B0F5765-9B78-4DB7-A1DF-B1193D1F3BB0}"/>
              </a:ext>
            </a:extLst>
          </p:cNvPr>
          <p:cNvSpPr>
            <a:spLocks noGrp="1"/>
          </p:cNvSpPr>
          <p:nvPr>
            <p:ph idx="1"/>
          </p:nvPr>
        </p:nvSpPr>
        <p:spPr>
          <a:xfrm>
            <a:off x="362312" y="783633"/>
            <a:ext cx="8622200" cy="3805952"/>
          </a:xfrm>
        </p:spPr>
        <p:txBody>
          <a:bodyPr>
            <a:normAutofit/>
          </a:bodyPr>
          <a:lstStyle/>
          <a:p>
            <a:pPr marL="0" indent="0">
              <a:buNone/>
            </a:pPr>
            <a:endParaRPr lang="en-US" dirty="0"/>
          </a:p>
          <a:p>
            <a:pPr marL="457200" indent="-457200">
              <a:buFont typeface="+mj-lt"/>
              <a:buAutoNum type="arabicPeriod"/>
            </a:pPr>
            <a:r>
              <a:rPr lang="en-US" dirty="0">
                <a:latin typeface="Times New Roman" pitchFamily="18" charset="0"/>
                <a:cs typeface="Times New Roman" pitchFamily="18" charset="0"/>
              </a:rPr>
              <a:t>Understand Basic Concept of Programming </a:t>
            </a:r>
          </a:p>
          <a:p>
            <a:pPr marL="457200" indent="-457200">
              <a:buFont typeface="+mj-lt"/>
              <a:buAutoNum type="arabicPeriod"/>
            </a:pPr>
            <a:r>
              <a:rPr lang="en-US" dirty="0">
                <a:latin typeface="Times New Roman" pitchFamily="18" charset="0"/>
                <a:cs typeface="Times New Roman" pitchFamily="18" charset="0"/>
              </a:rPr>
              <a:t>To Understand Concept of Data Structure and its types . </a:t>
            </a:r>
          </a:p>
          <a:p>
            <a:pPr marL="457200" indent="-457200">
              <a:buFont typeface="+mj-lt"/>
              <a:buAutoNum type="arabicPeriod"/>
            </a:pPr>
            <a:endParaRPr lang="en-US" dirty="0">
              <a:latin typeface="Times New Roman" pitchFamily="18" charset="0"/>
              <a:cs typeface="Times New Roman" pitchFamily="18" charset="0"/>
            </a:endParaRPr>
          </a:p>
          <a:p>
            <a:pPr marL="0" indent="0">
              <a:buNone/>
            </a:pPr>
            <a:r>
              <a:rPr lang="en-US" dirty="0"/>
              <a:t>	</a:t>
            </a:r>
          </a:p>
          <a:p>
            <a:pPr marL="0" indent="0">
              <a:buNone/>
            </a:pPr>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1. Differentiate Data structure and analyze and synthesize time and space complexity of algorithm.</a:t>
            </a:r>
            <a:endParaRPr lang="en-IN" dirty="0">
              <a:latin typeface="Times New Roman" pitchFamily="18" charset="0"/>
              <a:cs typeface="Times New Roman" pitchFamily="18" charset="0"/>
            </a:endParaRPr>
          </a:p>
          <a:p>
            <a:pPr marL="0" indent="0">
              <a:buNone/>
            </a:pPr>
            <a:endParaRPr lang="en-IN" dirty="0"/>
          </a:p>
        </p:txBody>
      </p:sp>
      <p:sp>
        <p:nvSpPr>
          <p:cNvPr id="6" name="Title 1">
            <a:extLst>
              <a:ext uri="{FF2B5EF4-FFF2-40B4-BE49-F238E27FC236}">
                <a16:creationId xmlns:a16="http://schemas.microsoft.com/office/drawing/2014/main" id="{2A2698FE-B32B-4C98-BD2A-9188D45ABAB3}"/>
              </a:ext>
            </a:extLst>
          </p:cNvPr>
          <p:cNvSpPr txBox="1">
            <a:spLocks/>
          </p:cNvSpPr>
          <p:nvPr/>
        </p:nvSpPr>
        <p:spPr>
          <a:xfrm>
            <a:off x="946297" y="2330418"/>
            <a:ext cx="7251406" cy="712381"/>
          </a:xfrm>
          <a:prstGeom prst="rect">
            <a:avLst/>
          </a:prstGeom>
        </p:spPr>
        <p:txBody>
          <a:bodyPr vert="horz" lIns="68580" tIns="34290" rIns="68580" bIns="3429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2700" b="1" dirty="0">
                <a:latin typeface="Times New Roman" pitchFamily="18" charset="0"/>
                <a:cs typeface="Times New Roman" pitchFamily="18" charset="0"/>
              </a:rPr>
              <a:t>Learning Outcome/Course Outcome </a:t>
            </a:r>
          </a:p>
        </p:txBody>
      </p:sp>
      <p:sp>
        <p:nvSpPr>
          <p:cNvPr id="12"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4</a:t>
            </a:fld>
            <a:endParaRPr lang="en-IN" sz="1200" b="1" dirty="0">
              <a:solidFill>
                <a:schemeClr val="tx1"/>
              </a:solidFill>
            </a:endParaRP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F1AB0A97-A582-8591-D248-1C79CC17B61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6832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48586" y="138222"/>
            <a:ext cx="7866764" cy="589781"/>
          </a:xfrm>
        </p:spPr>
        <p:txBody>
          <a:bodyPr>
            <a:normAutofit/>
          </a:bodyPr>
          <a:lstStyle/>
          <a:p>
            <a:pPr algn="ctr"/>
            <a:r>
              <a:rPr lang="en-IN" sz="2700" b="1" dirty="0">
                <a:latin typeface="Times New Roman" pitchFamily="18" charset="0"/>
                <a:cs typeface="Times New Roman" pitchFamily="18" charset="0"/>
              </a:rPr>
              <a:t>Session Content</a:t>
            </a:r>
            <a:endParaRPr lang="en-IN" sz="2700" b="1" dirty="0">
              <a:solidFill>
                <a:schemeClr val="bg2">
                  <a:lumMod val="50000"/>
                </a:schemeClr>
              </a:solidFill>
              <a:latin typeface="Times New Roman" pitchFamily="18" charset="0"/>
              <a:cs typeface="Times New Roman" pitchFamily="18"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3"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5</a:t>
            </a:fld>
            <a:endParaRPr lang="en-IN" sz="1200" b="1" dirty="0">
              <a:solidFill>
                <a:schemeClr val="tx1"/>
              </a:solidFill>
            </a:endParaRPr>
          </a:p>
        </p:txBody>
      </p:sp>
      <p:sp>
        <p:nvSpPr>
          <p:cNvPr id="10" name="Content Placeholder 2">
            <a:extLst>
              <a:ext uri="{FF2B5EF4-FFF2-40B4-BE49-F238E27FC236}">
                <a16:creationId xmlns:a16="http://schemas.microsoft.com/office/drawing/2014/main" id="{48F90B0E-ED9E-4B65-820F-8F4890616EC9}"/>
              </a:ext>
            </a:extLst>
          </p:cNvPr>
          <p:cNvSpPr>
            <a:spLocks noGrp="1"/>
          </p:cNvSpPr>
          <p:nvPr>
            <p:ph idx="1"/>
          </p:nvPr>
        </p:nvSpPr>
        <p:spPr>
          <a:xfrm>
            <a:off x="529936" y="866225"/>
            <a:ext cx="8380148" cy="3914497"/>
          </a:xfrm>
        </p:spPr>
        <p:txBody>
          <a:bodyPr>
            <a:normAutofit/>
          </a:bodyPr>
          <a:lstStyle/>
          <a:p>
            <a:pPr marL="0" indent="0" algn="just">
              <a:buNone/>
            </a:pPr>
            <a:endParaRPr lang="en-US"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dirty="0">
                <a:latin typeface="Times New Roman" panose="02020603050405020304" pitchFamily="18" charset="0"/>
                <a:cs typeface="Times New Roman" panose="02020603050405020304" pitchFamily="18" charset="0"/>
              </a:rPr>
              <a:t>Algorithms  (Logic Building)</a:t>
            </a:r>
          </a:p>
          <a:p>
            <a:pPr marL="342900" indent="-342900" algn="just">
              <a:buFont typeface="+mj-lt"/>
              <a:buAutoNum type="arabicPeriod"/>
            </a:pPr>
            <a:r>
              <a:rPr lang="en-IN" sz="1800" dirty="0">
                <a:latin typeface="Times New Roman" panose="02020603050405020304" pitchFamily="18" charset="0"/>
                <a:cs typeface="Times New Roman" panose="02020603050405020304" pitchFamily="18" charset="0"/>
              </a:rPr>
              <a:t>Asymptotic Notation</a:t>
            </a:r>
            <a:endParaRPr lang="en-US" sz="18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sz="1800" dirty="0">
                <a:latin typeface="Times New Roman" panose="02020603050405020304" pitchFamily="18" charset="0"/>
                <a:cs typeface="Times New Roman" panose="02020603050405020304" pitchFamily="18" charset="0"/>
              </a:rPr>
              <a:t>Data Structure </a:t>
            </a:r>
          </a:p>
          <a:p>
            <a:pPr marL="342900" indent="-342900" algn="just">
              <a:buFont typeface="+mj-lt"/>
              <a:buAutoNum type="arabicPeriod"/>
            </a:pPr>
            <a:r>
              <a:rPr lang="en-US" sz="1800" dirty="0">
                <a:latin typeface="Times New Roman" panose="02020603050405020304" pitchFamily="18" charset="0"/>
                <a:cs typeface="Times New Roman" panose="02020603050405020304" pitchFamily="18" charset="0"/>
              </a:rPr>
              <a:t>Types of Data Structure </a:t>
            </a:r>
          </a:p>
          <a:p>
            <a:pPr marL="342900" indent="-342900" algn="just">
              <a:buFont typeface="+mj-lt"/>
              <a:buAutoNum type="arabicPeriod"/>
            </a:pPr>
            <a:r>
              <a:rPr lang="en-IN" sz="1800" dirty="0">
                <a:latin typeface="Times New Roman" panose="02020603050405020304" pitchFamily="18" charset="0"/>
                <a:cs typeface="Times New Roman" panose="02020603050405020304" pitchFamily="18" charset="0"/>
              </a:rPr>
              <a:t>Linear vs. Non- Linear, Static vs. Dynamic, Persistent vs. Ephemeral</a:t>
            </a:r>
          </a:p>
          <a:p>
            <a:pPr marL="0" indent="0" algn="just">
              <a:buNone/>
            </a:pPr>
            <a:endParaRPr lang="en-US" sz="1800" dirty="0">
              <a:latin typeface="Times New Roman" panose="02020603050405020304" pitchFamily="18" charset="0"/>
              <a:cs typeface="Times New Roman" panose="02020603050405020304" pitchFamily="18" charset="0"/>
            </a:endParaRPr>
          </a:p>
        </p:txBody>
      </p:sp>
      <p:sp>
        <p:nvSpPr>
          <p:cNvPr id="3" name="Rectangle 2">
            <a:extLst>
              <a:ext uri="{FF2B5EF4-FFF2-40B4-BE49-F238E27FC236}">
                <a16:creationId xmlns:a16="http://schemas.microsoft.com/office/drawing/2014/main" id="{0FCCB927-3103-7B07-8392-AED0DC5A62B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38757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What is Data Structure</a:t>
            </a:r>
            <a:endParaRPr lang="en-IN" sz="2700" b="1"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6</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p:cNvSpPr/>
          <p:nvPr/>
        </p:nvSpPr>
        <p:spPr>
          <a:xfrm>
            <a:off x="460375" y="963808"/>
            <a:ext cx="8444634" cy="3539430"/>
          </a:xfrm>
          <a:prstGeom prst="rect">
            <a:avLst/>
          </a:prstGeom>
        </p:spPr>
        <p:txBody>
          <a:bodyPr wrap="square">
            <a:spAutoFit/>
          </a:bodyPr>
          <a:lstStyle/>
          <a:p>
            <a:pPr algn="just"/>
            <a:r>
              <a:rPr lang="en-US" dirty="0">
                <a:solidFill>
                  <a:srgbClr val="273239"/>
                </a:solidFill>
                <a:latin typeface="Times New Roman" panose="02020603050405020304" pitchFamily="18" charset="0"/>
                <a:cs typeface="Times New Roman" panose="02020603050405020304" pitchFamily="18" charset="0"/>
              </a:rPr>
              <a:t>DSA is defined as a combination of two separate yet interrelated topics: Data Structure and Algorithms. </a:t>
            </a:r>
          </a:p>
          <a:p>
            <a:endParaRPr lang="en-US" dirty="0">
              <a:solidFill>
                <a:srgbClr val="273239"/>
              </a:solidFill>
              <a:latin typeface="Nunito"/>
            </a:endParaRPr>
          </a:p>
          <a:p>
            <a:r>
              <a:rPr lang="en-US" b="1" dirty="0">
                <a:solidFill>
                  <a:srgbClr val="273239"/>
                </a:solidFill>
                <a:latin typeface="Times New Roman" panose="02020603050405020304" pitchFamily="18" charset="0"/>
                <a:cs typeface="Times New Roman" panose="02020603050405020304" pitchFamily="18" charset="0"/>
              </a:rPr>
              <a:t>Data Structure:</a:t>
            </a:r>
          </a:p>
          <a:p>
            <a:pPr algn="just"/>
            <a:r>
              <a:rPr lang="en-US" dirty="0">
                <a:solidFill>
                  <a:srgbClr val="273239"/>
                </a:solidFill>
                <a:latin typeface="Times New Roman" panose="02020603050405020304" pitchFamily="18" charset="0"/>
                <a:cs typeface="Times New Roman" panose="02020603050405020304" pitchFamily="18" charset="0"/>
              </a:rPr>
              <a:t>Way to arrange Data in main Memory for efficient way  A data structure is defined as a particular way of storing and organizing data in our devices to use the data efficiently and effectively. The main idea behind using data structures is to minimize the time and space complexities. An efficient data structure takes minimum memory space and requires minimum time to execute the data.</a:t>
            </a:r>
          </a:p>
          <a:p>
            <a:endParaRPr lang="en-US" dirty="0">
              <a:solidFill>
                <a:srgbClr val="273239"/>
              </a:solidFill>
              <a:latin typeface="Nunito"/>
            </a:endParaRPr>
          </a:p>
          <a:p>
            <a:endParaRPr lang="en-US" dirty="0">
              <a:solidFill>
                <a:srgbClr val="273239"/>
              </a:solidFill>
              <a:latin typeface="Nunito"/>
            </a:endParaRPr>
          </a:p>
          <a:p>
            <a:r>
              <a:rPr lang="en-US" b="1" dirty="0">
                <a:solidFill>
                  <a:srgbClr val="273239"/>
                </a:solidFill>
                <a:latin typeface="Times New Roman" panose="02020603050405020304" pitchFamily="18" charset="0"/>
                <a:cs typeface="Times New Roman" panose="02020603050405020304" pitchFamily="18" charset="0"/>
              </a:rPr>
              <a:t>Algorithms</a:t>
            </a:r>
          </a:p>
          <a:p>
            <a:pPr algn="just"/>
            <a:r>
              <a:rPr lang="en-US" dirty="0">
                <a:solidFill>
                  <a:srgbClr val="273239"/>
                </a:solidFill>
                <a:latin typeface="Times New Roman" panose="02020603050405020304" pitchFamily="18" charset="0"/>
                <a:cs typeface="Times New Roman" panose="02020603050405020304" pitchFamily="18" charset="0"/>
              </a:rPr>
              <a:t>Algorithm is defined as a process or set of well-defined instructions that are typically used to solve a particular group of problems or perform a specific type of calculation. To explain in simpler terms, it is a set of operations performed in a step-by-step manner to execute a task.</a:t>
            </a: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5" name="Rectangle 4">
            <a:extLst>
              <a:ext uri="{FF2B5EF4-FFF2-40B4-BE49-F238E27FC236}">
                <a16:creationId xmlns:a16="http://schemas.microsoft.com/office/drawing/2014/main" id="{477CA1EA-2AAC-53ED-4876-1EFFEF69C22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429227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0CAFB-2949-5F56-9710-0EA904D7C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B89EF-5D4D-7F33-F188-8503AEF0AE6A}"/>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What is Data Structure</a:t>
            </a:r>
            <a:endParaRPr lang="en-IN" sz="2700" b="1" dirty="0">
              <a:latin typeface="Times New Roman" pitchFamily="18" charset="0"/>
              <a:cs typeface="Times New Roman" pitchFamily="18" charset="0"/>
            </a:endParaRPr>
          </a:p>
        </p:txBody>
      </p:sp>
      <p:pic>
        <p:nvPicPr>
          <p:cNvPr id="15" name="Picture 14">
            <a:extLst>
              <a:ext uri="{FF2B5EF4-FFF2-40B4-BE49-F238E27FC236}">
                <a16:creationId xmlns:a16="http://schemas.microsoft.com/office/drawing/2014/main" id="{42D49762-710A-1D3E-EFE8-9D032311A0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CEB1EBF5-B445-A1AA-4E6E-CD02EFCF7A72}"/>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E111093C-B1E1-E910-5C7B-3293D2BE858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Rectangle 4">
            <a:extLst>
              <a:ext uri="{FF2B5EF4-FFF2-40B4-BE49-F238E27FC236}">
                <a16:creationId xmlns:a16="http://schemas.microsoft.com/office/drawing/2014/main" id="{ADCBBEC8-082D-D488-E868-09B310EB738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A16C0FAA-4D8B-9DF5-5F96-AB77CA3F220C}"/>
              </a:ext>
            </a:extLst>
          </p:cNvPr>
          <p:cNvSpPr/>
          <p:nvPr/>
        </p:nvSpPr>
        <p:spPr>
          <a:xfrm>
            <a:off x="724623" y="650202"/>
            <a:ext cx="8604742" cy="1384995"/>
          </a:xfrm>
          <a:prstGeom prst="rect">
            <a:avLst/>
          </a:prstGeom>
        </p:spPr>
        <p:txBody>
          <a:bodyPr wrap="square">
            <a:spAutoFit/>
          </a:bodyPr>
          <a:lstStyle/>
          <a:p>
            <a:r>
              <a:rPr lang="en-US" b="1" dirty="0">
                <a:solidFill>
                  <a:srgbClr val="273239"/>
                </a:solidFill>
                <a:latin typeface="Times New Roman" panose="02020603050405020304" pitchFamily="18" charset="0"/>
                <a:cs typeface="Times New Roman" panose="02020603050405020304" pitchFamily="18" charset="0"/>
              </a:rPr>
              <a:t>Algorithms</a:t>
            </a:r>
          </a:p>
          <a:p>
            <a:pPr algn="just"/>
            <a:r>
              <a:rPr lang="en-US" dirty="0">
                <a:solidFill>
                  <a:srgbClr val="273239"/>
                </a:solidFill>
                <a:latin typeface="Times New Roman" panose="02020603050405020304" pitchFamily="18" charset="0"/>
                <a:cs typeface="Times New Roman" panose="02020603050405020304" pitchFamily="18" charset="0"/>
              </a:rPr>
              <a:t>An algorithm is a </a:t>
            </a:r>
            <a:r>
              <a:rPr lang="en-US" b="1" dirty="0">
                <a:solidFill>
                  <a:srgbClr val="273239"/>
                </a:solidFill>
                <a:latin typeface="Times New Roman" panose="02020603050405020304" pitchFamily="18" charset="0"/>
                <a:cs typeface="Times New Roman" panose="02020603050405020304" pitchFamily="18" charset="0"/>
              </a:rPr>
              <a:t>step-by-step procedure </a:t>
            </a:r>
            <a:r>
              <a:rPr lang="en-US" dirty="0">
                <a:solidFill>
                  <a:srgbClr val="273239"/>
                </a:solidFill>
                <a:latin typeface="Times New Roman" panose="02020603050405020304" pitchFamily="18" charset="0"/>
                <a:cs typeface="Times New Roman" panose="02020603050405020304" pitchFamily="18" charset="0"/>
              </a:rPr>
              <a:t>or set of rules to solve a specific problem in a finite amount of time</a:t>
            </a:r>
          </a:p>
          <a:p>
            <a:pPr algn="just"/>
            <a:endParaRPr lang="en-US" dirty="0">
              <a:solidFill>
                <a:srgbClr val="273239"/>
              </a:solidFill>
              <a:latin typeface="Times New Roman" panose="02020603050405020304" pitchFamily="18" charset="0"/>
              <a:cs typeface="Times New Roman" panose="02020603050405020304" pitchFamily="18" charset="0"/>
            </a:endParaRPr>
          </a:p>
          <a:p>
            <a:pPr algn="just"/>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p:txBody>
      </p:sp>
      <p:pic>
        <p:nvPicPr>
          <p:cNvPr id="8" name="Picture 7">
            <a:extLst>
              <a:ext uri="{FF2B5EF4-FFF2-40B4-BE49-F238E27FC236}">
                <a16:creationId xmlns:a16="http://schemas.microsoft.com/office/drawing/2014/main" id="{F05AC9A9-3E65-7EA8-B5EA-7086A04D08AB}"/>
              </a:ext>
            </a:extLst>
          </p:cNvPr>
          <p:cNvPicPr>
            <a:picLocks noChangeAspect="1"/>
          </p:cNvPicPr>
          <p:nvPr/>
        </p:nvPicPr>
        <p:blipFill>
          <a:blip r:embed="rId4"/>
          <a:stretch>
            <a:fillRect/>
          </a:stretch>
        </p:blipFill>
        <p:spPr>
          <a:xfrm>
            <a:off x="802737" y="1229844"/>
            <a:ext cx="7878603" cy="3477822"/>
          </a:xfrm>
          <a:prstGeom prst="rect">
            <a:avLst/>
          </a:prstGeom>
        </p:spPr>
      </p:pic>
    </p:spTree>
    <p:extLst>
      <p:ext uri="{BB962C8B-B14F-4D97-AF65-F5344CB8AC3E}">
        <p14:creationId xmlns:p14="http://schemas.microsoft.com/office/powerpoint/2010/main" val="729950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953284"/>
          </a:xfrm>
        </p:spPr>
        <p:txBody>
          <a:bodyPr>
            <a:noAutofit/>
          </a:bodyPr>
          <a:lstStyle/>
          <a:p>
            <a:pPr algn="ct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Algorithm Design Tools: Flowcharts and Pseudocode</a:t>
            </a:r>
            <a:br>
              <a:rPr lang="en-US" sz="28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8</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p:cNvSpPr/>
          <p:nvPr/>
        </p:nvSpPr>
        <p:spPr>
          <a:xfrm>
            <a:off x="460375" y="963808"/>
            <a:ext cx="8444634" cy="523220"/>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A flowchart is a visual representation of an algorithm using symbols and shapes to illustrate the steps and logical flow of a process.</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B415145-3C58-24EE-3466-3A54FAB52AA6}"/>
              </a:ext>
            </a:extLst>
          </p:cNvPr>
          <p:cNvPicPr>
            <a:picLocks noChangeAspect="1"/>
          </p:cNvPicPr>
          <p:nvPr/>
        </p:nvPicPr>
        <p:blipFill>
          <a:blip r:embed="rId4"/>
          <a:stretch>
            <a:fillRect/>
          </a:stretch>
        </p:blipFill>
        <p:spPr>
          <a:xfrm>
            <a:off x="724623" y="1608064"/>
            <a:ext cx="7686731" cy="2764183"/>
          </a:xfrm>
          <a:prstGeom prst="rect">
            <a:avLst/>
          </a:prstGeom>
        </p:spPr>
      </p:pic>
      <p:sp>
        <p:nvSpPr>
          <p:cNvPr id="5" name="Rectangle 4">
            <a:extLst>
              <a:ext uri="{FF2B5EF4-FFF2-40B4-BE49-F238E27FC236}">
                <a16:creationId xmlns:a16="http://schemas.microsoft.com/office/drawing/2014/main" id="{77124A5D-192F-0442-DFF3-D0E632B34F5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729306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953284"/>
          </a:xfrm>
        </p:spPr>
        <p:txBody>
          <a:bodyPr>
            <a:noAutofit/>
          </a:bodyPr>
          <a:lstStyle/>
          <a:p>
            <a:pPr algn="ct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Algorithm Design Tools: Flowcharts and Pseudocode</a:t>
            </a:r>
            <a:br>
              <a:rPr lang="en-US" sz="28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9</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6" name="Picture 5">
            <a:extLst>
              <a:ext uri="{FF2B5EF4-FFF2-40B4-BE49-F238E27FC236}">
                <a16:creationId xmlns:a16="http://schemas.microsoft.com/office/drawing/2014/main" id="{58301B9E-A417-4974-9100-9DF6CC6C0549}"/>
              </a:ext>
            </a:extLst>
          </p:cNvPr>
          <p:cNvPicPr>
            <a:picLocks noChangeAspect="1"/>
          </p:cNvPicPr>
          <p:nvPr/>
        </p:nvPicPr>
        <p:blipFill>
          <a:blip r:embed="rId4"/>
          <a:stretch>
            <a:fillRect/>
          </a:stretch>
        </p:blipFill>
        <p:spPr>
          <a:xfrm>
            <a:off x="1715910" y="953284"/>
            <a:ext cx="6189839" cy="3770007"/>
          </a:xfrm>
          <a:prstGeom prst="rect">
            <a:avLst/>
          </a:prstGeom>
        </p:spPr>
      </p:pic>
      <p:sp>
        <p:nvSpPr>
          <p:cNvPr id="3" name="Rectangle 2">
            <a:extLst>
              <a:ext uri="{FF2B5EF4-FFF2-40B4-BE49-F238E27FC236}">
                <a16:creationId xmlns:a16="http://schemas.microsoft.com/office/drawing/2014/main" id="{79619F72-FCC5-D5F8-F4E2-73319C8CC5B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0410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DEC5D-4DF6-B721-E8CA-7656353138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2D977-6CE0-74F0-A6E6-1FE647C783F3}"/>
              </a:ext>
            </a:extLst>
          </p:cNvPr>
          <p:cNvSpPr>
            <a:spLocks noGrp="1"/>
          </p:cNvSpPr>
          <p:nvPr>
            <p:ph type="title"/>
          </p:nvPr>
        </p:nvSpPr>
        <p:spPr>
          <a:xfrm>
            <a:off x="628650" y="0"/>
            <a:ext cx="7886700" cy="953284"/>
          </a:xfrm>
        </p:spPr>
        <p:txBody>
          <a:bodyPr>
            <a:noAutofit/>
          </a:bodyPr>
          <a:lstStyle/>
          <a:p>
            <a:pPr algn="ct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Algorithm Design Tools: Flowcharts and Pseudocode</a:t>
            </a:r>
            <a:br>
              <a:rPr lang="en-US" sz="28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itchFamily="18" charset="0"/>
            </a:endParaRPr>
          </a:p>
        </p:txBody>
      </p:sp>
      <p:pic>
        <p:nvPicPr>
          <p:cNvPr id="15" name="Picture 14">
            <a:extLst>
              <a:ext uri="{FF2B5EF4-FFF2-40B4-BE49-F238E27FC236}">
                <a16:creationId xmlns:a16="http://schemas.microsoft.com/office/drawing/2014/main" id="{D3E81D7B-F0BE-C254-7331-CB4170035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A1102F58-306B-758B-E460-80319E96AF3F}"/>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0C5219D2-F940-A417-13D4-D4C2BA2FF2E0}"/>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a:extLst>
              <a:ext uri="{FF2B5EF4-FFF2-40B4-BE49-F238E27FC236}">
                <a16:creationId xmlns:a16="http://schemas.microsoft.com/office/drawing/2014/main" id="{249746D0-18CB-E133-0EBF-574A98E6A8BB}"/>
              </a:ext>
            </a:extLst>
          </p:cNvPr>
          <p:cNvSpPr/>
          <p:nvPr/>
        </p:nvSpPr>
        <p:spPr>
          <a:xfrm>
            <a:off x="460375" y="963808"/>
            <a:ext cx="8444634" cy="1169551"/>
          </a:xfrm>
          <a:prstGeom prst="rect">
            <a:avLst/>
          </a:prstGeom>
        </p:spPr>
        <p:txBody>
          <a:bodyPr wrap="square">
            <a:spAutoFit/>
          </a:bodyPr>
          <a:lstStyle/>
          <a:p>
            <a:pPr algn="just"/>
            <a:r>
              <a:rPr lang="en-IN" b="1" dirty="0">
                <a:latin typeface="Times New Roman" panose="02020603050405020304" pitchFamily="18" charset="0"/>
                <a:cs typeface="Times New Roman" panose="02020603050405020304" pitchFamily="18" charset="0"/>
              </a:rPr>
              <a:t>Advantages of Flowchart: </a:t>
            </a:r>
          </a:p>
          <a:p>
            <a:pPr algn="just"/>
            <a:endParaRPr lang="en-IN"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Visual Representation:</a:t>
            </a:r>
            <a:r>
              <a:rPr lang="en-US" dirty="0">
                <a:latin typeface="Times New Roman" panose="02020603050405020304" pitchFamily="18" charset="0"/>
                <a:cs typeface="Times New Roman" panose="02020603050405020304" pitchFamily="18" charset="0"/>
              </a:rPr>
              <a:t> Easy to understand and follow.</a:t>
            </a:r>
          </a:p>
          <a:p>
            <a:pPr algn="just"/>
            <a:r>
              <a:rPr lang="en-US" b="1" dirty="0">
                <a:latin typeface="Times New Roman" panose="02020603050405020304" pitchFamily="18" charset="0"/>
                <a:cs typeface="Times New Roman" panose="02020603050405020304" pitchFamily="18" charset="0"/>
              </a:rPr>
              <a:t>Structured Design:</a:t>
            </a:r>
            <a:r>
              <a:rPr lang="en-US" dirty="0">
                <a:latin typeface="Times New Roman" panose="02020603050405020304" pitchFamily="18" charset="0"/>
                <a:cs typeface="Times New Roman" panose="02020603050405020304" pitchFamily="18" charset="0"/>
              </a:rPr>
              <a:t> Facilitates systematic problem-solving.</a:t>
            </a:r>
          </a:p>
          <a:p>
            <a:pPr algn="just"/>
            <a:r>
              <a:rPr lang="en-US" b="1" dirty="0">
                <a:latin typeface="Times New Roman" panose="02020603050405020304" pitchFamily="18" charset="0"/>
                <a:cs typeface="Times New Roman" panose="02020603050405020304" pitchFamily="18" charset="0"/>
              </a:rPr>
              <a:t>Documentation:</a:t>
            </a:r>
            <a:r>
              <a:rPr lang="en-US" dirty="0">
                <a:latin typeface="Times New Roman" panose="02020603050405020304" pitchFamily="18" charset="0"/>
                <a:cs typeface="Times New Roman" panose="02020603050405020304" pitchFamily="18" charset="0"/>
              </a:rPr>
              <a:t> Useful for explaining and recording algorithms.</a:t>
            </a:r>
            <a:endParaRPr lang="en-IN"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2CF8EBF-387C-0236-0475-7ABC5B229EFD}"/>
              </a:ext>
            </a:extLst>
          </p:cNvPr>
          <p:cNvSpPr txBox="1"/>
          <p:nvPr/>
        </p:nvSpPr>
        <p:spPr>
          <a:xfrm>
            <a:off x="460375" y="2417861"/>
            <a:ext cx="8265482" cy="954107"/>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Disadvantages of Flowcharts</a:t>
            </a:r>
          </a:p>
          <a:p>
            <a:endParaRPr lang="en-IN"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Limited Detail:</a:t>
            </a:r>
            <a:r>
              <a:rPr lang="en-US" dirty="0">
                <a:latin typeface="Times New Roman" panose="02020603050405020304" pitchFamily="18" charset="0"/>
                <a:cs typeface="Times New Roman" panose="02020603050405020304" pitchFamily="18" charset="0"/>
              </a:rPr>
              <a:t> May not capture complex programming logic fully.</a:t>
            </a:r>
          </a:p>
          <a:p>
            <a:r>
              <a:rPr lang="en-US" b="1" dirty="0">
                <a:latin typeface="Times New Roman" panose="02020603050405020304" pitchFamily="18" charset="0"/>
                <a:cs typeface="Times New Roman" panose="02020603050405020304" pitchFamily="18" charset="0"/>
              </a:rPr>
              <a:t>Space Constraints:</a:t>
            </a:r>
            <a:r>
              <a:rPr lang="en-US" dirty="0">
                <a:latin typeface="Times New Roman" panose="02020603050405020304" pitchFamily="18" charset="0"/>
                <a:cs typeface="Times New Roman" panose="02020603050405020304" pitchFamily="18" charset="0"/>
              </a:rPr>
              <a:t> Large algorithms may require significant space and become cluttered.</a:t>
            </a:r>
            <a:endParaRPr lang="en-IN"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9D6BD1D8-B25E-DEC4-AB01-699189C1E5A8}"/>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48120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953284"/>
          </a:xfrm>
        </p:spPr>
        <p:txBody>
          <a:bodyPr>
            <a:noAutofit/>
          </a:bodyPr>
          <a:lstStyle/>
          <a:p>
            <a:pPr algn="ct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Algorithm Design Tools: Flowcharts and Pseudocode</a:t>
            </a:r>
            <a:br>
              <a:rPr lang="en-US" sz="28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11</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pic>
        <p:nvPicPr>
          <p:cNvPr id="2050" name="Picture 2" descr="C Program Practicals: Flowchart to Add two numbers.">
            <a:extLst>
              <a:ext uri="{FF2B5EF4-FFF2-40B4-BE49-F238E27FC236}">
                <a16:creationId xmlns:a16="http://schemas.microsoft.com/office/drawing/2014/main" id="{5D364AF1-2AC7-465E-9A5E-79D517F4E6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7733" y="1095022"/>
            <a:ext cx="3431117" cy="350079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AA2FE44-3ABD-F518-7D81-F898EF5BEB61}"/>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7460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953284"/>
          </a:xfrm>
        </p:spPr>
        <p:txBody>
          <a:bodyPr>
            <a:noAutofit/>
          </a:bodyPr>
          <a:lstStyle/>
          <a:p>
            <a:pPr algn="ct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Algorithm Design Tools: Flowcharts and Pseudocode</a:t>
            </a:r>
            <a:br>
              <a:rPr lang="en-US" sz="2800" b="1"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12</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a:extLst>
              <a:ext uri="{FF2B5EF4-FFF2-40B4-BE49-F238E27FC236}">
                <a16:creationId xmlns:a16="http://schemas.microsoft.com/office/drawing/2014/main" id="{2CFF1D2D-C524-445B-AA26-910626594256}"/>
              </a:ext>
            </a:extLst>
          </p:cNvPr>
          <p:cNvSpPr/>
          <p:nvPr/>
        </p:nvSpPr>
        <p:spPr>
          <a:xfrm>
            <a:off x="460375" y="1232922"/>
            <a:ext cx="8142851" cy="2677656"/>
          </a:xfrm>
          <a:prstGeom prst="rect">
            <a:avLst/>
          </a:prstGeom>
        </p:spPr>
        <p:txBody>
          <a:bodyPr wrap="square">
            <a:spAutoFit/>
          </a:bodyPr>
          <a:lstStyle/>
          <a:p>
            <a:pPr algn="just"/>
            <a:r>
              <a:rPr lang="en-US" dirty="0">
                <a:solidFill>
                  <a:srgbClr val="374151"/>
                </a:solidFill>
                <a:latin typeface="Times New Roman" panose="02020603050405020304" pitchFamily="18" charset="0"/>
                <a:cs typeface="Times New Roman" panose="02020603050405020304" pitchFamily="18" charset="0"/>
              </a:rPr>
              <a:t>Pseudocode is a simple way to write the steps of a program or algorithm using plain English mixed with programming ideas. </a:t>
            </a:r>
            <a:r>
              <a:rPr lang="en-US" dirty="0">
                <a:latin typeface="Times New Roman" panose="02020603050405020304" pitchFamily="18" charset="0"/>
                <a:cs typeface="Times New Roman" panose="02020603050405020304" pitchFamily="18" charset="0"/>
              </a:rPr>
              <a:t>It is </a:t>
            </a:r>
            <a:r>
              <a:rPr lang="en-US" b="1" dirty="0">
                <a:latin typeface="Times New Roman" panose="02020603050405020304" pitchFamily="18" charset="0"/>
                <a:cs typeface="Times New Roman" panose="02020603050405020304" pitchFamily="18" charset="0"/>
              </a:rPr>
              <a:t>not an actual programming language</a:t>
            </a:r>
            <a:r>
              <a:rPr lang="en-US" dirty="0">
                <a:latin typeface="Times New Roman" panose="02020603050405020304" pitchFamily="18" charset="0"/>
                <a:cs typeface="Times New Roman" panose="02020603050405020304" pitchFamily="18" charset="0"/>
              </a:rPr>
              <a:t>, but it helps you plan your code before writing it.</a:t>
            </a:r>
            <a:endParaRPr lang="en-US" dirty="0">
              <a:solidFill>
                <a:srgbClr val="374151"/>
              </a:solidFill>
              <a:latin typeface="Times New Roman" panose="02020603050405020304" pitchFamily="18" charset="0"/>
              <a:cs typeface="Times New Roman" panose="02020603050405020304" pitchFamily="18" charset="0"/>
            </a:endParaRPr>
          </a:p>
          <a:p>
            <a:endParaRPr lang="en-US" dirty="0">
              <a:solidFill>
                <a:srgbClr val="374151"/>
              </a:solidFill>
              <a:latin typeface="Times New Roman" panose="02020603050405020304" pitchFamily="18" charset="0"/>
              <a:cs typeface="Times New Roman" panose="02020603050405020304" pitchFamily="18" charset="0"/>
            </a:endParaRPr>
          </a:p>
          <a:p>
            <a:r>
              <a:rPr lang="en-US" b="1" dirty="0">
                <a:solidFill>
                  <a:srgbClr val="374151"/>
                </a:solidFill>
                <a:latin typeface="Times New Roman" panose="02020603050405020304" pitchFamily="18" charset="0"/>
                <a:cs typeface="Times New Roman" panose="02020603050405020304" pitchFamily="18" charset="0"/>
              </a:rPr>
              <a:t>Key Elements:</a:t>
            </a:r>
            <a:endParaRPr lang="en-US" dirty="0">
              <a:solidFill>
                <a:srgbClr val="374151"/>
              </a:solidFill>
              <a:latin typeface="Times New Roman" panose="02020603050405020304" pitchFamily="18" charset="0"/>
              <a:cs typeface="Times New Roman" panose="02020603050405020304" pitchFamily="18" charset="0"/>
            </a:endParaRPr>
          </a:p>
          <a:p>
            <a:r>
              <a:rPr lang="en-US" b="1" dirty="0">
                <a:solidFill>
                  <a:srgbClr val="374151"/>
                </a:solidFill>
                <a:latin typeface="Times New Roman" panose="02020603050405020304" pitchFamily="18" charset="0"/>
                <a:cs typeface="Times New Roman" panose="02020603050405020304" pitchFamily="18" charset="0"/>
              </a:rPr>
              <a:t>Variables:</a:t>
            </a:r>
            <a:r>
              <a:rPr lang="en-US" dirty="0">
                <a:solidFill>
                  <a:srgbClr val="374151"/>
                </a:solidFill>
                <a:latin typeface="Times New Roman" panose="02020603050405020304" pitchFamily="18" charset="0"/>
                <a:cs typeface="Times New Roman" panose="02020603050405020304" pitchFamily="18" charset="0"/>
              </a:rPr>
              <a:t> Used to represent data.</a:t>
            </a:r>
          </a:p>
          <a:p>
            <a:r>
              <a:rPr lang="en-US" b="1" dirty="0">
                <a:solidFill>
                  <a:srgbClr val="374151"/>
                </a:solidFill>
                <a:latin typeface="Times New Roman" panose="02020603050405020304" pitchFamily="18" charset="0"/>
                <a:cs typeface="Times New Roman" panose="02020603050405020304" pitchFamily="18" charset="0"/>
              </a:rPr>
              <a:t>Operations:</a:t>
            </a:r>
            <a:r>
              <a:rPr lang="en-US" dirty="0">
                <a:solidFill>
                  <a:srgbClr val="374151"/>
                </a:solidFill>
                <a:latin typeface="Times New Roman" panose="02020603050405020304" pitchFamily="18" charset="0"/>
                <a:cs typeface="Times New Roman" panose="02020603050405020304" pitchFamily="18" charset="0"/>
              </a:rPr>
              <a:t> Basic operations like assignments, arithmetic, and comparisons.</a:t>
            </a:r>
          </a:p>
          <a:p>
            <a:r>
              <a:rPr lang="en-US" b="1" dirty="0">
                <a:solidFill>
                  <a:srgbClr val="374151"/>
                </a:solidFill>
                <a:latin typeface="Times New Roman" panose="02020603050405020304" pitchFamily="18" charset="0"/>
                <a:cs typeface="Times New Roman" panose="02020603050405020304" pitchFamily="18" charset="0"/>
              </a:rPr>
              <a:t>Control Structures:</a:t>
            </a:r>
            <a:r>
              <a:rPr lang="en-US" dirty="0">
                <a:solidFill>
                  <a:srgbClr val="374151"/>
                </a:solidFill>
                <a:latin typeface="Times New Roman" panose="02020603050405020304" pitchFamily="18" charset="0"/>
                <a:cs typeface="Times New Roman" panose="02020603050405020304" pitchFamily="18" charset="0"/>
              </a:rPr>
              <a:t> If-else statements, loops, and conditional constructs.</a:t>
            </a:r>
          </a:p>
          <a:p>
            <a:r>
              <a:rPr lang="en-US" b="1" dirty="0">
                <a:solidFill>
                  <a:srgbClr val="374151"/>
                </a:solidFill>
                <a:latin typeface="Times New Roman" panose="02020603050405020304" pitchFamily="18" charset="0"/>
                <a:cs typeface="Times New Roman" panose="02020603050405020304" pitchFamily="18" charset="0"/>
              </a:rPr>
              <a:t>Functions/Procedures:</a:t>
            </a:r>
            <a:r>
              <a:rPr lang="en-US" dirty="0">
                <a:solidFill>
                  <a:srgbClr val="374151"/>
                </a:solidFill>
                <a:latin typeface="Times New Roman" panose="02020603050405020304" pitchFamily="18" charset="0"/>
                <a:cs typeface="Times New Roman" panose="02020603050405020304" pitchFamily="18" charset="0"/>
              </a:rPr>
              <a:t> Representing modular parts of the algorithm.</a:t>
            </a:r>
          </a:p>
          <a:p>
            <a:endParaRPr lang="en-US" b="0" i="0" dirty="0">
              <a:solidFill>
                <a:srgbClr val="374151"/>
              </a:solidFill>
              <a:effectLst/>
              <a:latin typeface="Times New Roman" panose="02020603050405020304" pitchFamily="18" charset="0"/>
              <a:cs typeface="Times New Roman" panose="02020603050405020304" pitchFamily="18" charset="0"/>
            </a:endParaRPr>
          </a:p>
          <a:p>
            <a:r>
              <a:rPr lang="en-US" b="1" dirty="0">
                <a:solidFill>
                  <a:srgbClr val="374151"/>
                </a:solidFill>
                <a:latin typeface="Times New Roman" panose="02020603050405020304" pitchFamily="18" charset="0"/>
                <a:cs typeface="Times New Roman" panose="02020603050405020304" pitchFamily="18" charset="0"/>
              </a:rPr>
              <a:t>Examples: </a:t>
            </a:r>
            <a:r>
              <a:rPr lang="en-US" dirty="0">
                <a:solidFill>
                  <a:srgbClr val="374151"/>
                </a:solidFill>
                <a:latin typeface="Times New Roman" panose="02020603050405020304" pitchFamily="18" charset="0"/>
                <a:cs typeface="Times New Roman" panose="02020603050405020304" pitchFamily="18" charset="0"/>
              </a:rPr>
              <a:t>Calculate the sum of numbers in a list.</a:t>
            </a:r>
          </a:p>
          <a:p>
            <a:endParaRPr lang="en-US" dirty="0">
              <a:solidFill>
                <a:srgbClr val="37415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417D6DF5-D380-835D-8158-3132A7BC1BB2}"/>
              </a:ext>
            </a:extLst>
          </p:cNvPr>
          <p:cNvPicPr>
            <a:picLocks noChangeAspect="1"/>
          </p:cNvPicPr>
          <p:nvPr/>
        </p:nvPicPr>
        <p:blipFill>
          <a:blip r:embed="rId4"/>
          <a:stretch>
            <a:fillRect/>
          </a:stretch>
        </p:blipFill>
        <p:spPr>
          <a:xfrm>
            <a:off x="5824359" y="3243823"/>
            <a:ext cx="2990872" cy="1333510"/>
          </a:xfrm>
          <a:prstGeom prst="rect">
            <a:avLst/>
          </a:prstGeom>
        </p:spPr>
      </p:pic>
      <p:sp>
        <p:nvSpPr>
          <p:cNvPr id="7" name="Rectangle 6">
            <a:extLst>
              <a:ext uri="{FF2B5EF4-FFF2-40B4-BE49-F238E27FC236}">
                <a16:creationId xmlns:a16="http://schemas.microsoft.com/office/drawing/2014/main" id="{E2920182-3F84-7B7D-A0FF-FDC1C339D45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38640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F9544-273B-3699-D727-44C0C06223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64D346-D4AC-4434-A46C-14264A411DC7}"/>
              </a:ext>
            </a:extLst>
          </p:cNvPr>
          <p:cNvSpPr>
            <a:spLocks noGrp="1"/>
          </p:cNvSpPr>
          <p:nvPr>
            <p:ph type="title"/>
          </p:nvPr>
        </p:nvSpPr>
        <p:spPr>
          <a:xfrm>
            <a:off x="628650" y="0"/>
            <a:ext cx="7886700" cy="953284"/>
          </a:xfrm>
        </p:spPr>
        <p:txBody>
          <a:bodyPr>
            <a:noAutofit/>
          </a:bodyPr>
          <a:lstStyle/>
          <a:p>
            <a:pPr algn="ctr">
              <a:lnSpc>
                <a:spcPct val="150000"/>
              </a:lnSpc>
            </a:pPr>
            <a:r>
              <a:rPr lang="en-IN" sz="2000" b="1" dirty="0">
                <a:latin typeface="Times New Roman" panose="02020603050405020304" pitchFamily="18" charset="0"/>
                <a:cs typeface="Times New Roman" pitchFamily="18" charset="0"/>
              </a:rPr>
              <a:t>Homework on Algorithms Desing Tool </a:t>
            </a:r>
          </a:p>
        </p:txBody>
      </p:sp>
      <p:pic>
        <p:nvPicPr>
          <p:cNvPr id="15" name="Picture 14">
            <a:extLst>
              <a:ext uri="{FF2B5EF4-FFF2-40B4-BE49-F238E27FC236}">
                <a16:creationId xmlns:a16="http://schemas.microsoft.com/office/drawing/2014/main" id="{9BE4E25B-EC92-BD82-A484-2AE01170FD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E45D1F55-2255-DE3D-2B2C-725CA0100B36}"/>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13</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DFFB569D-2650-4381-F7EE-511CB0395B2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a:extLst>
              <a:ext uri="{FF2B5EF4-FFF2-40B4-BE49-F238E27FC236}">
                <a16:creationId xmlns:a16="http://schemas.microsoft.com/office/drawing/2014/main" id="{210E931E-5000-C155-85C2-281474282B7A}"/>
              </a:ext>
            </a:extLst>
          </p:cNvPr>
          <p:cNvSpPr/>
          <p:nvPr/>
        </p:nvSpPr>
        <p:spPr>
          <a:xfrm>
            <a:off x="628650" y="1232922"/>
            <a:ext cx="7974576" cy="3904723"/>
          </a:xfrm>
          <a:prstGeom prst="rect">
            <a:avLst/>
          </a:prstGeom>
        </p:spPr>
        <p:txBody>
          <a:bodyPr wrap="square">
            <a:spAutoFit/>
          </a:bodyPr>
          <a:lstStyle/>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to </a:t>
            </a:r>
            <a:r>
              <a:rPr lang="en-US" b="1" dirty="0">
                <a:latin typeface="Times New Roman" panose="02020603050405020304" pitchFamily="18" charset="0"/>
                <a:cs typeface="Times New Roman" panose="02020603050405020304" pitchFamily="18" charset="0"/>
              </a:rPr>
              <a:t>sum of two number </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for </a:t>
            </a:r>
            <a:r>
              <a:rPr lang="en-US" b="1" dirty="0">
                <a:latin typeface="Times New Roman" panose="02020603050405020304" pitchFamily="18" charset="0"/>
                <a:cs typeface="Times New Roman" panose="02020603050405020304" pitchFamily="18" charset="0"/>
              </a:rPr>
              <a:t>area of Square</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a:t>
            </a:r>
            <a:r>
              <a:rPr lang="en-US" b="1" dirty="0">
                <a:latin typeface="Times New Roman" panose="02020603050405020304" pitchFamily="18" charset="0"/>
                <a:cs typeface="Times New Roman" panose="02020603050405020304" pitchFamily="18" charset="0"/>
              </a:rPr>
              <a:t>Min and Max from 2 Number</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to check whether a given number is even or odd</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to Calculate Sum of N Natural Numbers</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to Calculate Factorial of a Number</a:t>
            </a:r>
          </a:p>
          <a:p>
            <a:pPr marL="342900" indent="-342900" algn="just">
              <a:lnSpc>
                <a:spcPct val="200000"/>
              </a:lnSpc>
              <a:buFont typeface="+mj-lt"/>
              <a:buAutoNum type="arabicPeriod"/>
            </a:pPr>
            <a:r>
              <a:rPr lang="en-US" dirty="0">
                <a:latin typeface="Times New Roman" panose="02020603050405020304" pitchFamily="18" charset="0"/>
                <a:cs typeface="Times New Roman" panose="02020603050405020304" pitchFamily="18" charset="0"/>
              </a:rPr>
              <a:t>Design a flowchart and write pseudocode to </a:t>
            </a:r>
            <a:r>
              <a:rPr lang="en-IN" dirty="0">
                <a:latin typeface="Times New Roman" panose="02020603050405020304" pitchFamily="18" charset="0"/>
                <a:cs typeface="Times New Roman" panose="02020603050405020304" pitchFamily="18" charset="0"/>
              </a:rPr>
              <a:t>Is number is Prime or not </a:t>
            </a:r>
          </a:p>
          <a:p>
            <a:pPr algn="just">
              <a:lnSpc>
                <a:spcPct val="200000"/>
              </a:lnSpc>
            </a:pPr>
            <a:endParaRPr lang="en-US" dirty="0">
              <a:latin typeface="Times New Roman" panose="02020603050405020304" pitchFamily="18" charset="0"/>
              <a:cs typeface="Times New Roman" panose="02020603050405020304" pitchFamily="18" charset="0"/>
            </a:endParaRPr>
          </a:p>
          <a:p>
            <a:pPr algn="just">
              <a:lnSpc>
                <a:spcPct val="200000"/>
              </a:lnSpc>
            </a:pPr>
            <a:endParaRPr lang="en-US" b="0" i="0" dirty="0">
              <a:solidFill>
                <a:srgbClr val="374151"/>
              </a:solidFill>
              <a:effectLst/>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CB64271C-C581-0ED5-6083-8A674948E8C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20559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9AE8-6ACA-6C31-5500-58AF6E5928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B7F97-AA32-2731-0FDD-3DD6A854DC02}"/>
              </a:ext>
            </a:extLst>
          </p:cNvPr>
          <p:cNvSpPr>
            <a:spLocks noGrp="1"/>
          </p:cNvSpPr>
          <p:nvPr>
            <p:ph type="title"/>
          </p:nvPr>
        </p:nvSpPr>
        <p:spPr>
          <a:xfrm>
            <a:off x="628650" y="0"/>
            <a:ext cx="7886700" cy="592752"/>
          </a:xfrm>
        </p:spPr>
        <p:txBody>
          <a:bodyPr>
            <a:noAutofit/>
          </a:bodyPr>
          <a:lstStyle/>
          <a:p>
            <a:pPr algn="ctr">
              <a:lnSpc>
                <a:spcPct val="150000"/>
              </a:lnSpc>
            </a:pPr>
            <a:r>
              <a:rPr lang="en-IN" sz="2000" b="1" dirty="0">
                <a:latin typeface="Times New Roman" panose="02020603050405020304" pitchFamily="18" charset="0"/>
                <a:cs typeface="Times New Roman" panose="02020603050405020304" pitchFamily="18" charset="0"/>
              </a:rPr>
              <a:t>Asymptotic Notation</a:t>
            </a:r>
          </a:p>
        </p:txBody>
      </p:sp>
      <p:pic>
        <p:nvPicPr>
          <p:cNvPr id="15" name="Picture 14">
            <a:extLst>
              <a:ext uri="{FF2B5EF4-FFF2-40B4-BE49-F238E27FC236}">
                <a16:creationId xmlns:a16="http://schemas.microsoft.com/office/drawing/2014/main" id="{62E3FFED-FC0C-69CA-C40E-39AC29B7A3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9225CA2E-5696-715A-D260-92EF653DF097}"/>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14</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388EA21-11F5-848D-F1E7-BCB645B9858C}"/>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a:extLst>
              <a:ext uri="{FF2B5EF4-FFF2-40B4-BE49-F238E27FC236}">
                <a16:creationId xmlns:a16="http://schemas.microsoft.com/office/drawing/2014/main" id="{D164B9E7-172A-92ED-EF25-8A740C9009EB}"/>
              </a:ext>
            </a:extLst>
          </p:cNvPr>
          <p:cNvSpPr/>
          <p:nvPr/>
        </p:nvSpPr>
        <p:spPr>
          <a:xfrm>
            <a:off x="584712" y="745805"/>
            <a:ext cx="7974576" cy="4577985"/>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Asymptotic notation </a:t>
            </a:r>
            <a:r>
              <a:rPr lang="en-US" dirty="0">
                <a:latin typeface="Times New Roman" panose="02020603050405020304" pitchFamily="18" charset="0"/>
                <a:cs typeface="Times New Roman" panose="02020603050405020304" pitchFamily="18" charset="0"/>
              </a:rPr>
              <a:t>is used to describe the running time or space requirement of an algorithm in terms of input size (n), particularly when n becomes very large.</a:t>
            </a:r>
          </a:p>
          <a:p>
            <a:pPr algn="just">
              <a:lnSpc>
                <a:spcPct val="150000"/>
              </a:lnSpc>
            </a:pPr>
            <a:r>
              <a:rPr lang="en-US" dirty="0">
                <a:latin typeface="Times New Roman" panose="02020603050405020304" pitchFamily="18" charset="0"/>
                <a:cs typeface="Times New Roman" panose="02020603050405020304" pitchFamily="18" charset="0"/>
              </a:rPr>
              <a:t>It gives a mathematical way to compare algorithm efficiency, ignoring machine-dependent constants and lower order terms.</a:t>
            </a:r>
          </a:p>
          <a:p>
            <a:pPr algn="just">
              <a:lnSpc>
                <a:spcPct val="150000"/>
              </a:lnSpc>
            </a:pPr>
            <a:r>
              <a:rPr lang="en-US" b="1" dirty="0">
                <a:latin typeface="Times New Roman" panose="02020603050405020304" pitchFamily="18" charset="0"/>
                <a:cs typeface="Times New Roman" panose="02020603050405020304" pitchFamily="18" charset="0"/>
              </a:rPr>
              <a:t>Why do we need it?</a:t>
            </a:r>
          </a:p>
          <a:p>
            <a:pPr algn="just">
              <a:lnSpc>
                <a:spcPct val="150000"/>
              </a:lnSpc>
            </a:pPr>
            <a:r>
              <a:rPr lang="en-US" dirty="0">
                <a:latin typeface="Times New Roman" panose="02020603050405020304" pitchFamily="18" charset="0"/>
                <a:cs typeface="Times New Roman" panose="02020603050405020304" pitchFamily="18" charset="0"/>
              </a:rPr>
              <a:t>We want to know which algorithm is faster when data is huge.</a:t>
            </a:r>
          </a:p>
          <a:p>
            <a:pPr algn="just">
              <a:lnSpc>
                <a:spcPct val="150000"/>
              </a:lnSpc>
            </a:pPr>
            <a:r>
              <a:rPr lang="en-US" dirty="0">
                <a:latin typeface="Times New Roman" panose="02020603050405020304" pitchFamily="18" charset="0"/>
                <a:cs typeface="Times New Roman" panose="02020603050405020304" pitchFamily="18" charset="0"/>
              </a:rPr>
              <a:t>We ignore small differences and focus only on growth rate.</a:t>
            </a:r>
          </a:p>
          <a:p>
            <a:pPr algn="just">
              <a:lnSpc>
                <a:spcPct val="150000"/>
              </a:lnSpc>
            </a:pPr>
            <a:r>
              <a:rPr lang="en-US" b="1" dirty="0">
                <a:latin typeface="Times New Roman" panose="02020603050405020304" pitchFamily="18" charset="0"/>
                <a:cs typeface="Times New Roman" panose="02020603050405020304" pitchFamily="18" charset="0"/>
              </a:rPr>
              <a:t>There are mainly three asymptotic notations:</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Big-O notation</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Omega notation</a:t>
            </a:r>
          </a:p>
          <a:p>
            <a:pPr marL="285750" indent="-285750">
              <a:lnSpc>
                <a:spcPct val="20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Theta notation</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2AFC4B52-E0D8-2D2A-B471-1BAAF4553B8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95391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3A509-6D09-3402-81C8-8A0DA3D410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0B323-82E4-2470-ACBA-264562C163A1}"/>
              </a:ext>
            </a:extLst>
          </p:cNvPr>
          <p:cNvSpPr>
            <a:spLocks noGrp="1"/>
          </p:cNvSpPr>
          <p:nvPr>
            <p:ph type="title"/>
          </p:nvPr>
        </p:nvSpPr>
        <p:spPr>
          <a:xfrm>
            <a:off x="628650" y="0"/>
            <a:ext cx="7886700" cy="592752"/>
          </a:xfrm>
        </p:spPr>
        <p:txBody>
          <a:bodyPr>
            <a:noAutofit/>
          </a:bodyPr>
          <a:lstStyle/>
          <a:p>
            <a:pPr algn="ctr">
              <a:lnSpc>
                <a:spcPct val="150000"/>
              </a:lnSpc>
            </a:pPr>
            <a:r>
              <a:rPr lang="en-IN" sz="2000" b="1" dirty="0">
                <a:latin typeface="Times New Roman" panose="02020603050405020304" pitchFamily="18" charset="0"/>
                <a:cs typeface="Times New Roman" panose="02020603050405020304" pitchFamily="18" charset="0"/>
              </a:rPr>
              <a:t>Asymptotic Notation</a:t>
            </a:r>
          </a:p>
        </p:txBody>
      </p:sp>
      <p:pic>
        <p:nvPicPr>
          <p:cNvPr id="15" name="Picture 14">
            <a:extLst>
              <a:ext uri="{FF2B5EF4-FFF2-40B4-BE49-F238E27FC236}">
                <a16:creationId xmlns:a16="http://schemas.microsoft.com/office/drawing/2014/main" id="{04F50BD8-B37C-2D1A-C050-632031EFF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86E9A1A0-9EF2-2560-74C2-7E257ABC00BE}"/>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15</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0410FC07-EC3B-299E-5776-3EEF901BEEE2}"/>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Rectangle 4">
            <a:extLst>
              <a:ext uri="{FF2B5EF4-FFF2-40B4-BE49-F238E27FC236}">
                <a16:creationId xmlns:a16="http://schemas.microsoft.com/office/drawing/2014/main" id="{AAAA8F63-62F5-2D57-5438-57F11DAB3162}"/>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4831E7C3-B239-708A-115E-D837D90C8F57}"/>
              </a:ext>
            </a:extLst>
          </p:cNvPr>
          <p:cNvSpPr txBox="1"/>
          <p:nvPr/>
        </p:nvSpPr>
        <p:spPr>
          <a:xfrm>
            <a:off x="533734" y="689144"/>
            <a:ext cx="8339879" cy="2344231"/>
          </a:xfrm>
          <a:prstGeom prst="rect">
            <a:avLst/>
          </a:prstGeom>
          <a:noFill/>
        </p:spPr>
        <p:txBody>
          <a:bodyPr wrap="square">
            <a:spAutoFit/>
          </a:bodyPr>
          <a:lstStyle/>
          <a:p>
            <a:pPr algn="l">
              <a:lnSpc>
                <a:spcPts val="2250"/>
              </a:lnSpc>
              <a:spcAft>
                <a:spcPts val="1200"/>
              </a:spcAft>
              <a:buNone/>
            </a:pPr>
            <a:r>
              <a:rPr lang="en-US" b="0" i="0" dirty="0">
                <a:effectLst/>
                <a:latin typeface="Times New Roman" panose="02020603050405020304" pitchFamily="18" charset="0"/>
                <a:cs typeface="Times New Roman" panose="02020603050405020304" pitchFamily="18" charset="0"/>
              </a:rPr>
              <a:t>The efficiency of an algorithm depends on the amount of time, storage and other resources required to execute the algorithm. The efficiency is measured with the help of asymptotic notations.</a:t>
            </a:r>
            <a:endParaRPr lang="en-US" dirty="0">
              <a:latin typeface="Times New Roman" panose="02020603050405020304" pitchFamily="18" charset="0"/>
              <a:cs typeface="Times New Roman" panose="02020603050405020304" pitchFamily="18" charset="0"/>
            </a:endParaRPr>
          </a:p>
          <a:p>
            <a:pPr>
              <a:lnSpc>
                <a:spcPct val="150000"/>
              </a:lnSpc>
            </a:pPr>
            <a:r>
              <a:rPr lang="en-IN" b="1" dirty="0">
                <a:latin typeface="Times New Roman" panose="02020603050405020304" pitchFamily="18" charset="0"/>
                <a:cs typeface="Times New Roman" panose="02020603050405020304" pitchFamily="18" charset="0"/>
              </a:rPr>
              <a:t>Big-O Notation (O-notation): </a:t>
            </a:r>
            <a:r>
              <a:rPr lang="en-US" dirty="0">
                <a:latin typeface="Times New Roman" panose="02020603050405020304" pitchFamily="18" charset="0"/>
                <a:cs typeface="Times New Roman" panose="02020603050405020304" pitchFamily="18" charset="0"/>
              </a:rPr>
              <a:t>Big-O notation represents the upper bound of the running time of an algorithm. Thus, it gives the worst-case complexity of an algorithm.</a:t>
            </a:r>
          </a:p>
          <a:p>
            <a:br>
              <a:rPr lang="en-US" dirty="0"/>
            </a:br>
            <a:endParaRPr lang="en-IN" b="1" dirty="0">
              <a:latin typeface="Times New Roman" panose="02020603050405020304" pitchFamily="18" charset="0"/>
              <a:cs typeface="Times New Roman" panose="02020603050405020304" pitchFamily="18" charset="0"/>
            </a:endParaRPr>
          </a:p>
          <a:p>
            <a:br>
              <a:rPr lang="en-IN" dirty="0"/>
            </a:br>
            <a:endParaRPr lang="en-US" b="0" i="0" dirty="0">
              <a:effectLst/>
              <a:latin typeface="Times New Roman" panose="02020603050405020304" pitchFamily="18" charset="0"/>
              <a:cs typeface="Times New Roman" panose="02020603050405020304" pitchFamily="18" charset="0"/>
            </a:endParaRPr>
          </a:p>
        </p:txBody>
      </p:sp>
      <p:pic>
        <p:nvPicPr>
          <p:cNvPr id="3074" name="Picture 2" descr="Asymptotic Analysis: Big-O notation">
            <a:extLst>
              <a:ext uri="{FF2B5EF4-FFF2-40B4-BE49-F238E27FC236}">
                <a16:creationId xmlns:a16="http://schemas.microsoft.com/office/drawing/2014/main" id="{E2FBB3B4-4D90-BA82-9E93-A2A7327B8C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4198" y="1994073"/>
            <a:ext cx="2886921" cy="274027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3">
            <a:extLst>
              <a:ext uri="{FF2B5EF4-FFF2-40B4-BE49-F238E27FC236}">
                <a16:creationId xmlns:a16="http://schemas.microsoft.com/office/drawing/2014/main" id="{1D7EC91B-9F74-1733-821E-335734BE718F}"/>
              </a:ext>
            </a:extLst>
          </p:cNvPr>
          <p:cNvSpPr>
            <a:spLocks noChangeArrowheads="1"/>
          </p:cNvSpPr>
          <p:nvPr/>
        </p:nvSpPr>
        <p:spPr bwMode="auto">
          <a:xfrm>
            <a:off x="312570" y="2425085"/>
            <a:ext cx="5610464" cy="615553"/>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D5D5D5"/>
                </a:solidFill>
                <a:effectLst/>
                <a:latin typeface="Times New Roman" panose="02020603050405020304" pitchFamily="18" charset="0"/>
                <a:cs typeface="Times New Roman" panose="02020603050405020304" pitchFamily="18" charset="0"/>
              </a:rPr>
              <a:t>O(g(n)) = { f(n): there exist positive constants c and n</a:t>
            </a:r>
            <a:r>
              <a:rPr kumimoji="0" lang="en-US" altLang="en-US" b="0" i="0" u="none" strike="noStrike" cap="none" normalizeH="0" baseline="-30000" dirty="0">
                <a:ln>
                  <a:noFill/>
                </a:ln>
                <a:solidFill>
                  <a:srgbClr val="D5D5D5"/>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D5D5D5"/>
                </a:solidFill>
                <a:effectLst/>
                <a:latin typeface="Times New Roman" panose="02020603050405020304" pitchFamily="18" charset="0"/>
                <a:cs typeface="Times New Roman" panose="02020603050405020304" pitchFamily="18" charset="0"/>
              </a:rPr>
              <a:t> such that 0 ≤ f(n) ≤ cg(n) for all n ≥ n</a:t>
            </a:r>
            <a:r>
              <a:rPr kumimoji="0" lang="en-US" altLang="en-US" b="0" i="0" u="none" strike="noStrike" cap="none" normalizeH="0" baseline="-30000" dirty="0">
                <a:ln>
                  <a:noFill/>
                </a:ln>
                <a:solidFill>
                  <a:srgbClr val="D5D5D5"/>
                </a:solidFill>
                <a:effectLst/>
                <a:latin typeface="Times New Roman" panose="02020603050405020304" pitchFamily="18" charset="0"/>
                <a:cs typeface="Times New Roman" panose="02020603050405020304" pitchFamily="18" charset="0"/>
              </a:rPr>
              <a:t>0</a:t>
            </a:r>
            <a:r>
              <a:rPr kumimoji="0" lang="en-US" altLang="en-US" sz="2000" b="0" i="0" u="none" strike="noStrike" cap="none" normalizeH="0" baseline="0" dirty="0">
                <a:ln>
                  <a:noFill/>
                </a:ln>
                <a:solidFill>
                  <a:srgbClr val="D5D5D5"/>
                </a:solidFill>
                <a:effectLst/>
                <a:latin typeface="Times New Roman" panose="02020603050405020304" pitchFamily="18" charset="0"/>
                <a:cs typeface="Times New Roman" panose="02020603050405020304" pitchFamily="18" charset="0"/>
              </a:rPr>
              <a:t> }</a:t>
            </a:r>
            <a:r>
              <a:rPr kumimoji="0" lang="en-US" altLang="en-US" sz="105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0722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5A12-DD71-1A5D-E667-A1D420FAED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82272-6159-FFBE-4FDD-A9EEDBCF5F77}"/>
              </a:ext>
            </a:extLst>
          </p:cNvPr>
          <p:cNvSpPr>
            <a:spLocks noGrp="1"/>
          </p:cNvSpPr>
          <p:nvPr>
            <p:ph type="title"/>
          </p:nvPr>
        </p:nvSpPr>
        <p:spPr>
          <a:xfrm>
            <a:off x="628650" y="0"/>
            <a:ext cx="7886700" cy="592752"/>
          </a:xfrm>
        </p:spPr>
        <p:txBody>
          <a:bodyPr>
            <a:noAutofit/>
          </a:bodyPr>
          <a:lstStyle/>
          <a:p>
            <a:pPr algn="ctr">
              <a:lnSpc>
                <a:spcPct val="150000"/>
              </a:lnSpc>
            </a:pPr>
            <a:r>
              <a:rPr lang="en-IN" sz="2000" b="1" dirty="0">
                <a:latin typeface="Times New Roman" panose="02020603050405020304" pitchFamily="18" charset="0"/>
                <a:cs typeface="Times New Roman" panose="02020603050405020304" pitchFamily="18" charset="0"/>
              </a:rPr>
              <a:t>Asymptotic Notation</a:t>
            </a:r>
          </a:p>
        </p:txBody>
      </p:sp>
      <p:pic>
        <p:nvPicPr>
          <p:cNvPr id="15" name="Picture 14">
            <a:extLst>
              <a:ext uri="{FF2B5EF4-FFF2-40B4-BE49-F238E27FC236}">
                <a16:creationId xmlns:a16="http://schemas.microsoft.com/office/drawing/2014/main" id="{FA47AC2E-ECC8-A1D4-AE84-9A0F76EF0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36AB3F90-6A0E-349A-B4B0-536F1EB3CEC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16</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C5B09512-AD53-0D61-9DA0-B6C88B3D9694}"/>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Rectangle 4">
            <a:extLst>
              <a:ext uri="{FF2B5EF4-FFF2-40B4-BE49-F238E27FC236}">
                <a16:creationId xmlns:a16="http://schemas.microsoft.com/office/drawing/2014/main" id="{9B083A6F-699A-B021-8B66-CC95ABA1B64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7440077E-3529-6B29-D82F-A8263C09308C}"/>
              </a:ext>
            </a:extLst>
          </p:cNvPr>
          <p:cNvSpPr txBox="1"/>
          <p:nvPr/>
        </p:nvSpPr>
        <p:spPr>
          <a:xfrm>
            <a:off x="533734" y="689144"/>
            <a:ext cx="8339879" cy="1815882"/>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Omega Notation (</a:t>
            </a:r>
            <a:r>
              <a:rPr lang="el-GR" b="1" dirty="0">
                <a:latin typeface="Times New Roman" panose="02020603050405020304" pitchFamily="18" charset="0"/>
                <a:cs typeface="Times New Roman" panose="02020603050405020304" pitchFamily="18" charset="0"/>
              </a:rPr>
              <a:t>Ω-</a:t>
            </a:r>
            <a:r>
              <a:rPr lang="en-IN" b="1" dirty="0">
                <a:latin typeface="Times New Roman" panose="02020603050405020304" pitchFamily="18" charset="0"/>
                <a:cs typeface="Times New Roman" panose="02020603050405020304" pitchFamily="18" charset="0"/>
              </a:rPr>
              <a:t>notation): </a:t>
            </a:r>
            <a:r>
              <a:rPr lang="en-US" dirty="0">
                <a:latin typeface="Times New Roman" panose="02020603050405020304" pitchFamily="18" charset="0"/>
                <a:cs typeface="Times New Roman" panose="02020603050405020304" pitchFamily="18" charset="0"/>
              </a:rPr>
              <a:t>Omega notation represents the lower bound of the running time of an algorithm. Thus, it provides the best case complexity of an algorithm.</a:t>
            </a:r>
          </a:p>
          <a:p>
            <a:pPr algn="just">
              <a:lnSpc>
                <a:spcPct val="150000"/>
              </a:lnSpc>
            </a:pPr>
            <a:br>
              <a:rPr lang="en-US" dirty="0"/>
            </a:br>
            <a:endParaRPr lang="en-IN" b="1" dirty="0">
              <a:latin typeface="Times New Roman" panose="02020603050405020304" pitchFamily="18" charset="0"/>
              <a:cs typeface="Times New Roman" panose="02020603050405020304" pitchFamily="18" charset="0"/>
            </a:endParaRPr>
          </a:p>
          <a:p>
            <a:br>
              <a:rPr lang="en-IN" dirty="0"/>
            </a:br>
            <a:endParaRPr lang="en-US" b="0" i="0" dirty="0">
              <a:effectLst/>
              <a:latin typeface="Times New Roman" panose="02020603050405020304" pitchFamily="18" charset="0"/>
              <a:cs typeface="Times New Roman" panose="02020603050405020304" pitchFamily="18" charset="0"/>
            </a:endParaRPr>
          </a:p>
        </p:txBody>
      </p:sp>
      <p:pic>
        <p:nvPicPr>
          <p:cNvPr id="4098" name="Picture 2" descr="Asymptotic Analysis: Omega Notation">
            <a:extLst>
              <a:ext uri="{FF2B5EF4-FFF2-40B4-BE49-F238E27FC236}">
                <a16:creationId xmlns:a16="http://schemas.microsoft.com/office/drawing/2014/main" id="{A69D8686-804C-24AC-7876-36D9D059BC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1837" y="1374124"/>
            <a:ext cx="2642302" cy="286898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E6FC08A9-D217-EDEE-1C3D-17C07B3A71F0}"/>
              </a:ext>
            </a:extLst>
          </p:cNvPr>
          <p:cNvSpPr>
            <a:spLocks noChangeArrowheads="1"/>
          </p:cNvSpPr>
          <p:nvPr/>
        </p:nvSpPr>
        <p:spPr bwMode="auto">
          <a:xfrm>
            <a:off x="628650" y="1687275"/>
            <a:ext cx="5500185" cy="553998"/>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D5D5D5"/>
                </a:solidFill>
                <a:effectLst/>
                <a:latin typeface="Times New Roman" panose="02020603050405020304" pitchFamily="18" charset="0"/>
                <a:cs typeface="Times New Roman" panose="02020603050405020304" pitchFamily="18" charset="0"/>
              </a:rPr>
              <a:t>Ω(g(n)) = { f(n): there exist positive constants c and n</a:t>
            </a:r>
            <a:r>
              <a:rPr kumimoji="0" lang="en-US" altLang="en-US" sz="1200" b="0" i="0" u="none" strike="noStrike" cap="none" normalizeH="0" baseline="-30000" dirty="0">
                <a:ln>
                  <a:noFill/>
                </a:ln>
                <a:solidFill>
                  <a:srgbClr val="D5D5D5"/>
                </a:solidFill>
                <a:effectLst/>
                <a:latin typeface="Times New Roman" panose="02020603050405020304" pitchFamily="18" charset="0"/>
                <a:cs typeface="Times New Roman" panose="02020603050405020304" pitchFamily="18" charset="0"/>
              </a:rPr>
              <a:t>0</a:t>
            </a:r>
            <a:r>
              <a:rPr kumimoji="0" lang="en-US" altLang="en-US" sz="1800" b="0" i="0" u="none" strike="noStrike" cap="none" normalizeH="0" baseline="0" dirty="0">
                <a:ln>
                  <a:noFill/>
                </a:ln>
                <a:solidFill>
                  <a:srgbClr val="D5D5D5"/>
                </a:solidFill>
                <a:effectLst/>
                <a:latin typeface="Times New Roman" panose="02020603050405020304" pitchFamily="18" charset="0"/>
                <a:cs typeface="Times New Roman" panose="02020603050405020304" pitchFamily="18" charset="0"/>
              </a:rPr>
              <a:t> such that 0 ≤ cg(n) ≤ f(n) for all n ≥ n</a:t>
            </a:r>
            <a:r>
              <a:rPr kumimoji="0" lang="en-US" altLang="en-US" sz="1200" b="0" i="0" u="none" strike="noStrike" cap="none" normalizeH="0" baseline="-30000" dirty="0">
                <a:ln>
                  <a:noFill/>
                </a:ln>
                <a:solidFill>
                  <a:srgbClr val="D5D5D5"/>
                </a:solidFill>
                <a:effectLst/>
                <a:latin typeface="Times New Roman" panose="02020603050405020304" pitchFamily="18" charset="0"/>
                <a:cs typeface="Times New Roman" panose="02020603050405020304" pitchFamily="18" charset="0"/>
              </a:rPr>
              <a:t>0</a:t>
            </a:r>
            <a:r>
              <a:rPr kumimoji="0" lang="en-US" altLang="en-US" sz="1800" b="0" i="0" u="none" strike="noStrike" cap="none" normalizeH="0" baseline="0" dirty="0">
                <a:ln>
                  <a:noFill/>
                </a:ln>
                <a:solidFill>
                  <a:srgbClr val="D5D5D5"/>
                </a:solidFill>
                <a:effectLst/>
                <a:latin typeface="Times New Roman" panose="02020603050405020304" pitchFamily="18" charset="0"/>
                <a:cs typeface="Times New Roman" panose="02020603050405020304" pitchFamily="18" charset="0"/>
              </a:rPr>
              <a:t> }</a:t>
            </a:r>
            <a:r>
              <a:rPr kumimoji="0" lang="en-US" altLang="en-US" sz="1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918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07FCB-A6BA-5380-86F7-4E09434393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DCF0C-F09F-6C4A-543D-08309859075B}"/>
              </a:ext>
            </a:extLst>
          </p:cNvPr>
          <p:cNvSpPr>
            <a:spLocks noGrp="1"/>
          </p:cNvSpPr>
          <p:nvPr>
            <p:ph type="title"/>
          </p:nvPr>
        </p:nvSpPr>
        <p:spPr>
          <a:xfrm>
            <a:off x="628650" y="0"/>
            <a:ext cx="7886700" cy="592752"/>
          </a:xfrm>
        </p:spPr>
        <p:txBody>
          <a:bodyPr>
            <a:noAutofit/>
          </a:bodyPr>
          <a:lstStyle/>
          <a:p>
            <a:pPr algn="ctr">
              <a:lnSpc>
                <a:spcPct val="150000"/>
              </a:lnSpc>
            </a:pPr>
            <a:r>
              <a:rPr lang="en-IN" sz="2000" b="1" dirty="0">
                <a:latin typeface="Times New Roman" panose="02020603050405020304" pitchFamily="18" charset="0"/>
                <a:cs typeface="Times New Roman" panose="02020603050405020304" pitchFamily="18" charset="0"/>
              </a:rPr>
              <a:t>Asymptotic Notation</a:t>
            </a:r>
          </a:p>
        </p:txBody>
      </p:sp>
      <p:pic>
        <p:nvPicPr>
          <p:cNvPr id="15" name="Picture 14">
            <a:extLst>
              <a:ext uri="{FF2B5EF4-FFF2-40B4-BE49-F238E27FC236}">
                <a16:creationId xmlns:a16="http://schemas.microsoft.com/office/drawing/2014/main" id="{9A46101A-B16E-40F6-BBE5-DF32BB114B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D1841642-5149-00CC-4506-E1174C88183C}"/>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17</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1A7A8E93-71F7-3C4C-D583-E48C91EDED98}"/>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Rectangle 4">
            <a:extLst>
              <a:ext uri="{FF2B5EF4-FFF2-40B4-BE49-F238E27FC236}">
                <a16:creationId xmlns:a16="http://schemas.microsoft.com/office/drawing/2014/main" id="{F09D5EC0-FF5E-B782-0A70-A45B4F2AD18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F3994080-2FA2-B946-50DB-D649529D3BF9}"/>
              </a:ext>
            </a:extLst>
          </p:cNvPr>
          <p:cNvSpPr txBox="1"/>
          <p:nvPr/>
        </p:nvSpPr>
        <p:spPr>
          <a:xfrm>
            <a:off x="533734" y="689144"/>
            <a:ext cx="8339879" cy="2462213"/>
          </a:xfrm>
          <a:prstGeom prst="rect">
            <a:avLst/>
          </a:prstGeom>
          <a:noFill/>
        </p:spPr>
        <p:txBody>
          <a:bodyPr wrap="square">
            <a:spAutoFit/>
          </a:bodyPr>
          <a:lstStyle/>
          <a:p>
            <a:pPr algn="just">
              <a:lnSpc>
                <a:spcPct val="150000"/>
              </a:lnSpc>
            </a:pPr>
            <a:r>
              <a:rPr lang="en-IN" b="1" dirty="0">
                <a:latin typeface="Times New Roman" panose="02020603050405020304" pitchFamily="18" charset="0"/>
                <a:cs typeface="Times New Roman" panose="02020603050405020304" pitchFamily="18" charset="0"/>
              </a:rPr>
              <a:t>Theta Notation (</a:t>
            </a:r>
            <a:r>
              <a:rPr lang="el-GR" b="1" dirty="0">
                <a:latin typeface="Times New Roman" panose="02020603050405020304" pitchFamily="18" charset="0"/>
                <a:cs typeface="Times New Roman" panose="02020603050405020304" pitchFamily="18" charset="0"/>
              </a:rPr>
              <a:t>Θ-</a:t>
            </a:r>
            <a:r>
              <a:rPr lang="en-IN" b="1" dirty="0">
                <a:latin typeface="Times New Roman" panose="02020603050405020304" pitchFamily="18" charset="0"/>
                <a:cs typeface="Times New Roman" panose="02020603050405020304" pitchFamily="18" charset="0"/>
              </a:rPr>
              <a:t>notation):  </a:t>
            </a:r>
            <a:r>
              <a:rPr lang="en-US" dirty="0">
                <a:latin typeface="Times New Roman" panose="02020603050405020304" pitchFamily="18" charset="0"/>
                <a:cs typeface="Times New Roman" panose="02020603050405020304" pitchFamily="18" charset="0"/>
              </a:rPr>
              <a:t>Theta notation encloses the function from above and below. Since it represents the upper and the lower bound of the running time of an algorithm, it is used for analyzing the average-case complexity of an algorithm.</a:t>
            </a:r>
          </a:p>
          <a:p>
            <a:pPr algn="just">
              <a:lnSpc>
                <a:spcPct val="150000"/>
              </a:lnSpc>
            </a:pPr>
            <a:endParaRPr lang="en-IN" b="1" dirty="0">
              <a:latin typeface="Times New Roman" panose="02020603050405020304" pitchFamily="18" charset="0"/>
              <a:cs typeface="Times New Roman" panose="02020603050405020304" pitchFamily="18" charset="0"/>
            </a:endParaRPr>
          </a:p>
          <a:p>
            <a:pPr algn="just">
              <a:lnSpc>
                <a:spcPct val="150000"/>
              </a:lnSpc>
            </a:pPr>
            <a:br>
              <a:rPr lang="en-US"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a:p>
            <a:br>
              <a:rPr lang="en-IN" dirty="0">
                <a:latin typeface="Times New Roman" panose="02020603050405020304" pitchFamily="18" charset="0"/>
                <a:cs typeface="Times New Roman" panose="02020603050405020304" pitchFamily="18" charset="0"/>
              </a:rPr>
            </a:br>
            <a:endParaRPr lang="en-US" b="0" i="0" dirty="0">
              <a:effectLst/>
              <a:latin typeface="Times New Roman" panose="02020603050405020304" pitchFamily="18" charset="0"/>
              <a:cs typeface="Times New Roman" panose="02020603050405020304" pitchFamily="18" charset="0"/>
            </a:endParaRPr>
          </a:p>
        </p:txBody>
      </p:sp>
      <p:pic>
        <p:nvPicPr>
          <p:cNvPr id="5122" name="Picture 2" descr="Asymptotic Analysis: Theta notation">
            <a:extLst>
              <a:ext uri="{FF2B5EF4-FFF2-40B4-BE49-F238E27FC236}">
                <a16:creationId xmlns:a16="http://schemas.microsoft.com/office/drawing/2014/main" id="{BD3ECB6A-79BB-F40A-57B4-C23D293FEA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82990" y="1547590"/>
            <a:ext cx="2997657" cy="3207533"/>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4">
            <a:extLst>
              <a:ext uri="{FF2B5EF4-FFF2-40B4-BE49-F238E27FC236}">
                <a16:creationId xmlns:a16="http://schemas.microsoft.com/office/drawing/2014/main" id="{9AC1F55F-02A9-F993-31B8-769D336E8F85}"/>
              </a:ext>
            </a:extLst>
          </p:cNvPr>
          <p:cNvSpPr>
            <a:spLocks noChangeArrowheads="1"/>
          </p:cNvSpPr>
          <p:nvPr/>
        </p:nvSpPr>
        <p:spPr bwMode="auto">
          <a:xfrm>
            <a:off x="460375" y="2233208"/>
            <a:ext cx="5500185" cy="923330"/>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algn="ctr" defTabSz="914400" eaLnBrk="0" fontAlgn="base" hangingPunct="0">
              <a:spcBef>
                <a:spcPct val="0"/>
              </a:spcBef>
              <a:spcAft>
                <a:spcPct val="0"/>
              </a:spcAft>
            </a:pPr>
            <a:r>
              <a:rPr lang="en-US" altLang="en-US" sz="2000" dirty="0">
                <a:solidFill>
                  <a:srgbClr val="D5D5D5"/>
                </a:solidFill>
                <a:latin typeface="Times New Roman" panose="02020603050405020304" pitchFamily="18" charset="0"/>
                <a:cs typeface="Times New Roman" panose="02020603050405020304" pitchFamily="18" charset="0"/>
              </a:rPr>
              <a:t>Θ(g(n)) = { f(n): there exist positive constants c</a:t>
            </a:r>
            <a:r>
              <a:rPr lang="en-US" altLang="en-US" sz="300" baseline="-30000" dirty="0">
                <a:solidFill>
                  <a:srgbClr val="D5D5D5"/>
                </a:solidFill>
                <a:latin typeface="Times New Roman" panose="02020603050405020304" pitchFamily="18" charset="0"/>
                <a:cs typeface="Times New Roman" panose="02020603050405020304" pitchFamily="18" charset="0"/>
              </a:rPr>
              <a:t>1</a:t>
            </a:r>
            <a:r>
              <a:rPr lang="en-US" altLang="en-US" sz="2000" dirty="0">
                <a:solidFill>
                  <a:srgbClr val="D5D5D5"/>
                </a:solidFill>
                <a:latin typeface="Times New Roman" panose="02020603050405020304" pitchFamily="18" charset="0"/>
                <a:cs typeface="Times New Roman" panose="02020603050405020304" pitchFamily="18" charset="0"/>
              </a:rPr>
              <a:t>, c</a:t>
            </a:r>
            <a:r>
              <a:rPr lang="en-US" altLang="en-US" sz="300" baseline="-30000" dirty="0">
                <a:solidFill>
                  <a:srgbClr val="D5D5D5"/>
                </a:solidFill>
                <a:latin typeface="Times New Roman" panose="02020603050405020304" pitchFamily="18" charset="0"/>
                <a:cs typeface="Times New Roman" panose="02020603050405020304" pitchFamily="18" charset="0"/>
              </a:rPr>
              <a:t>2</a:t>
            </a:r>
            <a:r>
              <a:rPr lang="en-US" altLang="en-US" sz="2000" dirty="0">
                <a:solidFill>
                  <a:srgbClr val="D5D5D5"/>
                </a:solidFill>
                <a:latin typeface="Times New Roman" panose="02020603050405020304" pitchFamily="18" charset="0"/>
                <a:cs typeface="Times New Roman" panose="02020603050405020304" pitchFamily="18" charset="0"/>
              </a:rPr>
              <a:t> and n</a:t>
            </a:r>
            <a:r>
              <a:rPr lang="en-US" altLang="en-US" sz="300" baseline="-30000" dirty="0">
                <a:solidFill>
                  <a:srgbClr val="D5D5D5"/>
                </a:solidFill>
                <a:latin typeface="Times New Roman" panose="02020603050405020304" pitchFamily="18" charset="0"/>
                <a:cs typeface="Times New Roman" panose="02020603050405020304" pitchFamily="18" charset="0"/>
              </a:rPr>
              <a:t>0</a:t>
            </a:r>
            <a:r>
              <a:rPr lang="en-US" altLang="en-US" sz="2000" dirty="0">
                <a:solidFill>
                  <a:srgbClr val="D5D5D5"/>
                </a:solidFill>
                <a:latin typeface="Times New Roman" panose="02020603050405020304" pitchFamily="18" charset="0"/>
                <a:cs typeface="Times New Roman" panose="02020603050405020304" pitchFamily="18" charset="0"/>
              </a:rPr>
              <a:t> such that 0 ≤ c</a:t>
            </a:r>
            <a:r>
              <a:rPr lang="en-US" altLang="en-US" sz="300" baseline="-30000" dirty="0">
                <a:solidFill>
                  <a:srgbClr val="D5D5D5"/>
                </a:solidFill>
                <a:latin typeface="Times New Roman" panose="02020603050405020304" pitchFamily="18" charset="0"/>
                <a:cs typeface="Times New Roman" panose="02020603050405020304" pitchFamily="18" charset="0"/>
              </a:rPr>
              <a:t>1</a:t>
            </a:r>
            <a:r>
              <a:rPr lang="en-US" altLang="en-US" sz="2000" dirty="0">
                <a:solidFill>
                  <a:srgbClr val="D5D5D5"/>
                </a:solidFill>
                <a:latin typeface="Times New Roman" panose="02020603050405020304" pitchFamily="18" charset="0"/>
                <a:cs typeface="Times New Roman" panose="02020603050405020304" pitchFamily="18" charset="0"/>
              </a:rPr>
              <a:t>g(n) ≤ f(n) ≤ c</a:t>
            </a:r>
            <a:r>
              <a:rPr lang="en-US" altLang="en-US" sz="300" baseline="-30000" dirty="0">
                <a:solidFill>
                  <a:srgbClr val="D5D5D5"/>
                </a:solidFill>
                <a:latin typeface="Times New Roman" panose="02020603050405020304" pitchFamily="18" charset="0"/>
                <a:cs typeface="Times New Roman" panose="02020603050405020304" pitchFamily="18" charset="0"/>
              </a:rPr>
              <a:t>2</a:t>
            </a:r>
            <a:r>
              <a:rPr lang="en-US" altLang="en-US" sz="2000" dirty="0">
                <a:solidFill>
                  <a:srgbClr val="D5D5D5"/>
                </a:solidFill>
                <a:latin typeface="Times New Roman" panose="02020603050405020304" pitchFamily="18" charset="0"/>
                <a:cs typeface="Times New Roman" panose="02020603050405020304" pitchFamily="18" charset="0"/>
              </a:rPr>
              <a:t>g(n) for all n ≥ n</a:t>
            </a:r>
            <a:r>
              <a:rPr lang="en-US" altLang="en-US" sz="300" baseline="-30000" dirty="0">
                <a:solidFill>
                  <a:srgbClr val="D5D5D5"/>
                </a:solidFill>
                <a:latin typeface="Times New Roman" panose="02020603050405020304" pitchFamily="18" charset="0"/>
                <a:cs typeface="Times New Roman" panose="02020603050405020304" pitchFamily="18" charset="0"/>
              </a:rPr>
              <a:t>0</a:t>
            </a:r>
            <a:r>
              <a:rPr lang="en-US" altLang="en-US" sz="2000" dirty="0">
                <a:solidFill>
                  <a:srgbClr val="D5D5D5"/>
                </a:solidFill>
                <a:latin typeface="Times New Roman" panose="02020603050405020304" pitchFamily="18" charset="0"/>
                <a:cs typeface="Times New Roman" panose="02020603050405020304" pitchFamily="18" charset="0"/>
              </a:rPr>
              <a:t> }</a:t>
            </a:r>
            <a:r>
              <a:rPr lang="en-US" altLang="en-US" sz="300" dirty="0">
                <a:latin typeface="Times New Roman" panose="02020603050405020304" pitchFamily="18" charset="0"/>
                <a:cs typeface="Times New Roman" panose="02020603050405020304" pitchFamily="18" charset="0"/>
              </a:rPr>
              <a:t> </a:t>
            </a:r>
            <a:endParaRPr lang="en-US" altLang="en-US" sz="4400"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Rectangle 7">
            <a:extLst>
              <a:ext uri="{FF2B5EF4-FFF2-40B4-BE49-F238E27FC236}">
                <a16:creationId xmlns:a16="http://schemas.microsoft.com/office/drawing/2014/main" id="{89442EF5-AA87-B41E-69C9-C204127707C9}"/>
              </a:ext>
            </a:extLst>
          </p:cNvPr>
          <p:cNvSpPr>
            <a:spLocks noChangeArrowheads="1"/>
          </p:cNvSpPr>
          <p:nvPr/>
        </p:nvSpPr>
        <p:spPr bwMode="auto">
          <a:xfrm>
            <a:off x="0" y="90100"/>
            <a:ext cx="65" cy="276999"/>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06047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4700B-715A-C615-0437-A637F4C24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CD4C82-C597-DA8C-BEE4-D097FDF0AD52}"/>
              </a:ext>
            </a:extLst>
          </p:cNvPr>
          <p:cNvSpPr>
            <a:spLocks noGrp="1"/>
          </p:cNvSpPr>
          <p:nvPr>
            <p:ph type="title"/>
          </p:nvPr>
        </p:nvSpPr>
        <p:spPr>
          <a:xfrm>
            <a:off x="628650" y="0"/>
            <a:ext cx="7886700" cy="592752"/>
          </a:xfrm>
        </p:spPr>
        <p:txBody>
          <a:bodyPr>
            <a:noAutofit/>
          </a:bodyPr>
          <a:lstStyle/>
          <a:p>
            <a:pPr algn="ctr">
              <a:lnSpc>
                <a:spcPct val="150000"/>
              </a:lnSpc>
            </a:pPr>
            <a:r>
              <a:rPr lang="en-IN" sz="2000" b="1" dirty="0">
                <a:latin typeface="Times New Roman" panose="02020603050405020304" pitchFamily="18" charset="0"/>
                <a:cs typeface="Times New Roman" panose="02020603050405020304" pitchFamily="18" charset="0"/>
              </a:rPr>
              <a:t>Asymptotic Notation</a:t>
            </a:r>
          </a:p>
        </p:txBody>
      </p:sp>
      <p:pic>
        <p:nvPicPr>
          <p:cNvPr id="15" name="Picture 14">
            <a:extLst>
              <a:ext uri="{FF2B5EF4-FFF2-40B4-BE49-F238E27FC236}">
                <a16:creationId xmlns:a16="http://schemas.microsoft.com/office/drawing/2014/main" id="{06FDD8A5-DF4E-F61C-1551-C24B06485F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4CE8991D-D8E0-F17B-F6D0-E2A349E94ABD}"/>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18</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61E7858E-3F6D-2F6F-9882-EB360515B823}"/>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 name="Rectangle 4">
            <a:extLst>
              <a:ext uri="{FF2B5EF4-FFF2-40B4-BE49-F238E27FC236}">
                <a16:creationId xmlns:a16="http://schemas.microsoft.com/office/drawing/2014/main" id="{1950BA41-DC23-AEA6-CFD2-9ABD14B25CD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12" name="Rectangle 7">
            <a:extLst>
              <a:ext uri="{FF2B5EF4-FFF2-40B4-BE49-F238E27FC236}">
                <a16:creationId xmlns:a16="http://schemas.microsoft.com/office/drawing/2014/main" id="{7CF9FAD6-4750-B067-B630-3E996A19B655}"/>
              </a:ext>
            </a:extLst>
          </p:cNvPr>
          <p:cNvSpPr>
            <a:spLocks noChangeArrowheads="1"/>
          </p:cNvSpPr>
          <p:nvPr/>
        </p:nvSpPr>
        <p:spPr bwMode="auto">
          <a:xfrm>
            <a:off x="0" y="90100"/>
            <a:ext cx="65" cy="276999"/>
          </a:xfrm>
          <a:prstGeom prst="rect">
            <a:avLst/>
          </a:prstGeom>
          <a:solidFill>
            <a:srgbClr val="383B4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4867AD48-EBF2-FE43-07CE-7CCB329792D9}"/>
              </a:ext>
            </a:extLst>
          </p:cNvPr>
          <p:cNvPicPr>
            <a:picLocks noChangeAspect="1"/>
          </p:cNvPicPr>
          <p:nvPr/>
        </p:nvPicPr>
        <p:blipFill>
          <a:blip r:embed="rId4"/>
          <a:stretch>
            <a:fillRect/>
          </a:stretch>
        </p:blipFill>
        <p:spPr>
          <a:xfrm>
            <a:off x="460375" y="1133089"/>
            <a:ext cx="7236102" cy="1887679"/>
          </a:xfrm>
          <a:prstGeom prst="rect">
            <a:avLst/>
          </a:prstGeom>
        </p:spPr>
      </p:pic>
    </p:spTree>
    <p:extLst>
      <p:ext uri="{BB962C8B-B14F-4D97-AF65-F5344CB8AC3E}">
        <p14:creationId xmlns:p14="http://schemas.microsoft.com/office/powerpoint/2010/main" val="6794846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What is Data Structure</a:t>
            </a:r>
            <a:endParaRPr lang="en-IN" sz="2700" b="1"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19</a:t>
            </a:fld>
            <a:endParaRPr lang="en-IN" sz="1200" b="1" dirty="0">
              <a:solidFill>
                <a:schemeClr val="tx1"/>
              </a:solidFill>
            </a:endParaRPr>
          </a:p>
        </p:txBody>
      </p:sp>
      <p:sp>
        <p:nvSpPr>
          <p:cNvPr id="4" name="AutoShape 4" descr="Computer Clipart Png &amp; Free Computer Clipart.png Transparent Images #83348  - PNGi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pic>
        <p:nvPicPr>
          <p:cNvPr id="5" name="Picture 4"/>
          <p:cNvPicPr>
            <a:picLocks noChangeAspect="1"/>
          </p:cNvPicPr>
          <p:nvPr/>
        </p:nvPicPr>
        <p:blipFill>
          <a:blip r:embed="rId4"/>
          <a:stretch>
            <a:fillRect/>
          </a:stretch>
        </p:blipFill>
        <p:spPr>
          <a:xfrm>
            <a:off x="3535182" y="2215795"/>
            <a:ext cx="5608818" cy="2569985"/>
          </a:xfrm>
          <a:prstGeom prst="rect">
            <a:avLst/>
          </a:prstGeom>
        </p:spPr>
      </p:pic>
      <p:sp>
        <p:nvSpPr>
          <p:cNvPr id="6" name="Rectangle 5">
            <a:extLst>
              <a:ext uri="{FF2B5EF4-FFF2-40B4-BE49-F238E27FC236}">
                <a16:creationId xmlns:a16="http://schemas.microsoft.com/office/drawing/2014/main" id="{157CCBF5-217D-B921-BD76-D7D5EF797B0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
        <p:nvSpPr>
          <p:cNvPr id="8" name="TextBox 7">
            <a:extLst>
              <a:ext uri="{FF2B5EF4-FFF2-40B4-BE49-F238E27FC236}">
                <a16:creationId xmlns:a16="http://schemas.microsoft.com/office/drawing/2014/main" id="{76219D9C-4634-CB77-3435-B9B3867A3342}"/>
              </a:ext>
            </a:extLst>
          </p:cNvPr>
          <p:cNvSpPr txBox="1"/>
          <p:nvPr/>
        </p:nvSpPr>
        <p:spPr>
          <a:xfrm>
            <a:off x="523828" y="943992"/>
            <a:ext cx="8477728" cy="116955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A data structure is a way of storing and organizing data in computer memory so that it can be used efficiently.</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 organise data systematically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perform operations like searching, sorting, and updating quickly</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save memory and time, making programs efficient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For better problem solving in programming and real-life applications</a:t>
            </a:r>
          </a:p>
        </p:txBody>
      </p:sp>
    </p:spTree>
    <p:extLst>
      <p:ext uri="{BB962C8B-B14F-4D97-AF65-F5344CB8AC3E}">
        <p14:creationId xmlns:p14="http://schemas.microsoft.com/office/powerpoint/2010/main" val="3482639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0D1F1-DE64-D700-E01C-11E92E07A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21ADAE-5D4B-2485-4720-12AF9A38A0D4}"/>
              </a:ext>
            </a:extLst>
          </p:cNvPr>
          <p:cNvSpPr>
            <a:spLocks noGrp="1"/>
          </p:cNvSpPr>
          <p:nvPr>
            <p:ph type="title"/>
          </p:nvPr>
        </p:nvSpPr>
        <p:spPr>
          <a:xfrm>
            <a:off x="628650" y="0"/>
            <a:ext cx="7886700" cy="728004"/>
          </a:xfrm>
        </p:spPr>
        <p:txBody>
          <a:bodyPr>
            <a:noAutofit/>
          </a:bodyPr>
          <a:lstStyle/>
          <a:p>
            <a:pPr lvl="0" algn="ctr"/>
            <a:r>
              <a:rPr lang="en-US" sz="2700" b="1" dirty="0">
                <a:latin typeface="Times New Roman" pitchFamily="18" charset="0"/>
                <a:cs typeface="Times New Roman" pitchFamily="18" charset="0"/>
              </a:rPr>
              <a:t>Real Time Application of Data Structure </a:t>
            </a:r>
            <a:endParaRPr lang="en-IN" sz="2700" b="1" dirty="0">
              <a:latin typeface="Times New Roman" pitchFamily="18" charset="0"/>
              <a:cs typeface="Times New Roman" pitchFamily="18" charset="0"/>
            </a:endParaRPr>
          </a:p>
        </p:txBody>
      </p:sp>
      <p:pic>
        <p:nvPicPr>
          <p:cNvPr id="15" name="Picture 14">
            <a:extLst>
              <a:ext uri="{FF2B5EF4-FFF2-40B4-BE49-F238E27FC236}">
                <a16:creationId xmlns:a16="http://schemas.microsoft.com/office/drawing/2014/main" id="{600FE50D-CC9F-8B67-489F-21D46EA4E8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9" name="Slide Number Placeholder 4">
            <a:extLst>
              <a:ext uri="{FF2B5EF4-FFF2-40B4-BE49-F238E27FC236}">
                <a16:creationId xmlns:a16="http://schemas.microsoft.com/office/drawing/2014/main" id="{FF3436AE-E0C6-1F62-0B64-E1FE584E146B}"/>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t>20</a:t>
            </a:fld>
            <a:endParaRPr lang="en-IN" sz="1200" b="1" dirty="0">
              <a:solidFill>
                <a:schemeClr val="tx1"/>
              </a:solidFill>
            </a:endParaRPr>
          </a:p>
        </p:txBody>
      </p:sp>
      <p:sp>
        <p:nvSpPr>
          <p:cNvPr id="4" name="AutoShape 4" descr="Computer Clipart Png &amp; Free Computer Clipart.png Transparent Images #83348  - PNGio">
            <a:extLst>
              <a:ext uri="{FF2B5EF4-FFF2-40B4-BE49-F238E27FC236}">
                <a16:creationId xmlns:a16="http://schemas.microsoft.com/office/drawing/2014/main" id="{06983B82-0240-DBF2-250D-6420619E293E}"/>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Rectangle 2">
            <a:extLst>
              <a:ext uri="{FF2B5EF4-FFF2-40B4-BE49-F238E27FC236}">
                <a16:creationId xmlns:a16="http://schemas.microsoft.com/office/drawing/2014/main" id="{C6341231-8BAF-64F9-F467-60787EB661B5}"/>
              </a:ext>
            </a:extLst>
          </p:cNvPr>
          <p:cNvSpPr/>
          <p:nvPr/>
        </p:nvSpPr>
        <p:spPr>
          <a:xfrm>
            <a:off x="460375" y="963808"/>
            <a:ext cx="8444634" cy="2246769"/>
          </a:xfrm>
          <a:prstGeom prst="rect">
            <a:avLst/>
          </a:prstGeom>
        </p:spPr>
        <p:txBody>
          <a:bodyPr wrap="square">
            <a:spAutoFit/>
          </a:bodyPr>
          <a:lstStyle/>
          <a:p>
            <a:endParaRPr lang="en-US" dirty="0">
              <a:solidFill>
                <a:srgbClr val="273239"/>
              </a:solidFill>
              <a:latin typeface="Times New Roman" panose="02020603050405020304" pitchFamily="18" charset="0"/>
              <a:cs typeface="Times New Roman" panose="02020603050405020304" pitchFamily="18" charset="0"/>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US" dirty="0">
              <a:solidFill>
                <a:srgbClr val="273239"/>
              </a:solidFill>
              <a:latin typeface="Nunito"/>
            </a:endParaRPr>
          </a:p>
          <a:p>
            <a:endParaRPr lang="en-IN" dirty="0"/>
          </a:p>
        </p:txBody>
      </p:sp>
      <p:sp>
        <p:nvSpPr>
          <p:cNvPr id="6" name="Rectangle 5">
            <a:extLst>
              <a:ext uri="{FF2B5EF4-FFF2-40B4-BE49-F238E27FC236}">
                <a16:creationId xmlns:a16="http://schemas.microsoft.com/office/drawing/2014/main" id="{F63F43AA-65A9-D022-6311-DDD7499F4A8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pic>
        <p:nvPicPr>
          <p:cNvPr id="9" name="Picture 8">
            <a:extLst>
              <a:ext uri="{FF2B5EF4-FFF2-40B4-BE49-F238E27FC236}">
                <a16:creationId xmlns:a16="http://schemas.microsoft.com/office/drawing/2014/main" id="{C2C1D9D3-FDFA-D770-0DBD-12C879D4F3A5}"/>
              </a:ext>
            </a:extLst>
          </p:cNvPr>
          <p:cNvPicPr>
            <a:picLocks noChangeAspect="1"/>
          </p:cNvPicPr>
          <p:nvPr/>
        </p:nvPicPr>
        <p:blipFill>
          <a:blip r:embed="rId4"/>
          <a:stretch>
            <a:fillRect/>
          </a:stretch>
        </p:blipFill>
        <p:spPr>
          <a:xfrm>
            <a:off x="939743" y="1028138"/>
            <a:ext cx="7743882" cy="3533801"/>
          </a:xfrm>
          <a:prstGeom prst="rect">
            <a:avLst/>
          </a:prstGeom>
        </p:spPr>
      </p:pic>
    </p:spTree>
    <p:extLst>
      <p:ext uri="{BB962C8B-B14F-4D97-AF65-F5344CB8AC3E}">
        <p14:creationId xmlns:p14="http://schemas.microsoft.com/office/powerpoint/2010/main" val="3634170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graphicFrame>
        <p:nvGraphicFramePr>
          <p:cNvPr id="357" name="Google Shape;357;p11"/>
          <p:cNvGraphicFramePr/>
          <p:nvPr/>
        </p:nvGraphicFramePr>
        <p:xfrm>
          <a:off x="3602880" y="846720"/>
          <a:ext cx="1473938" cy="297188"/>
        </p:xfrm>
        <a:graphic>
          <a:graphicData uri="http://schemas.openxmlformats.org/drawingml/2006/table">
            <a:tbl>
              <a:tblPr>
                <a:noFill/>
              </a:tblPr>
              <a:tblGrid>
                <a:gridCol w="14739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Data Structures</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58" name="Google Shape;358;p11"/>
          <p:cNvGraphicFramePr/>
          <p:nvPr/>
        </p:nvGraphicFramePr>
        <p:xfrm>
          <a:off x="742230" y="1810620"/>
          <a:ext cx="2390044" cy="297188"/>
        </p:xfrm>
        <a:graphic>
          <a:graphicData uri="http://schemas.openxmlformats.org/drawingml/2006/table">
            <a:tbl>
              <a:tblPr>
                <a:noFill/>
              </a:tblPr>
              <a:tblGrid>
                <a:gridCol w="2390044">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Primitive  Data Structures</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59" name="Google Shape;359;p11"/>
          <p:cNvGraphicFramePr/>
          <p:nvPr/>
        </p:nvGraphicFramePr>
        <p:xfrm>
          <a:off x="5199930" y="1790100"/>
          <a:ext cx="2823120" cy="297188"/>
        </p:xfrm>
        <a:graphic>
          <a:graphicData uri="http://schemas.openxmlformats.org/drawingml/2006/table">
            <a:tbl>
              <a:tblPr>
                <a:noFill/>
              </a:tblPr>
              <a:tblGrid>
                <a:gridCol w="2823120">
                  <a:extLst>
                    <a:ext uri="{9D8B030D-6E8A-4147-A177-3AD203B41FA5}">
                      <a16:colId xmlns:a16="http://schemas.microsoft.com/office/drawing/2014/main" val="20000"/>
                    </a:ext>
                  </a:extLst>
                </a:gridCol>
              </a:tblGrid>
              <a:tr h="297188">
                <a:tc>
                  <a:txBody>
                    <a:bodyPr/>
                    <a:lstStyle/>
                    <a:p>
                      <a:pPr marL="0" marR="0" lvl="0" indent="0" algn="ctr"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Non-Primitive Data Structure</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0" name="Google Shape;360;p11"/>
          <p:cNvGraphicFramePr/>
          <p:nvPr/>
        </p:nvGraphicFramePr>
        <p:xfrm>
          <a:off x="92070" y="2709720"/>
          <a:ext cx="736838" cy="297188"/>
        </p:xfrm>
        <a:graphic>
          <a:graphicData uri="http://schemas.openxmlformats.org/drawingml/2006/table">
            <a:tbl>
              <a:tblPr>
                <a:noFill/>
              </a:tblPr>
              <a:tblGrid>
                <a:gridCol w="7368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Integer</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1" name="Google Shape;361;p11"/>
          <p:cNvGraphicFramePr/>
          <p:nvPr/>
        </p:nvGraphicFramePr>
        <p:xfrm>
          <a:off x="984420" y="2711340"/>
          <a:ext cx="736838" cy="297188"/>
        </p:xfrm>
        <a:graphic>
          <a:graphicData uri="http://schemas.openxmlformats.org/drawingml/2006/table">
            <a:tbl>
              <a:tblPr>
                <a:noFill/>
              </a:tblPr>
              <a:tblGrid>
                <a:gridCol w="7368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Float</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2" name="Google Shape;362;p11"/>
          <p:cNvGraphicFramePr/>
          <p:nvPr/>
        </p:nvGraphicFramePr>
        <p:xfrm>
          <a:off x="1855980" y="2717280"/>
          <a:ext cx="1032693" cy="297188"/>
        </p:xfrm>
        <a:graphic>
          <a:graphicData uri="http://schemas.openxmlformats.org/drawingml/2006/table">
            <a:tbl>
              <a:tblPr>
                <a:noFill/>
              </a:tblPr>
              <a:tblGrid>
                <a:gridCol w="1032693">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Character</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3" name="Google Shape;363;p11"/>
          <p:cNvGraphicFramePr/>
          <p:nvPr/>
        </p:nvGraphicFramePr>
        <p:xfrm>
          <a:off x="2994031" y="2732670"/>
          <a:ext cx="871388" cy="297188"/>
        </p:xfrm>
        <a:graphic>
          <a:graphicData uri="http://schemas.openxmlformats.org/drawingml/2006/table">
            <a:tbl>
              <a:tblPr>
                <a:noFill/>
              </a:tblPr>
              <a:tblGrid>
                <a:gridCol w="87138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Pointer</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4" name="Google Shape;364;p11"/>
          <p:cNvGraphicFramePr/>
          <p:nvPr/>
        </p:nvGraphicFramePr>
        <p:xfrm>
          <a:off x="3440880" y="3102030"/>
          <a:ext cx="2273944" cy="297188"/>
        </p:xfrm>
        <a:graphic>
          <a:graphicData uri="http://schemas.openxmlformats.org/drawingml/2006/table">
            <a:tbl>
              <a:tblPr>
                <a:noFill/>
              </a:tblPr>
              <a:tblGrid>
                <a:gridCol w="2273944">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Linear Data Structure</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5" name="Google Shape;365;p11"/>
          <p:cNvGraphicFramePr/>
          <p:nvPr/>
        </p:nvGraphicFramePr>
        <p:xfrm>
          <a:off x="6788070" y="3040740"/>
          <a:ext cx="2273944" cy="525788"/>
        </p:xfrm>
        <a:graphic>
          <a:graphicData uri="http://schemas.openxmlformats.org/drawingml/2006/table">
            <a:tbl>
              <a:tblPr>
                <a:noFill/>
              </a:tblPr>
              <a:tblGrid>
                <a:gridCol w="2273944">
                  <a:extLst>
                    <a:ext uri="{9D8B030D-6E8A-4147-A177-3AD203B41FA5}">
                      <a16:colId xmlns:a16="http://schemas.microsoft.com/office/drawing/2014/main" val="20000"/>
                    </a:ext>
                  </a:extLst>
                </a:gridCol>
              </a:tblGrid>
              <a:tr h="5257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Non-Linear Data Structure</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6" name="Google Shape;366;p11"/>
          <p:cNvGraphicFramePr/>
          <p:nvPr/>
        </p:nvGraphicFramePr>
        <p:xfrm>
          <a:off x="2545290" y="4034340"/>
          <a:ext cx="655110" cy="297188"/>
        </p:xfrm>
        <a:graphic>
          <a:graphicData uri="http://schemas.openxmlformats.org/drawingml/2006/table">
            <a:tbl>
              <a:tblPr>
                <a:noFill/>
              </a:tblPr>
              <a:tblGrid>
                <a:gridCol w="655110">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Array</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7" name="Google Shape;367;p11"/>
          <p:cNvGraphicFramePr/>
          <p:nvPr/>
        </p:nvGraphicFramePr>
        <p:xfrm>
          <a:off x="3255120" y="4035960"/>
          <a:ext cx="1077889" cy="297188"/>
        </p:xfrm>
        <a:graphic>
          <a:graphicData uri="http://schemas.openxmlformats.org/drawingml/2006/table">
            <a:tbl>
              <a:tblPr>
                <a:noFill/>
              </a:tblPr>
              <a:tblGrid>
                <a:gridCol w="1077889">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Linked List</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8" name="Google Shape;368;p11"/>
          <p:cNvGraphicFramePr/>
          <p:nvPr/>
        </p:nvGraphicFramePr>
        <p:xfrm>
          <a:off x="4433940" y="4047300"/>
          <a:ext cx="736838" cy="297188"/>
        </p:xfrm>
        <a:graphic>
          <a:graphicData uri="http://schemas.openxmlformats.org/drawingml/2006/table">
            <a:tbl>
              <a:tblPr>
                <a:noFill/>
              </a:tblPr>
              <a:tblGrid>
                <a:gridCol w="7368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Stack</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69" name="Google Shape;369;p11"/>
          <p:cNvGraphicFramePr/>
          <p:nvPr/>
        </p:nvGraphicFramePr>
        <p:xfrm>
          <a:off x="5354910" y="4029210"/>
          <a:ext cx="736838" cy="297188"/>
        </p:xfrm>
        <a:graphic>
          <a:graphicData uri="http://schemas.openxmlformats.org/drawingml/2006/table">
            <a:tbl>
              <a:tblPr>
                <a:noFill/>
              </a:tblPr>
              <a:tblGrid>
                <a:gridCol w="7368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Queue</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70" name="Google Shape;370;p11"/>
          <p:cNvGraphicFramePr/>
          <p:nvPr/>
        </p:nvGraphicFramePr>
        <p:xfrm>
          <a:off x="6615810" y="3990060"/>
          <a:ext cx="736838" cy="297188"/>
        </p:xfrm>
        <a:graphic>
          <a:graphicData uri="http://schemas.openxmlformats.org/drawingml/2006/table">
            <a:tbl>
              <a:tblPr>
                <a:noFill/>
              </a:tblPr>
              <a:tblGrid>
                <a:gridCol w="7368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Tree</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71" name="Google Shape;371;p11"/>
          <p:cNvGraphicFramePr/>
          <p:nvPr/>
        </p:nvGraphicFramePr>
        <p:xfrm>
          <a:off x="7518150" y="3981420"/>
          <a:ext cx="736838" cy="297188"/>
        </p:xfrm>
        <a:graphic>
          <a:graphicData uri="http://schemas.openxmlformats.org/drawingml/2006/table">
            <a:tbl>
              <a:tblPr>
                <a:noFill/>
              </a:tblPr>
              <a:tblGrid>
                <a:gridCol w="7368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Graph</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graphicFrame>
        <p:nvGraphicFramePr>
          <p:cNvPr id="372" name="Google Shape;372;p11"/>
          <p:cNvGraphicFramePr/>
          <p:nvPr/>
        </p:nvGraphicFramePr>
        <p:xfrm>
          <a:off x="8406990" y="3983040"/>
          <a:ext cx="620738" cy="297188"/>
        </p:xfrm>
        <a:graphic>
          <a:graphicData uri="http://schemas.openxmlformats.org/drawingml/2006/table">
            <a:tbl>
              <a:tblPr>
                <a:noFill/>
              </a:tblPr>
              <a:tblGrid>
                <a:gridCol w="620738">
                  <a:extLst>
                    <a:ext uri="{9D8B030D-6E8A-4147-A177-3AD203B41FA5}">
                      <a16:colId xmlns:a16="http://schemas.microsoft.com/office/drawing/2014/main" val="20000"/>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0" u="none" strike="noStrike" cap="none" dirty="0">
                          <a:solidFill>
                            <a:srgbClr val="000000"/>
                          </a:solidFill>
                          <a:latin typeface="Arial"/>
                          <a:ea typeface="Arial"/>
                          <a:cs typeface="Arial"/>
                          <a:sym typeface="Arial"/>
                        </a:rPr>
                        <a:t>Files</a:t>
                      </a:r>
                      <a:endParaRPr sz="1500" b="0" u="none" strike="noStrike" cap="none" dirty="0">
                        <a:latin typeface="Arial"/>
                        <a:ea typeface="Arial"/>
                        <a:cs typeface="Arial"/>
                        <a:sym typeface="Arial"/>
                      </a:endParaRPr>
                    </a:p>
                  </a:txBody>
                  <a:tcPr marL="68588" marR="68588" marT="34294" marB="34294">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bl>
          </a:graphicData>
        </a:graphic>
      </p:graphicFrame>
      <p:cxnSp>
        <p:nvCxnSpPr>
          <p:cNvPr id="373" name="Google Shape;373;p11"/>
          <p:cNvCxnSpPr/>
          <p:nvPr/>
        </p:nvCxnSpPr>
        <p:spPr>
          <a:xfrm>
            <a:off x="1852470" y="1484190"/>
            <a:ext cx="4616460" cy="9990"/>
          </a:xfrm>
          <a:prstGeom prst="straightConnector1">
            <a:avLst/>
          </a:prstGeom>
          <a:noFill/>
          <a:ln w="9525" cap="flat" cmpd="sng">
            <a:solidFill>
              <a:srgbClr val="000000"/>
            </a:solidFill>
            <a:prstDash val="solid"/>
            <a:round/>
            <a:headEnd type="none" w="sm" len="sm"/>
            <a:tailEnd type="none" w="sm" len="sm"/>
          </a:ln>
        </p:spPr>
      </p:cxnSp>
      <p:cxnSp>
        <p:nvCxnSpPr>
          <p:cNvPr id="374" name="Google Shape;374;p11"/>
          <p:cNvCxnSpPr/>
          <p:nvPr/>
        </p:nvCxnSpPr>
        <p:spPr>
          <a:xfrm>
            <a:off x="4329720" y="1176930"/>
            <a:ext cx="270" cy="317250"/>
          </a:xfrm>
          <a:prstGeom prst="straightConnector1">
            <a:avLst/>
          </a:prstGeom>
          <a:noFill/>
          <a:ln w="9525" cap="flat" cmpd="sng">
            <a:solidFill>
              <a:srgbClr val="000000"/>
            </a:solidFill>
            <a:prstDash val="solid"/>
            <a:round/>
            <a:headEnd type="none" w="sm" len="sm"/>
            <a:tailEnd type="none" w="sm" len="sm"/>
          </a:ln>
        </p:spPr>
      </p:cxnSp>
      <p:cxnSp>
        <p:nvCxnSpPr>
          <p:cNvPr id="375" name="Google Shape;375;p11"/>
          <p:cNvCxnSpPr/>
          <p:nvPr/>
        </p:nvCxnSpPr>
        <p:spPr>
          <a:xfrm flipH="1">
            <a:off x="1831950" y="1494180"/>
            <a:ext cx="10260" cy="317520"/>
          </a:xfrm>
          <a:prstGeom prst="straightConnector1">
            <a:avLst/>
          </a:prstGeom>
          <a:noFill/>
          <a:ln w="9525" cap="flat" cmpd="sng">
            <a:solidFill>
              <a:srgbClr val="000000"/>
            </a:solidFill>
            <a:prstDash val="solid"/>
            <a:round/>
            <a:headEnd type="none" w="sm" len="sm"/>
            <a:tailEnd type="none" w="sm" len="sm"/>
          </a:ln>
        </p:spPr>
      </p:cxnSp>
      <p:cxnSp>
        <p:nvCxnSpPr>
          <p:cNvPr id="376" name="Google Shape;376;p11"/>
          <p:cNvCxnSpPr/>
          <p:nvPr/>
        </p:nvCxnSpPr>
        <p:spPr>
          <a:xfrm>
            <a:off x="6468930" y="1494180"/>
            <a:ext cx="270" cy="307260"/>
          </a:xfrm>
          <a:prstGeom prst="straightConnector1">
            <a:avLst/>
          </a:prstGeom>
          <a:noFill/>
          <a:ln w="9525" cap="flat" cmpd="sng">
            <a:solidFill>
              <a:srgbClr val="000000"/>
            </a:solidFill>
            <a:prstDash val="solid"/>
            <a:round/>
            <a:headEnd type="none" w="sm" len="sm"/>
            <a:tailEnd type="none" w="sm" len="sm"/>
          </a:ln>
        </p:spPr>
      </p:cxnSp>
      <p:cxnSp>
        <p:nvCxnSpPr>
          <p:cNvPr id="377" name="Google Shape;377;p11"/>
          <p:cNvCxnSpPr/>
          <p:nvPr/>
        </p:nvCxnSpPr>
        <p:spPr>
          <a:xfrm rot="10800000" flipH="1">
            <a:off x="451980" y="2427570"/>
            <a:ext cx="2927340" cy="10260"/>
          </a:xfrm>
          <a:prstGeom prst="straightConnector1">
            <a:avLst/>
          </a:prstGeom>
          <a:noFill/>
          <a:ln w="9525" cap="flat" cmpd="sng">
            <a:solidFill>
              <a:srgbClr val="000000"/>
            </a:solidFill>
            <a:prstDash val="solid"/>
            <a:round/>
            <a:headEnd type="none" w="sm" len="sm"/>
            <a:tailEnd type="none" w="sm" len="sm"/>
          </a:ln>
        </p:spPr>
      </p:cxnSp>
      <p:cxnSp>
        <p:nvCxnSpPr>
          <p:cNvPr id="378" name="Google Shape;378;p11"/>
          <p:cNvCxnSpPr/>
          <p:nvPr/>
        </p:nvCxnSpPr>
        <p:spPr>
          <a:xfrm>
            <a:off x="1823580" y="2110050"/>
            <a:ext cx="270" cy="317520"/>
          </a:xfrm>
          <a:prstGeom prst="straightConnector1">
            <a:avLst/>
          </a:prstGeom>
          <a:noFill/>
          <a:ln w="9525" cap="flat" cmpd="sng">
            <a:solidFill>
              <a:srgbClr val="000000"/>
            </a:solidFill>
            <a:prstDash val="solid"/>
            <a:round/>
            <a:headEnd type="none" w="sm" len="sm"/>
            <a:tailEnd type="none" w="sm" len="sm"/>
          </a:ln>
        </p:spPr>
      </p:cxnSp>
      <p:cxnSp>
        <p:nvCxnSpPr>
          <p:cNvPr id="379" name="Google Shape;379;p11"/>
          <p:cNvCxnSpPr/>
          <p:nvPr/>
        </p:nvCxnSpPr>
        <p:spPr>
          <a:xfrm flipH="1">
            <a:off x="441720" y="2427570"/>
            <a:ext cx="10260" cy="317250"/>
          </a:xfrm>
          <a:prstGeom prst="straightConnector1">
            <a:avLst/>
          </a:prstGeom>
          <a:noFill/>
          <a:ln w="9525" cap="flat" cmpd="sng">
            <a:solidFill>
              <a:srgbClr val="000000"/>
            </a:solidFill>
            <a:prstDash val="solid"/>
            <a:round/>
            <a:headEnd type="none" w="sm" len="sm"/>
            <a:tailEnd type="none" w="sm" len="sm"/>
          </a:ln>
        </p:spPr>
      </p:cxnSp>
      <p:cxnSp>
        <p:nvCxnSpPr>
          <p:cNvPr id="380" name="Google Shape;380;p11"/>
          <p:cNvCxnSpPr/>
          <p:nvPr/>
        </p:nvCxnSpPr>
        <p:spPr>
          <a:xfrm>
            <a:off x="3379320" y="243783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81" name="Google Shape;381;p11"/>
          <p:cNvCxnSpPr/>
          <p:nvPr/>
        </p:nvCxnSpPr>
        <p:spPr>
          <a:xfrm>
            <a:off x="2306340" y="242919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82" name="Google Shape;382;p11"/>
          <p:cNvCxnSpPr/>
          <p:nvPr/>
        </p:nvCxnSpPr>
        <p:spPr>
          <a:xfrm>
            <a:off x="1345950" y="2410290"/>
            <a:ext cx="270" cy="307260"/>
          </a:xfrm>
          <a:prstGeom prst="straightConnector1">
            <a:avLst/>
          </a:prstGeom>
          <a:noFill/>
          <a:ln w="9525" cap="flat" cmpd="sng">
            <a:solidFill>
              <a:srgbClr val="000000"/>
            </a:solidFill>
            <a:prstDash val="solid"/>
            <a:round/>
            <a:headEnd type="none" w="sm" len="sm"/>
            <a:tailEnd type="none" w="sm" len="sm"/>
          </a:ln>
        </p:spPr>
      </p:cxnSp>
      <p:cxnSp>
        <p:nvCxnSpPr>
          <p:cNvPr id="383" name="Google Shape;383;p11"/>
          <p:cNvCxnSpPr/>
          <p:nvPr/>
        </p:nvCxnSpPr>
        <p:spPr>
          <a:xfrm rot="10800000" flipH="1">
            <a:off x="2855520" y="3711150"/>
            <a:ext cx="2992410" cy="27270"/>
          </a:xfrm>
          <a:prstGeom prst="straightConnector1">
            <a:avLst/>
          </a:prstGeom>
          <a:noFill/>
          <a:ln w="9525" cap="flat" cmpd="sng">
            <a:solidFill>
              <a:srgbClr val="000000"/>
            </a:solidFill>
            <a:prstDash val="solid"/>
            <a:round/>
            <a:headEnd type="none" w="sm" len="sm"/>
            <a:tailEnd type="none" w="sm" len="sm"/>
          </a:ln>
        </p:spPr>
      </p:cxnSp>
      <p:cxnSp>
        <p:nvCxnSpPr>
          <p:cNvPr id="384" name="Google Shape;384;p11"/>
          <p:cNvCxnSpPr/>
          <p:nvPr/>
        </p:nvCxnSpPr>
        <p:spPr>
          <a:xfrm>
            <a:off x="4292190" y="3393900"/>
            <a:ext cx="270" cy="317250"/>
          </a:xfrm>
          <a:prstGeom prst="straightConnector1">
            <a:avLst/>
          </a:prstGeom>
          <a:noFill/>
          <a:ln w="9525" cap="flat" cmpd="sng">
            <a:solidFill>
              <a:srgbClr val="000000"/>
            </a:solidFill>
            <a:prstDash val="solid"/>
            <a:round/>
            <a:headEnd type="none" w="sm" len="sm"/>
            <a:tailEnd type="none" w="sm" len="sm"/>
          </a:ln>
        </p:spPr>
      </p:cxnSp>
      <p:cxnSp>
        <p:nvCxnSpPr>
          <p:cNvPr id="385" name="Google Shape;385;p11"/>
          <p:cNvCxnSpPr/>
          <p:nvPr/>
        </p:nvCxnSpPr>
        <p:spPr>
          <a:xfrm>
            <a:off x="5830920" y="370440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86" name="Google Shape;386;p11"/>
          <p:cNvCxnSpPr/>
          <p:nvPr/>
        </p:nvCxnSpPr>
        <p:spPr>
          <a:xfrm>
            <a:off x="3754620" y="372654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87" name="Google Shape;387;p11"/>
          <p:cNvCxnSpPr/>
          <p:nvPr/>
        </p:nvCxnSpPr>
        <p:spPr>
          <a:xfrm>
            <a:off x="2855520" y="3738420"/>
            <a:ext cx="270" cy="307260"/>
          </a:xfrm>
          <a:prstGeom prst="straightConnector1">
            <a:avLst/>
          </a:prstGeom>
          <a:noFill/>
          <a:ln w="9525" cap="flat" cmpd="sng">
            <a:solidFill>
              <a:srgbClr val="000000"/>
            </a:solidFill>
            <a:prstDash val="solid"/>
            <a:round/>
            <a:headEnd type="none" w="sm" len="sm"/>
            <a:tailEnd type="none" w="sm" len="sm"/>
          </a:ln>
        </p:spPr>
      </p:cxnSp>
      <p:cxnSp>
        <p:nvCxnSpPr>
          <p:cNvPr id="388" name="Google Shape;388;p11"/>
          <p:cNvCxnSpPr/>
          <p:nvPr/>
        </p:nvCxnSpPr>
        <p:spPr>
          <a:xfrm>
            <a:off x="4802220" y="374031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89" name="Google Shape;389;p11"/>
          <p:cNvCxnSpPr/>
          <p:nvPr/>
        </p:nvCxnSpPr>
        <p:spPr>
          <a:xfrm rot="10800000" flipH="1">
            <a:off x="4619700" y="2402730"/>
            <a:ext cx="3420360" cy="43200"/>
          </a:xfrm>
          <a:prstGeom prst="straightConnector1">
            <a:avLst/>
          </a:prstGeom>
          <a:noFill/>
          <a:ln w="9525" cap="flat" cmpd="sng">
            <a:solidFill>
              <a:srgbClr val="000000"/>
            </a:solidFill>
            <a:prstDash val="solid"/>
            <a:round/>
            <a:headEnd type="none" w="sm" len="sm"/>
            <a:tailEnd type="none" w="sm" len="sm"/>
          </a:ln>
        </p:spPr>
      </p:cxnSp>
      <p:cxnSp>
        <p:nvCxnSpPr>
          <p:cNvPr id="390" name="Google Shape;390;p11"/>
          <p:cNvCxnSpPr/>
          <p:nvPr/>
        </p:nvCxnSpPr>
        <p:spPr>
          <a:xfrm>
            <a:off x="6484320" y="2085480"/>
            <a:ext cx="270" cy="317250"/>
          </a:xfrm>
          <a:prstGeom prst="straightConnector1">
            <a:avLst/>
          </a:prstGeom>
          <a:noFill/>
          <a:ln w="9525" cap="flat" cmpd="sng">
            <a:solidFill>
              <a:srgbClr val="000000"/>
            </a:solidFill>
            <a:prstDash val="solid"/>
            <a:round/>
            <a:headEnd type="none" w="sm" len="sm"/>
            <a:tailEnd type="none" w="sm" len="sm"/>
          </a:ln>
        </p:spPr>
      </p:cxnSp>
      <p:cxnSp>
        <p:nvCxnSpPr>
          <p:cNvPr id="391" name="Google Shape;391;p11"/>
          <p:cNvCxnSpPr/>
          <p:nvPr/>
        </p:nvCxnSpPr>
        <p:spPr>
          <a:xfrm>
            <a:off x="8023050" y="2395980"/>
            <a:ext cx="17010" cy="643950"/>
          </a:xfrm>
          <a:prstGeom prst="straightConnector1">
            <a:avLst/>
          </a:prstGeom>
          <a:noFill/>
          <a:ln w="9525" cap="flat" cmpd="sng">
            <a:solidFill>
              <a:srgbClr val="000000"/>
            </a:solidFill>
            <a:prstDash val="solid"/>
            <a:round/>
            <a:headEnd type="none" w="sm" len="sm"/>
            <a:tailEnd type="none" w="sm" len="sm"/>
          </a:ln>
        </p:spPr>
      </p:cxnSp>
      <p:cxnSp>
        <p:nvCxnSpPr>
          <p:cNvPr id="392" name="Google Shape;392;p11"/>
          <p:cNvCxnSpPr/>
          <p:nvPr/>
        </p:nvCxnSpPr>
        <p:spPr>
          <a:xfrm>
            <a:off x="4602690" y="2445930"/>
            <a:ext cx="17010" cy="643950"/>
          </a:xfrm>
          <a:prstGeom prst="straightConnector1">
            <a:avLst/>
          </a:prstGeom>
          <a:noFill/>
          <a:ln w="9525" cap="flat" cmpd="sng">
            <a:solidFill>
              <a:srgbClr val="000000"/>
            </a:solidFill>
            <a:prstDash val="solid"/>
            <a:round/>
            <a:headEnd type="none" w="sm" len="sm"/>
            <a:tailEnd type="none" w="sm" len="sm"/>
          </a:ln>
        </p:spPr>
      </p:cxnSp>
      <p:cxnSp>
        <p:nvCxnSpPr>
          <p:cNvPr id="393" name="Google Shape;393;p11"/>
          <p:cNvCxnSpPr/>
          <p:nvPr/>
        </p:nvCxnSpPr>
        <p:spPr>
          <a:xfrm rot="10800000" flipH="1">
            <a:off x="6898770" y="3641220"/>
            <a:ext cx="1801440" cy="14310"/>
          </a:xfrm>
          <a:prstGeom prst="straightConnector1">
            <a:avLst/>
          </a:prstGeom>
          <a:noFill/>
          <a:ln w="9525" cap="flat" cmpd="sng">
            <a:solidFill>
              <a:srgbClr val="000000"/>
            </a:solidFill>
            <a:prstDash val="solid"/>
            <a:round/>
            <a:headEnd type="none" w="sm" len="sm"/>
            <a:tailEnd type="none" w="sm" len="sm"/>
          </a:ln>
        </p:spPr>
      </p:cxnSp>
      <p:cxnSp>
        <p:nvCxnSpPr>
          <p:cNvPr id="394" name="Google Shape;394;p11"/>
          <p:cNvCxnSpPr/>
          <p:nvPr/>
        </p:nvCxnSpPr>
        <p:spPr>
          <a:xfrm>
            <a:off x="8040060" y="3323970"/>
            <a:ext cx="270" cy="317250"/>
          </a:xfrm>
          <a:prstGeom prst="straightConnector1">
            <a:avLst/>
          </a:prstGeom>
          <a:noFill/>
          <a:ln w="9525" cap="flat" cmpd="sng">
            <a:solidFill>
              <a:srgbClr val="000000"/>
            </a:solidFill>
            <a:prstDash val="solid"/>
            <a:round/>
            <a:headEnd type="none" w="sm" len="sm"/>
            <a:tailEnd type="none" w="sm" len="sm"/>
          </a:ln>
        </p:spPr>
      </p:cxnSp>
      <p:cxnSp>
        <p:nvCxnSpPr>
          <p:cNvPr id="395" name="Google Shape;395;p11"/>
          <p:cNvCxnSpPr/>
          <p:nvPr/>
        </p:nvCxnSpPr>
        <p:spPr>
          <a:xfrm>
            <a:off x="6898770" y="365661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96" name="Google Shape;396;p11"/>
          <p:cNvCxnSpPr/>
          <p:nvPr/>
        </p:nvCxnSpPr>
        <p:spPr>
          <a:xfrm>
            <a:off x="8683200" y="3649860"/>
            <a:ext cx="270" cy="306990"/>
          </a:xfrm>
          <a:prstGeom prst="straightConnector1">
            <a:avLst/>
          </a:prstGeom>
          <a:noFill/>
          <a:ln w="9525" cap="flat" cmpd="sng">
            <a:solidFill>
              <a:srgbClr val="000000"/>
            </a:solidFill>
            <a:prstDash val="solid"/>
            <a:round/>
            <a:headEnd type="none" w="sm" len="sm"/>
            <a:tailEnd type="none" w="sm" len="sm"/>
          </a:ln>
        </p:spPr>
      </p:cxnSp>
      <p:cxnSp>
        <p:nvCxnSpPr>
          <p:cNvPr id="397" name="Google Shape;397;p11"/>
          <p:cNvCxnSpPr/>
          <p:nvPr/>
        </p:nvCxnSpPr>
        <p:spPr>
          <a:xfrm>
            <a:off x="7814880" y="3641220"/>
            <a:ext cx="270" cy="306990"/>
          </a:xfrm>
          <a:prstGeom prst="straightConnector1">
            <a:avLst/>
          </a:prstGeom>
          <a:noFill/>
          <a:ln w="9525" cap="flat" cmpd="sng">
            <a:solidFill>
              <a:srgbClr val="000000"/>
            </a:solidFill>
            <a:prstDash val="solid"/>
            <a:round/>
            <a:headEnd type="none" w="sm" len="sm"/>
            <a:tailEnd type="none" w="sm" len="sm"/>
          </a:ln>
        </p:spPr>
      </p:cxnSp>
      <p:sp>
        <p:nvSpPr>
          <p:cNvPr id="398" name="Google Shape;398;p11"/>
          <p:cNvSpPr/>
          <p:nvPr/>
        </p:nvSpPr>
        <p:spPr>
          <a:xfrm>
            <a:off x="2231820" y="244080"/>
            <a:ext cx="4467690" cy="387180"/>
          </a:xfrm>
          <a:prstGeom prst="rect">
            <a:avLst/>
          </a:prstGeom>
          <a:noFill/>
          <a:ln>
            <a:noFill/>
          </a:ln>
        </p:spPr>
        <p:txBody>
          <a:bodyPr spcFirstLastPara="1" wrap="square" lIns="67500" tIns="33750" rIns="67500" bIns="33750" anchor="t" anchorCtr="0">
            <a:noAutofit/>
          </a:bodyPr>
          <a:lstStyle/>
          <a:p>
            <a:pPr>
              <a:buClr>
                <a:srgbClr val="000000"/>
              </a:buClr>
              <a:buSzPts val="2800"/>
            </a:pPr>
            <a:r>
              <a:rPr lang="en-IN" sz="2100" dirty="0">
                <a:solidFill>
                  <a:srgbClr val="000000"/>
                </a:solidFill>
                <a:latin typeface="Tahoma"/>
                <a:ea typeface="Tahoma"/>
                <a:cs typeface="Tahoma"/>
                <a:sym typeface="Tahoma"/>
              </a:rPr>
              <a:t>Classification</a:t>
            </a:r>
            <a:r>
              <a:rPr lang="en-IN" sz="2100" dirty="0">
                <a:solidFill>
                  <a:srgbClr val="333399"/>
                </a:solidFill>
                <a:latin typeface="Tahoma"/>
                <a:ea typeface="Tahoma"/>
                <a:cs typeface="Tahoma"/>
                <a:sym typeface="Tahoma"/>
              </a:rPr>
              <a:t> </a:t>
            </a:r>
            <a:r>
              <a:rPr lang="en-IN" sz="2100" dirty="0">
                <a:solidFill>
                  <a:srgbClr val="000000"/>
                </a:solidFill>
                <a:latin typeface="Tahoma"/>
                <a:ea typeface="Tahoma"/>
                <a:cs typeface="Tahoma"/>
                <a:sym typeface="Tahoma"/>
              </a:rPr>
              <a:t>Of</a:t>
            </a:r>
            <a:r>
              <a:rPr lang="en-IN" sz="2100" dirty="0">
                <a:solidFill>
                  <a:srgbClr val="333399"/>
                </a:solidFill>
                <a:latin typeface="Tahoma"/>
                <a:ea typeface="Tahoma"/>
                <a:cs typeface="Tahoma"/>
                <a:sym typeface="Tahoma"/>
              </a:rPr>
              <a:t> </a:t>
            </a:r>
            <a:r>
              <a:rPr lang="en-IN" sz="2100" dirty="0">
                <a:solidFill>
                  <a:srgbClr val="000000"/>
                </a:solidFill>
                <a:latin typeface="Tahoma"/>
                <a:ea typeface="Tahoma"/>
                <a:cs typeface="Tahoma"/>
                <a:sym typeface="Tahoma"/>
              </a:rPr>
              <a:t>Data</a:t>
            </a:r>
            <a:r>
              <a:rPr lang="en-IN" sz="2100" dirty="0">
                <a:solidFill>
                  <a:srgbClr val="333399"/>
                </a:solidFill>
                <a:latin typeface="Tahoma"/>
                <a:ea typeface="Tahoma"/>
                <a:cs typeface="Tahoma"/>
                <a:sym typeface="Tahoma"/>
              </a:rPr>
              <a:t> </a:t>
            </a:r>
            <a:r>
              <a:rPr lang="en-IN" sz="2100" dirty="0">
                <a:solidFill>
                  <a:srgbClr val="000000"/>
                </a:solidFill>
                <a:latin typeface="Tahoma"/>
                <a:ea typeface="Tahoma"/>
                <a:cs typeface="Tahoma"/>
                <a:sym typeface="Tahoma"/>
              </a:rPr>
              <a:t>Structures</a:t>
            </a:r>
            <a:endParaRPr sz="2100" dirty="0">
              <a:solidFill>
                <a:schemeClr val="dk1"/>
              </a:solidFill>
              <a:latin typeface="Arial"/>
              <a:ea typeface="Arial"/>
              <a:cs typeface="Arial"/>
              <a:sym typeface="Arial"/>
            </a:endParaRPr>
          </a:p>
        </p:txBody>
      </p:sp>
      <p:sp>
        <p:nvSpPr>
          <p:cNvPr id="2" name="Rectangle 1">
            <a:extLst>
              <a:ext uri="{FF2B5EF4-FFF2-40B4-BE49-F238E27FC236}">
                <a16:creationId xmlns:a16="http://schemas.microsoft.com/office/drawing/2014/main" id="{ABB7E0B7-1642-22FB-72F5-81FC7192FD8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969635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12"/>
          <p:cNvSpPr/>
          <p:nvPr/>
        </p:nvSpPr>
        <p:spPr>
          <a:xfrm>
            <a:off x="259773" y="251910"/>
            <a:ext cx="8603671" cy="4590254"/>
          </a:xfrm>
          <a:prstGeom prst="rect">
            <a:avLst/>
          </a:prstGeom>
          <a:noFill/>
          <a:ln>
            <a:noFill/>
          </a:ln>
        </p:spPr>
        <p:txBody>
          <a:bodyPr spcFirstLastPara="1" wrap="square" lIns="67500" tIns="33750" rIns="67500" bIns="33750" anchor="t" anchorCtr="0">
            <a:noAutofit/>
          </a:bodyPr>
          <a:lstStyle/>
          <a:p>
            <a:pPr algn="just">
              <a:buClr>
                <a:srgbClr val="000000"/>
              </a:buClr>
              <a:buSzPts val="2400"/>
            </a:pP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Primitive Data Structure:</a:t>
            </a:r>
          </a:p>
          <a:p>
            <a:pPr algn="just">
              <a:buClr>
                <a:srgbClr val="000000"/>
              </a:buClr>
              <a:buSzPts val="2400"/>
            </a:pP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chemeClr val="dk1"/>
              </a:buClr>
              <a:buSzPts val="2400"/>
            </a:pPr>
            <a:r>
              <a:rPr lang="en-US" sz="1800" dirty="0">
                <a:latin typeface="Times New Roman" panose="02020603050405020304" pitchFamily="18" charset="0"/>
                <a:cs typeface="Times New Roman" panose="02020603050405020304" pitchFamily="18" charset="0"/>
              </a:rPr>
              <a:t>These are </a:t>
            </a:r>
            <a:r>
              <a:rPr lang="en-US" sz="1800" b="1" dirty="0">
                <a:latin typeface="Times New Roman" panose="02020603050405020304" pitchFamily="18" charset="0"/>
                <a:cs typeface="Times New Roman" panose="02020603050405020304" pitchFamily="18" charset="0"/>
              </a:rPr>
              <a:t>basic data types</a:t>
            </a:r>
            <a:r>
              <a:rPr lang="en-US" sz="1800" dirty="0">
                <a:latin typeface="Times New Roman" panose="02020603050405020304" pitchFamily="18" charset="0"/>
                <a:cs typeface="Times New Roman" panose="02020603050405020304" pitchFamily="18" charset="0"/>
              </a:rPr>
              <a:t> provided by programming languages as building blocks.</a:t>
            </a:r>
          </a:p>
          <a:p>
            <a:pPr algn="just">
              <a:buClr>
                <a:schemeClr val="dk1"/>
              </a:buClr>
              <a:buSzPts val="2400"/>
            </a:pPr>
            <a:endParaRPr sz="1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13E0EF88-AF5F-9B4D-5441-0CB35AF6C96B}"/>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B3837D28-BCC3-D083-0CD0-4F64EDC24F74}"/>
              </a:ext>
            </a:extLst>
          </p:cNvPr>
          <p:cNvPicPr>
            <a:picLocks noChangeAspect="1"/>
          </p:cNvPicPr>
          <p:nvPr/>
        </p:nvPicPr>
        <p:blipFill>
          <a:blip r:embed="rId3"/>
          <a:stretch>
            <a:fillRect/>
          </a:stretch>
        </p:blipFill>
        <p:spPr>
          <a:xfrm>
            <a:off x="866748" y="1800599"/>
            <a:ext cx="7410504" cy="2305067"/>
          </a:xfrm>
          <a:prstGeom prst="rect">
            <a:avLst/>
          </a:prstGeom>
        </p:spPr>
      </p:pic>
    </p:spTree>
    <p:extLst>
      <p:ext uri="{BB962C8B-B14F-4D97-AF65-F5344CB8AC3E}">
        <p14:creationId xmlns:p14="http://schemas.microsoft.com/office/powerpoint/2010/main" val="196564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13"/>
          <p:cNvSpPr/>
          <p:nvPr/>
        </p:nvSpPr>
        <p:spPr>
          <a:xfrm>
            <a:off x="306531" y="114874"/>
            <a:ext cx="8530937" cy="1038464"/>
          </a:xfrm>
          <a:prstGeom prst="rect">
            <a:avLst/>
          </a:prstGeom>
          <a:noFill/>
          <a:ln>
            <a:noFill/>
          </a:ln>
        </p:spPr>
        <p:txBody>
          <a:bodyPr spcFirstLastPara="1" wrap="square" lIns="67500" tIns="33750" rIns="67500" bIns="33750" anchor="t" anchorCtr="0">
            <a:noAutofit/>
          </a:bodyPr>
          <a:lstStyle/>
          <a:p>
            <a:pPr algn="just">
              <a:buClr>
                <a:srgbClr val="000000"/>
              </a:buClr>
              <a:buSzPts val="2400"/>
            </a:pP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Non- Primitive Data Type: </a:t>
            </a:r>
          </a:p>
          <a:p>
            <a:pPr algn="just">
              <a:buClr>
                <a:srgbClr val="000000"/>
              </a:buClr>
              <a:buSzPts val="2400"/>
            </a:pPr>
            <a:r>
              <a:rPr lang="en-US" sz="1800" dirty="0">
                <a:solidFill>
                  <a:srgbClr val="000000"/>
                </a:solidFill>
                <a:latin typeface="Times New Roman" panose="02020603050405020304" pitchFamily="18" charset="0"/>
                <a:cs typeface="Times New Roman" panose="02020603050405020304" pitchFamily="18" charset="0"/>
              </a:rPr>
              <a:t>These are complex data structures built using primitive types, used to organize and manage large data efficiently.</a:t>
            </a:r>
          </a:p>
          <a:p>
            <a:pPr algn="just">
              <a:buClr>
                <a:srgbClr val="000000"/>
              </a:buClr>
              <a:buSzPts val="2400"/>
            </a:pPr>
            <a:endParaRPr sz="1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0B626D6C-B756-20F3-DA86-C510E79A79D8}"/>
              </a:ext>
            </a:extLst>
          </p:cNvPr>
          <p:cNvSpPr/>
          <p:nvPr/>
        </p:nvSpPr>
        <p:spPr>
          <a:xfrm>
            <a:off x="0" y="488631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pic>
        <p:nvPicPr>
          <p:cNvPr id="4" name="Picture 3">
            <a:extLst>
              <a:ext uri="{FF2B5EF4-FFF2-40B4-BE49-F238E27FC236}">
                <a16:creationId xmlns:a16="http://schemas.microsoft.com/office/drawing/2014/main" id="{C2A8C842-0AB7-472B-73F0-7BB7438E9308}"/>
              </a:ext>
            </a:extLst>
          </p:cNvPr>
          <p:cNvPicPr>
            <a:picLocks noChangeAspect="1"/>
          </p:cNvPicPr>
          <p:nvPr/>
        </p:nvPicPr>
        <p:blipFill>
          <a:blip r:embed="rId3"/>
          <a:stretch>
            <a:fillRect/>
          </a:stretch>
        </p:blipFill>
        <p:spPr>
          <a:xfrm>
            <a:off x="806917" y="1094531"/>
            <a:ext cx="7677206" cy="3735713"/>
          </a:xfrm>
          <a:prstGeom prst="rect">
            <a:avLst/>
          </a:prstGeom>
        </p:spPr>
      </p:pic>
    </p:spTree>
    <p:extLst>
      <p:ext uri="{BB962C8B-B14F-4D97-AF65-F5344CB8AC3E}">
        <p14:creationId xmlns:p14="http://schemas.microsoft.com/office/powerpoint/2010/main" val="3805018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graphicFrame>
        <p:nvGraphicFramePr>
          <p:cNvPr id="413" name="Google Shape;413;p14"/>
          <p:cNvGraphicFramePr/>
          <p:nvPr>
            <p:extLst>
              <p:ext uri="{D42A27DB-BD31-4B8C-83A1-F6EECF244321}">
                <p14:modId xmlns:p14="http://schemas.microsoft.com/office/powerpoint/2010/main" val="710700340"/>
              </p:ext>
            </p:extLst>
          </p:nvPr>
        </p:nvGraphicFramePr>
        <p:xfrm>
          <a:off x="297260" y="262672"/>
          <a:ext cx="8670094" cy="4035501"/>
        </p:xfrm>
        <a:graphic>
          <a:graphicData uri="http://schemas.openxmlformats.org/drawingml/2006/table">
            <a:tbl>
              <a:tblPr>
                <a:noFill/>
              </a:tblPr>
              <a:tblGrid>
                <a:gridCol w="612545">
                  <a:extLst>
                    <a:ext uri="{9D8B030D-6E8A-4147-A177-3AD203B41FA5}">
                      <a16:colId xmlns:a16="http://schemas.microsoft.com/office/drawing/2014/main" val="20000"/>
                    </a:ext>
                  </a:extLst>
                </a:gridCol>
                <a:gridCol w="1024679">
                  <a:extLst>
                    <a:ext uri="{9D8B030D-6E8A-4147-A177-3AD203B41FA5}">
                      <a16:colId xmlns:a16="http://schemas.microsoft.com/office/drawing/2014/main" val="20001"/>
                    </a:ext>
                  </a:extLst>
                </a:gridCol>
                <a:gridCol w="3184318">
                  <a:extLst>
                    <a:ext uri="{9D8B030D-6E8A-4147-A177-3AD203B41FA5}">
                      <a16:colId xmlns:a16="http://schemas.microsoft.com/office/drawing/2014/main" val="20002"/>
                    </a:ext>
                  </a:extLst>
                </a:gridCol>
                <a:gridCol w="3848552">
                  <a:extLst>
                    <a:ext uri="{9D8B030D-6E8A-4147-A177-3AD203B41FA5}">
                      <a16:colId xmlns:a16="http://schemas.microsoft.com/office/drawing/2014/main" val="20003"/>
                    </a:ext>
                  </a:extLst>
                </a:gridCol>
              </a:tblGrid>
              <a:tr h="297188">
                <a:tc>
                  <a:txBody>
                    <a:bodyPr/>
                    <a:lstStyle/>
                    <a:p>
                      <a:pPr marL="0" marR="0" lvl="0" indent="0" algn="l"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Sr. No.</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Key</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Linear Data Structures</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Non-linear Data Structures</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07264">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rPr>
                        <a:t>1</a:t>
                      </a:r>
                      <a:endParaRPr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cs typeface="Times New Roman" panose="02020603050405020304" pitchFamily="18" charset="0"/>
                        </a:rPr>
                        <a:t>Definition</a:t>
                      </a:r>
                      <a:endParaRPr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400" b="0" u="none" strike="noStrike" kern="1200" cap="none" dirty="0">
                          <a:solidFill>
                            <a:srgbClr val="000000"/>
                          </a:solidFill>
                          <a:latin typeface="Times New Roman" panose="02020603050405020304" pitchFamily="18" charset="0"/>
                          <a:cs typeface="Times New Roman" panose="02020603050405020304" pitchFamily="18" charset="0"/>
                        </a:rPr>
                        <a:t>Basic built-in data types provided by programming languages.</a:t>
                      </a:r>
                      <a:endParaRPr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lgn="ctr">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400" b="0" u="none" strike="noStrike" kern="1200" cap="none" dirty="0">
                          <a:solidFill>
                            <a:srgbClr val="000000"/>
                          </a:solidFill>
                          <a:latin typeface="Times New Roman" panose="02020603050405020304" pitchFamily="18" charset="0"/>
                          <a:cs typeface="Times New Roman" panose="02020603050405020304" pitchFamily="18" charset="0"/>
                        </a:rPr>
                        <a:t>Complex data structures derived from primitive types to store large and connected data efficiently.</a:t>
                      </a:r>
                      <a:endParaRPr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82472">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rPr>
                        <a:t>2</a:t>
                      </a:r>
                      <a:endParaRPr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cs typeface="Times New Roman" panose="02020603050405020304" pitchFamily="18" charset="0"/>
                        </a:rPr>
                        <a:t>Examples</a:t>
                      </a:r>
                      <a:endParaRPr sz="1400" b="0" u="none" strike="noStrike" kern="1200" cap="none" dirty="0">
                        <a:solidFill>
                          <a:srgbClr val="000000"/>
                        </a:solidFill>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lgn="ctr">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r>
                        <a:rPr lang="en-IN" sz="1400" b="0" u="none" strike="noStrike" kern="1200" cap="none" dirty="0">
                          <a:solidFill>
                            <a:srgbClr val="000000"/>
                          </a:solidFill>
                          <a:latin typeface="Times New Roman" panose="02020603050405020304" pitchFamily="18" charset="0"/>
                          <a:cs typeface="Times New Roman" panose="02020603050405020304" pitchFamily="18" charset="0"/>
                        </a:rPr>
                        <a:t>int, char, float, double, bool</a:t>
                      </a:r>
                    </a:p>
                  </a:txBody>
                  <a:tcPr anchor="ctr">
                    <a:lnL w="12225" cap="flat" cmpd="sng">
                      <a:solidFill>
                        <a:srgbClr val="000000"/>
                      </a:solidFill>
                      <a:prstDash val="solid"/>
                      <a:round/>
                      <a:headEnd type="none" w="sm" len="sm"/>
                      <a:tailEnd type="none" w="sm" len="sm"/>
                    </a:lnL>
                    <a:lnR w="12225" cap="flat" cmpd="sng" algn="ctr">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lgn="ctr">
                      <a:solidFill>
                        <a:srgbClr val="000000"/>
                      </a:solidFill>
                      <a:prstDash val="solid"/>
                      <a:round/>
                      <a:headEnd type="none" w="sm" len="sm"/>
                      <a:tailEnd type="none" w="sm" len="sm"/>
                    </a:lnB>
                  </a:tcPr>
                </a:tc>
                <a:tc>
                  <a:txBody>
                    <a:bodyPr/>
                    <a:lstStyle/>
                    <a:p>
                      <a:r>
                        <a:rPr lang="en-US" sz="1400" b="0" u="none" strike="noStrike" kern="1200" cap="none" dirty="0">
                          <a:solidFill>
                            <a:srgbClr val="000000"/>
                          </a:solidFill>
                          <a:latin typeface="Times New Roman" panose="02020603050405020304" pitchFamily="18" charset="0"/>
                          <a:cs typeface="Times New Roman" panose="02020603050405020304" pitchFamily="18" charset="0"/>
                        </a:rPr>
                        <a:t>Arrays, Linked Lists, Stacks, Queues, Trees, Graphs, Hash Tables</a:t>
                      </a:r>
                      <a:endParaRPr lang="en-IN" sz="1400" b="0" u="none" strike="noStrike" kern="1200" cap="none" dirty="0">
                        <a:solidFill>
                          <a:srgbClr val="000000"/>
                        </a:solidFill>
                        <a:latin typeface="Times New Roman" panose="02020603050405020304" pitchFamily="18" charset="0"/>
                        <a:cs typeface="Times New Roman" panose="02020603050405020304" pitchFamily="18" charset="0"/>
                      </a:endParaRPr>
                    </a:p>
                  </a:txBody>
                  <a:tcPr anchor="ctr">
                    <a:lnL w="12225" cap="flat" cmpd="sng" algn="ctr">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46913">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rPr>
                        <a:t>3</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Nature</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lgn="ctr">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Simple, atomic data items</a:t>
                      </a:r>
                    </a:p>
                  </a:txBody>
                  <a:tcPr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lgn="ctr">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341280" marR="0" lvl="0" indent="-339840" algn="l" rtl="0">
                        <a:lnSpc>
                          <a:spcPct val="100000"/>
                        </a:lnSpc>
                        <a:spcBef>
                          <a:spcPts val="0"/>
                        </a:spcBef>
                        <a:spcAft>
                          <a:spcPts val="0"/>
                        </a:spcAft>
                        <a:buClr>
                          <a:srgbClr val="000000"/>
                        </a:buClr>
                        <a:buSzPts val="1800"/>
                        <a:buFont typeface="Arial"/>
                        <a:buNone/>
                      </a:pPr>
                      <a:r>
                        <a:rPr lang="en-US"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Can be linear (array, linked list) or non-linear (tree, graph)</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lgn="ctr">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lgn="ctr">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982988">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rPr>
                        <a:t>4</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Operations</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Directly operated by machine instructions</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lgn="ctr">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Requires user-defined operations and implementation logic</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982988">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rPr>
                        <a:t>5</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Memory Size</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Fixed size depending on data type</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US" sz="1400" b="0" u="none" strike="noStrike" kern="1200" cap="none" dirty="0">
                          <a:solidFill>
                            <a:srgbClr val="000000"/>
                          </a:solidFill>
                          <a:latin typeface="Times New Roman" panose="02020603050405020304" pitchFamily="18" charset="0"/>
                          <a:ea typeface="+mn-ea"/>
                          <a:cs typeface="Times New Roman" panose="02020603050405020304" pitchFamily="18" charset="0"/>
                        </a:rPr>
                        <a:t>Size can be fixed (array) or dynamic (linked list, tree)</a:t>
                      </a:r>
                      <a:endParaRPr sz="1400" b="0" u="none" strike="noStrike" kern="1200" cap="none" dirty="0">
                        <a:solidFill>
                          <a:srgbClr val="000000"/>
                        </a:solidFill>
                        <a:latin typeface="Times New Roman" panose="02020603050405020304" pitchFamily="18" charset="0"/>
                        <a:ea typeface="+mn-ea"/>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2" name="Rectangle 1">
            <a:extLst>
              <a:ext uri="{FF2B5EF4-FFF2-40B4-BE49-F238E27FC236}">
                <a16:creationId xmlns:a16="http://schemas.microsoft.com/office/drawing/2014/main" id="{6A6B262C-1AB4-4C02-D55A-64E0F8CB6F9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49916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graphicFrame>
        <p:nvGraphicFramePr>
          <p:cNvPr id="418" name="Google Shape;418;p15"/>
          <p:cNvGraphicFramePr/>
          <p:nvPr>
            <p:extLst>
              <p:ext uri="{D42A27DB-BD31-4B8C-83A1-F6EECF244321}">
                <p14:modId xmlns:p14="http://schemas.microsoft.com/office/powerpoint/2010/main" val="2641320713"/>
              </p:ext>
            </p:extLst>
          </p:nvPr>
        </p:nvGraphicFramePr>
        <p:xfrm>
          <a:off x="418142" y="136499"/>
          <a:ext cx="8565034" cy="4556792"/>
        </p:xfrm>
        <a:graphic>
          <a:graphicData uri="http://schemas.openxmlformats.org/drawingml/2006/table">
            <a:tbl>
              <a:tblPr>
                <a:noFill/>
              </a:tblPr>
              <a:tblGrid>
                <a:gridCol w="827096">
                  <a:extLst>
                    <a:ext uri="{9D8B030D-6E8A-4147-A177-3AD203B41FA5}">
                      <a16:colId xmlns:a16="http://schemas.microsoft.com/office/drawing/2014/main" val="20000"/>
                    </a:ext>
                  </a:extLst>
                </a:gridCol>
                <a:gridCol w="1880629">
                  <a:extLst>
                    <a:ext uri="{9D8B030D-6E8A-4147-A177-3AD203B41FA5}">
                      <a16:colId xmlns:a16="http://schemas.microsoft.com/office/drawing/2014/main" val="20001"/>
                    </a:ext>
                  </a:extLst>
                </a:gridCol>
                <a:gridCol w="2974795">
                  <a:extLst>
                    <a:ext uri="{9D8B030D-6E8A-4147-A177-3AD203B41FA5}">
                      <a16:colId xmlns:a16="http://schemas.microsoft.com/office/drawing/2014/main" val="20002"/>
                    </a:ext>
                  </a:extLst>
                </a:gridCol>
                <a:gridCol w="2882514">
                  <a:extLst>
                    <a:ext uri="{9D8B030D-6E8A-4147-A177-3AD203B41FA5}">
                      <a16:colId xmlns:a16="http://schemas.microsoft.com/office/drawing/2014/main" val="20003"/>
                    </a:ext>
                  </a:extLst>
                </a:gridCol>
              </a:tblGrid>
              <a:tr h="261112">
                <a:tc>
                  <a:txBody>
                    <a:bodyPr/>
                    <a:lstStyle/>
                    <a:p>
                      <a:pPr marL="0" marR="0" lvl="0" indent="0" algn="l"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Sr. No.</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Key</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Linear Data Structures</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2000"/>
                        <a:buFont typeface="Arial"/>
                        <a:buNone/>
                      </a:pPr>
                      <a:r>
                        <a:rPr lang="en-IN" sz="1500" b="1"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Non-linear Data Structures</a:t>
                      </a:r>
                      <a:endParaRPr sz="15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84031">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6</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Memory utilization</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Linear data structures are not very memory friendly and are not utilizing memory efficiently.</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Non-linear data structures uses memory very efficiently.</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662813">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7</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Time Complexity</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Time complexity of linear data structure often increases with increase in size.</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Time complexity of non-linear data structure often remain with increase in size.</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671315">
                <a:tc>
                  <a:txBody>
                    <a:bodyPr/>
                    <a:lstStyle/>
                    <a:p>
                      <a:pPr marL="0" marR="0" lvl="0" indent="0" algn="ctr"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8</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Examples</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Array</a:t>
                      </a: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Linked List</a:t>
                      </a: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Tree</a:t>
                      </a: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Graph</a:t>
                      </a: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chemeClr val="dk1"/>
                        </a:buClr>
                        <a:buSzPts val="2000"/>
                        <a:buFont typeface="Arial"/>
                        <a:buNone/>
                      </a:pPr>
                      <a:endParaRPr sz="1400" b="0" u="none" strike="noStrike" cap="none" dirty="0">
                        <a:latin typeface="Times New Roman" panose="02020603050405020304" pitchFamily="18" charset="0"/>
                        <a:ea typeface="Arial"/>
                        <a:cs typeface="Times New Roman" panose="02020603050405020304" pitchFamily="18" charset="0"/>
                        <a:sym typeface="Arial"/>
                      </a:endParaRPr>
                    </a:p>
                    <a:p>
                      <a:pPr marL="0" marR="0" lvl="0" indent="0" algn="l" rtl="0">
                        <a:lnSpc>
                          <a:spcPct val="100000"/>
                        </a:lnSpc>
                        <a:spcBef>
                          <a:spcPts val="0"/>
                        </a:spcBef>
                        <a:spcAft>
                          <a:spcPts val="0"/>
                        </a:spcAft>
                        <a:buClr>
                          <a:srgbClr val="000000"/>
                        </a:buClr>
                        <a:buSzPts val="2000"/>
                        <a:buFont typeface="Arial"/>
                        <a:buNone/>
                      </a:pPr>
                      <a:r>
                        <a:rPr lang="en-IN" sz="1400" b="0" u="none" strike="noStrike" cap="none" dirty="0">
                          <a:solidFill>
                            <a:srgbClr val="000000"/>
                          </a:solidFill>
                          <a:latin typeface="Times New Roman" panose="02020603050405020304" pitchFamily="18" charset="0"/>
                          <a:ea typeface="Arial"/>
                          <a:cs typeface="Times New Roman" panose="02020603050405020304" pitchFamily="18" charset="0"/>
                          <a:sym typeface="Arial"/>
                        </a:rPr>
                        <a:t>  </a:t>
                      </a:r>
                      <a:endParaRPr sz="1400" b="0" u="none" strike="noStrike" cap="none" dirty="0">
                        <a:latin typeface="Times New Roman" panose="02020603050405020304" pitchFamily="18" charset="0"/>
                        <a:ea typeface="Arial"/>
                        <a:cs typeface="Times New Roman" panose="02020603050405020304" pitchFamily="18" charset="0"/>
                        <a:sym typeface="Arial"/>
                      </a:endParaRPr>
                    </a:p>
                  </a:txBody>
                  <a:tcPr marL="24844" marR="24844" marT="34294" marB="34294" anchor="ctr">
                    <a:lnL w="12225" cap="flat" cmpd="sng">
                      <a:solidFill>
                        <a:srgbClr val="000000"/>
                      </a:solidFill>
                      <a:prstDash val="solid"/>
                      <a:round/>
                      <a:headEnd type="none" w="sm" len="sm"/>
                      <a:tailEnd type="none" w="sm" len="sm"/>
                    </a:lnL>
                    <a:lnR w="12225" cap="flat" cmpd="sng">
                      <a:solidFill>
                        <a:srgbClr val="000000"/>
                      </a:solidFill>
                      <a:prstDash val="solid"/>
                      <a:round/>
                      <a:headEnd type="none" w="sm" len="sm"/>
                      <a:tailEnd type="none" w="sm" len="sm"/>
                    </a:lnR>
                    <a:lnT w="12225" cap="flat" cmpd="sng">
                      <a:solidFill>
                        <a:srgbClr val="000000"/>
                      </a:solidFill>
                      <a:prstDash val="solid"/>
                      <a:round/>
                      <a:headEnd type="none" w="sm" len="sm"/>
                      <a:tailEnd type="none" w="sm" len="sm"/>
                    </a:lnT>
                    <a:lnB w="122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pic>
        <p:nvPicPr>
          <p:cNvPr id="419" name="Google Shape;419;p15"/>
          <p:cNvPicPr preferRelativeResize="0"/>
          <p:nvPr/>
        </p:nvPicPr>
        <p:blipFill rotWithShape="1">
          <a:blip r:embed="rId3">
            <a:alphaModFix/>
          </a:blip>
          <a:srcRect/>
          <a:stretch/>
        </p:blipFill>
        <p:spPr>
          <a:xfrm>
            <a:off x="3247904" y="3579351"/>
            <a:ext cx="2542590" cy="922590"/>
          </a:xfrm>
          <a:prstGeom prst="rect">
            <a:avLst/>
          </a:prstGeom>
          <a:noFill/>
          <a:ln>
            <a:noFill/>
          </a:ln>
        </p:spPr>
      </p:pic>
      <p:pic>
        <p:nvPicPr>
          <p:cNvPr id="420" name="Google Shape;420;p15"/>
          <p:cNvPicPr preferRelativeResize="0"/>
          <p:nvPr/>
        </p:nvPicPr>
        <p:blipFill rotWithShape="1">
          <a:blip r:embed="rId4">
            <a:alphaModFix/>
          </a:blip>
          <a:srcRect/>
          <a:stretch/>
        </p:blipFill>
        <p:spPr>
          <a:xfrm>
            <a:off x="3178980" y="2241620"/>
            <a:ext cx="2854980" cy="754304"/>
          </a:xfrm>
          <a:prstGeom prst="rect">
            <a:avLst/>
          </a:prstGeom>
          <a:noFill/>
          <a:ln>
            <a:noFill/>
          </a:ln>
        </p:spPr>
      </p:pic>
      <p:pic>
        <p:nvPicPr>
          <p:cNvPr id="421" name="Google Shape;421;p15"/>
          <p:cNvPicPr preferRelativeResize="0"/>
          <p:nvPr/>
        </p:nvPicPr>
        <p:blipFill rotWithShape="1">
          <a:blip r:embed="rId5">
            <a:alphaModFix/>
          </a:blip>
          <a:srcRect/>
          <a:stretch/>
        </p:blipFill>
        <p:spPr>
          <a:xfrm>
            <a:off x="7000430" y="1969961"/>
            <a:ext cx="1437750" cy="1134810"/>
          </a:xfrm>
          <a:prstGeom prst="rect">
            <a:avLst/>
          </a:prstGeom>
          <a:noFill/>
          <a:ln>
            <a:noFill/>
          </a:ln>
        </p:spPr>
      </p:pic>
      <p:pic>
        <p:nvPicPr>
          <p:cNvPr id="422" name="Google Shape;422;p15"/>
          <p:cNvPicPr preferRelativeResize="0"/>
          <p:nvPr/>
        </p:nvPicPr>
        <p:blipFill rotWithShape="1">
          <a:blip r:embed="rId6">
            <a:alphaModFix/>
          </a:blip>
          <a:srcRect/>
          <a:stretch/>
        </p:blipFill>
        <p:spPr>
          <a:xfrm>
            <a:off x="7046379" y="3296121"/>
            <a:ext cx="1219320" cy="1205820"/>
          </a:xfrm>
          <a:prstGeom prst="rect">
            <a:avLst/>
          </a:prstGeom>
          <a:noFill/>
          <a:ln>
            <a:noFill/>
          </a:ln>
        </p:spPr>
      </p:pic>
      <p:sp>
        <p:nvSpPr>
          <p:cNvPr id="2" name="Rectangle 1">
            <a:extLst>
              <a:ext uri="{FF2B5EF4-FFF2-40B4-BE49-F238E27FC236}">
                <a16:creationId xmlns:a16="http://schemas.microsoft.com/office/drawing/2014/main" id="{CF4401E1-6624-C871-1B0C-B128AAFFF85C}"/>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492257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18"/>
          <p:cNvSpPr/>
          <p:nvPr/>
        </p:nvSpPr>
        <p:spPr>
          <a:xfrm>
            <a:off x="457199" y="208980"/>
            <a:ext cx="8354291" cy="3905820"/>
          </a:xfrm>
          <a:prstGeom prst="rect">
            <a:avLst/>
          </a:prstGeom>
          <a:noFill/>
          <a:ln>
            <a:noFill/>
          </a:ln>
        </p:spPr>
        <p:txBody>
          <a:bodyPr spcFirstLastPara="1" wrap="square" lIns="67500" tIns="33750" rIns="67500" bIns="33750" anchor="t" anchorCtr="0">
            <a:noAutofit/>
          </a:bodyPr>
          <a:lstStyle/>
          <a:p>
            <a:pPr algn="just">
              <a:buClr>
                <a:srgbClr val="000000"/>
              </a:buClr>
              <a:buSzPts val="2400"/>
            </a:pP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Static data structure </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The size of the structure is fixed. </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The content of the data structure can be modified but without changing the memory space allocated to it.</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provides more easier access to elements with respect to dynamic data structure</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 Example of Static Data Structures: Array(   int   a[5] )</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rgbClr val="000000"/>
              </a:buClr>
              <a:buSzPts val="1400"/>
            </a:pPr>
            <a:r>
              <a:rPr lang="en-IN" sz="1050" dirty="0">
                <a:solidFill>
                  <a:srgbClr val="000000"/>
                </a:solidFill>
                <a:latin typeface="Times New Roman" panose="02020603050405020304" pitchFamily="18" charset="0"/>
                <a:ea typeface="Arial"/>
                <a:cs typeface="Times New Roman" panose="02020603050405020304" pitchFamily="18" charset="0"/>
                <a:sym typeface="Arial"/>
              </a:rPr>
              <a:t> </a:t>
            </a: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Dynamic data structure</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The size of the structure in not fixed and can be modified during the operations performed on it. </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Dynamic data structures are designed to facilitate change of data structures in the run time. </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flexible</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marL="214380" indent="-214380" algn="just">
              <a:buClr>
                <a:srgbClr val="000000"/>
              </a:buClr>
              <a:buSzPts val="2000"/>
              <a:buFont typeface="Arial"/>
              <a:buChar char="•"/>
            </a:pPr>
            <a:r>
              <a:rPr lang="en-IN" sz="1500" dirty="0">
                <a:solidFill>
                  <a:srgbClr val="000000"/>
                </a:solidFill>
                <a:latin typeface="Times New Roman" panose="02020603050405020304" pitchFamily="18" charset="0"/>
                <a:ea typeface="Arial"/>
                <a:cs typeface="Times New Roman" panose="02020603050405020304" pitchFamily="18" charset="0"/>
                <a:sym typeface="Arial"/>
              </a:rPr>
              <a:t>Example of Dynamic Data Structures: Linked List</a:t>
            </a:r>
            <a:endParaRPr sz="15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chemeClr val="dk1"/>
              </a:buClr>
              <a:buSzPts val="1400"/>
            </a:pPr>
            <a:endParaRPr sz="105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67DF0696-E348-CFFF-91E6-5D966253F8E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311356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16"/>
          <p:cNvSpPr/>
          <p:nvPr/>
        </p:nvSpPr>
        <p:spPr>
          <a:xfrm>
            <a:off x="603990" y="251910"/>
            <a:ext cx="8301019" cy="4164226"/>
          </a:xfrm>
          <a:prstGeom prst="rect">
            <a:avLst/>
          </a:prstGeom>
          <a:noFill/>
          <a:ln>
            <a:noFill/>
          </a:ln>
        </p:spPr>
        <p:txBody>
          <a:bodyPr spcFirstLastPara="1" wrap="square" lIns="67500" tIns="33750" rIns="67500" bIns="33750" anchor="t" anchorCtr="0">
            <a:noAutofit/>
          </a:bodyPr>
          <a:lstStyle/>
          <a:p>
            <a:pPr algn="just">
              <a:buClr>
                <a:srgbClr val="000000"/>
              </a:buClr>
              <a:buSzPts val="2400"/>
            </a:pP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Persistent data structure</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u="sng" dirty="0">
                <a:solidFill>
                  <a:schemeClr val="hlink"/>
                </a:solidFill>
                <a:latin typeface="Times New Roman" panose="02020603050405020304" pitchFamily="18" charset="0"/>
                <a:ea typeface="Arial"/>
                <a:cs typeface="Times New Roman" panose="02020603050405020304" pitchFamily="18" charset="0"/>
                <a:sym typeface="Arial"/>
                <a:hlinkClick r:id="rId3"/>
              </a:rPr>
              <a:t>data structure</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that always preserves the previous version of itself when it is modified.</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u="sng" dirty="0">
                <a:solidFill>
                  <a:schemeClr val="hlink"/>
                </a:solidFill>
                <a:latin typeface="Times New Roman" panose="02020603050405020304" pitchFamily="18" charset="0"/>
                <a:ea typeface="Arial"/>
                <a:cs typeface="Times New Roman" panose="02020603050405020304" pitchFamily="18" charset="0"/>
                <a:sym typeface="Arial"/>
                <a:hlinkClick r:id="rId4"/>
              </a:rPr>
              <a:t>immutable</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as their operations do not (visibly) update the structure in-place, but instead always yield a new updated structure.</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A data structure is </a:t>
            </a: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partially persistent</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if all versions can be accessed but only the newest version can be modified.</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The data structure is </a:t>
            </a: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fully persistent</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if every version can be both accessed and modified. </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D1E505BF-676B-508D-3B8B-99B0BB935E0D}"/>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63938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17"/>
          <p:cNvSpPr/>
          <p:nvPr/>
        </p:nvSpPr>
        <p:spPr>
          <a:xfrm>
            <a:off x="535259" y="89210"/>
            <a:ext cx="8400923" cy="4839629"/>
          </a:xfrm>
          <a:prstGeom prst="rect">
            <a:avLst/>
          </a:prstGeom>
          <a:noFill/>
          <a:ln>
            <a:noFill/>
          </a:ln>
        </p:spPr>
        <p:txBody>
          <a:bodyPr spcFirstLastPara="1" wrap="square" lIns="67500" tIns="33750" rIns="67500" bIns="33750" anchor="t" anchorCtr="0">
            <a:noAutofit/>
          </a:bodyPr>
          <a:lstStyle/>
          <a:p>
            <a:pPr algn="just">
              <a:buClr>
                <a:srgbClr val="000000"/>
              </a:buClr>
              <a:buSzPts val="2400"/>
            </a:pP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Ephemeral</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a:t>
            </a: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 data structure</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An </a:t>
            </a: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ephemeral data structure </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is one for which only one version is available at a time: after an update operation, the structure as it existed before the update is lost.</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u="sng" dirty="0">
                <a:solidFill>
                  <a:schemeClr val="hlink"/>
                </a:solidFill>
                <a:latin typeface="Times New Roman" panose="02020603050405020304" pitchFamily="18" charset="0"/>
                <a:ea typeface="Arial"/>
                <a:cs typeface="Times New Roman" panose="02020603050405020304" pitchFamily="18" charset="0"/>
                <a:sym typeface="Arial"/>
                <a:hlinkClick r:id="rId3"/>
              </a:rPr>
              <a:t>mutable</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as their operations update the structure in-place, so new updated structure can be accessed and modified .</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chemeClr val="dk1"/>
              </a:buClr>
              <a:buSzPts val="2400"/>
            </a:pP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In imperative languages, most data structures are ephemeral.  a=5,15  </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chemeClr val="dk1"/>
              </a:buClr>
              <a:buSzPts val="2400"/>
            </a:pP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rgbClr val="000000"/>
              </a:buClr>
              <a:buSzPts val="2400"/>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 </a:t>
            </a:r>
            <a:r>
              <a:rPr lang="en-IN" sz="1800" b="1" dirty="0">
                <a:solidFill>
                  <a:srgbClr val="000000"/>
                </a:solidFill>
                <a:latin typeface="Times New Roman" panose="02020603050405020304" pitchFamily="18" charset="0"/>
                <a:ea typeface="Arial"/>
                <a:cs typeface="Times New Roman" panose="02020603050405020304" pitchFamily="18" charset="0"/>
                <a:sym typeface="Arial"/>
              </a:rPr>
              <a:t>Persistent structure</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multiple versions are simultaneously accessible: after an update, both old and new versions can be used. </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u="sng" dirty="0">
                <a:solidFill>
                  <a:schemeClr val="hlink"/>
                </a:solidFill>
                <a:latin typeface="Times New Roman" panose="02020603050405020304" pitchFamily="18" charset="0"/>
                <a:ea typeface="Arial"/>
                <a:cs typeface="Times New Roman" panose="02020603050405020304" pitchFamily="18" charset="0"/>
                <a:sym typeface="Arial"/>
                <a:hlinkClick r:id="rId3"/>
              </a:rPr>
              <a:t>immutable</a:t>
            </a:r>
            <a:r>
              <a:rPr lang="en-IN" sz="1800" dirty="0">
                <a:solidFill>
                  <a:srgbClr val="000000"/>
                </a:solidFill>
                <a:latin typeface="Times New Roman" panose="02020603050405020304" pitchFamily="18" charset="0"/>
                <a:ea typeface="Arial"/>
                <a:cs typeface="Times New Roman" panose="02020603050405020304" pitchFamily="18" charset="0"/>
                <a:sym typeface="Arial"/>
              </a:rPr>
              <a:t>, as their operations do not (visibly) update the structure in-place, but instead always yield a new updated structure. So old and  new updated structure can be accessed and modified .</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marL="257310" indent="-257310" algn="just">
              <a:buClr>
                <a:srgbClr val="000000"/>
              </a:buClr>
              <a:buSzPts val="2400"/>
              <a:buFont typeface="Arial"/>
              <a:buChar char="•"/>
            </a:pPr>
            <a:r>
              <a:rPr lang="en-IN" sz="1800" dirty="0">
                <a:solidFill>
                  <a:srgbClr val="000000"/>
                </a:solidFill>
                <a:latin typeface="Times New Roman" panose="02020603050405020304" pitchFamily="18" charset="0"/>
                <a:ea typeface="Arial"/>
                <a:cs typeface="Times New Roman" panose="02020603050405020304" pitchFamily="18" charset="0"/>
                <a:sym typeface="Arial"/>
              </a:rPr>
              <a:t>In functional languages, data structures are persistent</a:t>
            </a:r>
            <a:endParaRPr sz="1800" dirty="0">
              <a:solidFill>
                <a:schemeClr val="dk1"/>
              </a:solidFill>
              <a:latin typeface="Times New Roman" panose="02020603050405020304" pitchFamily="18" charset="0"/>
              <a:ea typeface="Arial"/>
              <a:cs typeface="Times New Roman" panose="02020603050405020304" pitchFamily="18" charset="0"/>
              <a:sym typeface="Arial"/>
            </a:endParaRPr>
          </a:p>
          <a:p>
            <a:pPr algn="just">
              <a:buClr>
                <a:schemeClr val="dk1"/>
              </a:buClr>
              <a:buSzPts val="2400"/>
            </a:pPr>
            <a:endParaRPr sz="1800" dirty="0">
              <a:solidFill>
                <a:schemeClr val="dk1"/>
              </a:solidFill>
              <a:latin typeface="Times New Roman" panose="02020603050405020304" pitchFamily="18" charset="0"/>
              <a:ea typeface="Arial"/>
              <a:cs typeface="Times New Roman" panose="02020603050405020304" pitchFamily="18" charset="0"/>
              <a:sym typeface="Arial"/>
            </a:endParaRPr>
          </a:p>
        </p:txBody>
      </p:sp>
      <p:sp>
        <p:nvSpPr>
          <p:cNvPr id="2" name="Rectangle 1">
            <a:extLst>
              <a:ext uri="{FF2B5EF4-FFF2-40B4-BE49-F238E27FC236}">
                <a16:creationId xmlns:a16="http://schemas.microsoft.com/office/drawing/2014/main" id="{24805D61-9D7B-FC52-12CC-FBDF2F791F52}"/>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73847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Types of Array</a:t>
            </a:r>
            <a:endParaRPr lang="en-IN" sz="27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marL="0" indent="0" algn="just">
              <a:buNone/>
            </a:pPr>
            <a:r>
              <a:rPr lang="en-US" b="0" i="0" dirty="0">
                <a:solidFill>
                  <a:srgbClr val="0D0D0D"/>
                </a:solidFill>
                <a:effectLst/>
                <a:latin typeface="Times New Roman" panose="02020603050405020304" pitchFamily="18" charset="0"/>
                <a:cs typeface="Times New Roman" panose="02020603050405020304" pitchFamily="18" charset="0"/>
              </a:rPr>
              <a:t>A one-dimensional array is a data structure that stores elements of the same type in a linear sequence. It's a fundamental concept in computer programming and is widely used in various algorithms and applications.</a:t>
            </a:r>
          </a:p>
          <a:p>
            <a:pPr marL="0" indent="0" algn="just">
              <a:buNone/>
            </a:pPr>
            <a:r>
              <a:rPr lang="en-US" b="0" i="0" dirty="0">
                <a:solidFill>
                  <a:srgbClr val="0D0D0D"/>
                </a:solidFill>
                <a:effectLst/>
                <a:latin typeface="Times New Roman" panose="02020603050405020304" pitchFamily="18" charset="0"/>
                <a:cs typeface="Times New Roman" panose="02020603050405020304" pitchFamily="18" charset="0"/>
              </a:rPr>
              <a:t>In a one-dimensional array:</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Elements:</a:t>
            </a:r>
            <a:r>
              <a:rPr lang="en-US" b="0" i="0" dirty="0">
                <a:solidFill>
                  <a:srgbClr val="0D0D0D"/>
                </a:solidFill>
                <a:effectLst/>
                <a:latin typeface="Times New Roman" panose="02020603050405020304" pitchFamily="18" charset="0"/>
                <a:cs typeface="Times New Roman" panose="02020603050405020304" pitchFamily="18" charset="0"/>
              </a:rPr>
              <a:t> Elements are stored sequentially in memory.</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Indexing:</a:t>
            </a:r>
            <a:r>
              <a:rPr lang="en-US" b="0" i="0" dirty="0">
                <a:solidFill>
                  <a:srgbClr val="0D0D0D"/>
                </a:solidFill>
                <a:effectLst/>
                <a:latin typeface="Times New Roman" panose="02020603050405020304" pitchFamily="18" charset="0"/>
                <a:cs typeface="Times New Roman" panose="02020603050405020304" pitchFamily="18" charset="0"/>
              </a:rPr>
              <a:t> Each element is accessed using its index, which represents its position in the array. The index typically starts from 0 or 1, depending on the programming language.</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Size:</a:t>
            </a:r>
            <a:r>
              <a:rPr lang="en-US" b="0" i="0" dirty="0">
                <a:solidFill>
                  <a:srgbClr val="0D0D0D"/>
                </a:solidFill>
                <a:effectLst/>
                <a:latin typeface="Times New Roman" panose="02020603050405020304" pitchFamily="18" charset="0"/>
                <a:cs typeface="Times New Roman" panose="02020603050405020304" pitchFamily="18" charset="0"/>
              </a:rPr>
              <a:t> The size of the array is fixed at the time of declaration in most programming languages, although dynamic arrays are available in some languages like C++.</a:t>
            </a:r>
          </a:p>
          <a:p>
            <a:pPr marL="0" indent="0" algn="just">
              <a:buNone/>
            </a:pPr>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58DD6375-4680-3D32-A685-11502770996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07533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EFC1A-A03E-D764-FF7A-5638B05E91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397FE4-B813-E4F3-C077-F0CA264324AE}"/>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1D  Array</a:t>
            </a:r>
            <a:endParaRPr lang="en-IN" sz="2700" b="1" dirty="0">
              <a:latin typeface="Times New Roman" pitchFamily="18" charset="0"/>
              <a:cs typeface="Times New Roman" pitchFamily="18" charset="0"/>
            </a:endParaRPr>
          </a:p>
        </p:txBody>
      </p:sp>
      <p:pic>
        <p:nvPicPr>
          <p:cNvPr id="13" name="Picture 12">
            <a:extLst>
              <a:ext uri="{FF2B5EF4-FFF2-40B4-BE49-F238E27FC236}">
                <a16:creationId xmlns:a16="http://schemas.microsoft.com/office/drawing/2014/main" id="{17EAD367-4A58-1430-5021-FB92D73EC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5" name="Picture 4">
            <a:extLst>
              <a:ext uri="{FF2B5EF4-FFF2-40B4-BE49-F238E27FC236}">
                <a16:creationId xmlns:a16="http://schemas.microsoft.com/office/drawing/2014/main" id="{16046B81-E48A-2BFB-C4C9-6C322984490D}"/>
              </a:ext>
            </a:extLst>
          </p:cNvPr>
          <p:cNvPicPr>
            <a:picLocks noChangeAspect="1"/>
          </p:cNvPicPr>
          <p:nvPr/>
        </p:nvPicPr>
        <p:blipFill>
          <a:blip r:embed="rId3"/>
          <a:stretch>
            <a:fillRect/>
          </a:stretch>
        </p:blipFill>
        <p:spPr>
          <a:xfrm>
            <a:off x="1353273" y="749105"/>
            <a:ext cx="6089518" cy="4132457"/>
          </a:xfrm>
          <a:prstGeom prst="rect">
            <a:avLst/>
          </a:prstGeom>
        </p:spPr>
      </p:pic>
      <p:sp>
        <p:nvSpPr>
          <p:cNvPr id="3" name="Rectangle 2">
            <a:extLst>
              <a:ext uri="{FF2B5EF4-FFF2-40B4-BE49-F238E27FC236}">
                <a16:creationId xmlns:a16="http://schemas.microsoft.com/office/drawing/2014/main" id="{85FA9941-D415-5119-B132-51053708A470}"/>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788258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95250"/>
            <a:ext cx="7886700" cy="632754"/>
          </a:xfrm>
        </p:spPr>
        <p:txBody>
          <a:bodyPr>
            <a:noAutofit/>
          </a:bodyPr>
          <a:lstStyle/>
          <a:p>
            <a:pPr algn="ctr"/>
            <a:r>
              <a:rPr lang="en-US" sz="2700" b="1" dirty="0">
                <a:latin typeface="Times New Roman" pitchFamily="18" charset="0"/>
                <a:cs typeface="Times New Roman" pitchFamily="18" charset="0"/>
              </a:rPr>
              <a:t>Array implementation of a List</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1027" name="Picture 3"/>
          <p:cNvPicPr>
            <a:picLocks noGrp="1" noChangeAspect="1" noChangeArrowheads="1"/>
          </p:cNvPicPr>
          <p:nvPr>
            <p:ph idx="1"/>
          </p:nvPr>
        </p:nvPicPr>
        <p:blipFill>
          <a:blip r:embed="rId4"/>
          <a:srcRect/>
          <a:stretch>
            <a:fillRect/>
          </a:stretch>
        </p:blipFill>
        <p:spPr bwMode="auto">
          <a:xfrm>
            <a:off x="1353042" y="1102248"/>
            <a:ext cx="6846339" cy="3258645"/>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20DFC9BB-9572-E12E-1577-086FC705EF7B}"/>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52414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algn="ctr"/>
            <a:r>
              <a:rPr lang="en-IN" sz="2700" b="1" dirty="0">
                <a:latin typeface="Times New Roman" pitchFamily="18" charset="0"/>
                <a:cs typeface="Times New Roman" pitchFamily="18" charset="0"/>
              </a:rPr>
              <a:t>Storage representation of 1D Array</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2050" name="Picture 2"/>
          <p:cNvPicPr>
            <a:picLocks noChangeAspect="1" noChangeArrowheads="1"/>
          </p:cNvPicPr>
          <p:nvPr/>
        </p:nvPicPr>
        <p:blipFill>
          <a:blip r:embed="rId4"/>
          <a:srcRect/>
          <a:stretch>
            <a:fillRect/>
          </a:stretch>
        </p:blipFill>
        <p:spPr bwMode="auto">
          <a:xfrm>
            <a:off x="938213" y="900114"/>
            <a:ext cx="7102200" cy="3623681"/>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432D21A6-D66D-643C-6B42-54F218B89316}"/>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574879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US" sz="2700" b="1" dirty="0">
                <a:latin typeface="Times New Roman" pitchFamily="18" charset="0"/>
                <a:cs typeface="Times New Roman" pitchFamily="18" charset="0"/>
              </a:rPr>
              <a:t>Address Calculation in 1D Array</a:t>
            </a:r>
            <a:endParaRPr lang="en-IN" sz="2700" b="1" dirty="0">
              <a:latin typeface="Times New Roman" pitchFamily="18" charset="0"/>
              <a:cs typeface="Times New Roman" pitchFamily="18" charset="0"/>
            </a:endParaRPr>
          </a:p>
        </p:txBody>
      </p:sp>
      <p:sp>
        <p:nvSpPr>
          <p:cNvPr id="8" name="Content Placeholder 7"/>
          <p:cNvSpPr>
            <a:spLocks noGrp="1"/>
          </p:cNvSpPr>
          <p:nvPr>
            <p:ph idx="1"/>
          </p:nvPr>
        </p:nvSpPr>
        <p:spPr/>
        <p:txBody>
          <a:bodyPr>
            <a:normAutofit lnSpcReduction="10000"/>
          </a:bodyPr>
          <a:lstStyle/>
          <a:p>
            <a:r>
              <a:rPr lang="en-US" dirty="0">
                <a:latin typeface="Times New Roman" pitchFamily="18" charset="0"/>
                <a:cs typeface="Times New Roman" pitchFamily="18" charset="0"/>
              </a:rPr>
              <a:t>Address of an element of an array say “A[ I ]” is calculated using the following formula:</a:t>
            </a:r>
          </a:p>
          <a:p>
            <a:pPr>
              <a:buNone/>
            </a:pPr>
            <a:r>
              <a:rPr lang="en-US" b="1" dirty="0">
                <a:latin typeface="Times New Roman" pitchFamily="18" charset="0"/>
                <a:cs typeface="Times New Roman" pitchFamily="18" charset="0"/>
              </a:rPr>
              <a:t>			</a:t>
            </a:r>
            <a:r>
              <a:rPr lang="en-US" b="1" dirty="0">
                <a:solidFill>
                  <a:schemeClr val="accent1"/>
                </a:solidFill>
                <a:latin typeface="Times New Roman" pitchFamily="18" charset="0"/>
                <a:cs typeface="Times New Roman" pitchFamily="18" charset="0"/>
              </a:rPr>
              <a:t>Address of A [ I ] = B + W * ( I – LB )</a:t>
            </a:r>
            <a:endParaRPr lang="en-US" dirty="0">
              <a:solidFill>
                <a:schemeClr val="accent1"/>
              </a:solidFill>
              <a:latin typeface="Times New Roman" pitchFamily="18" charset="0"/>
              <a:cs typeface="Times New Roman" pitchFamily="18" charset="0"/>
            </a:endParaRPr>
          </a:p>
          <a:p>
            <a:pPr>
              <a:buNone/>
            </a:pPr>
            <a:r>
              <a:rPr lang="en-US" dirty="0">
                <a:latin typeface="Times New Roman" pitchFamily="18" charset="0"/>
                <a:cs typeface="Times New Roman" pitchFamily="18" charset="0"/>
              </a:rPr>
              <a:t>Where,</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B</a:t>
            </a:r>
            <a:r>
              <a:rPr lang="en-US" dirty="0">
                <a:latin typeface="Times New Roman" pitchFamily="18" charset="0"/>
                <a:cs typeface="Times New Roman" pitchFamily="18" charset="0"/>
              </a:rPr>
              <a:t> = Base address</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W</a:t>
            </a:r>
            <a:r>
              <a:rPr lang="en-US" dirty="0">
                <a:latin typeface="Times New Roman" pitchFamily="18" charset="0"/>
                <a:cs typeface="Times New Roman" pitchFamily="18" charset="0"/>
              </a:rPr>
              <a:t> = Storage Size of one element stored in the array (in byte)</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I</a:t>
            </a:r>
            <a:r>
              <a:rPr lang="en-US" dirty="0">
                <a:latin typeface="Times New Roman" pitchFamily="18" charset="0"/>
                <a:cs typeface="Times New Roman" pitchFamily="18" charset="0"/>
              </a:rPr>
              <a:t> = Index of element whose address is to be found</a:t>
            </a:r>
            <a:br>
              <a:rPr lang="en-US" dirty="0">
                <a:latin typeface="Times New Roman" pitchFamily="18" charset="0"/>
                <a:cs typeface="Times New Roman" pitchFamily="18" charset="0"/>
              </a:rPr>
            </a:br>
            <a:r>
              <a:rPr lang="en-US" b="1" dirty="0">
                <a:latin typeface="Times New Roman" pitchFamily="18" charset="0"/>
                <a:cs typeface="Times New Roman" pitchFamily="18" charset="0"/>
              </a:rPr>
              <a:t>LB</a:t>
            </a:r>
            <a:r>
              <a:rPr lang="en-US" dirty="0">
                <a:latin typeface="Times New Roman" pitchFamily="18" charset="0"/>
                <a:cs typeface="Times New Roman" pitchFamily="18" charset="0"/>
              </a:rPr>
              <a:t> = Lower limit / Lower Bound of subscript, if not specified assume 0 (zero) This specifies the starting index of the array. If not specified, it's assumed to be 0 (zero).</a:t>
            </a:r>
            <a:br>
              <a:rPr 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21AB8563-548A-C6FD-F222-0CCF37ED44B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496666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US" sz="1800" dirty="0">
                <a:latin typeface="Times New Roman" pitchFamily="18" charset="0"/>
                <a:cs typeface="Times New Roman" pitchFamily="18" charset="0"/>
              </a:rPr>
              <a:t>Contd…</a:t>
            </a:r>
            <a:r>
              <a:rPr lang="en-US" sz="2700" b="1" dirty="0">
                <a:latin typeface="Times New Roman" pitchFamily="18" charset="0"/>
                <a:cs typeface="Times New Roman" pitchFamily="18" charset="0"/>
              </a:rPr>
              <a:t>Address Calculation in 1D Array</a:t>
            </a:r>
            <a:br>
              <a:rPr lang="en-US" sz="2700" b="1" dirty="0">
                <a:latin typeface="Times New Roman" pitchFamily="18" charset="0"/>
                <a:cs typeface="Times New Roman" pitchFamily="18" charset="0"/>
              </a:rPr>
            </a:br>
            <a:r>
              <a:rPr lang="en-US" sz="2700" b="1" dirty="0">
                <a:latin typeface="Times New Roman" pitchFamily="18" charset="0"/>
                <a:cs typeface="Times New Roman" pitchFamily="18" charset="0"/>
              </a:rPr>
              <a:t>Example</a:t>
            </a:r>
            <a:endParaRPr lang="en-IN" sz="2700" b="1" dirty="0">
              <a:latin typeface="Times New Roman" pitchFamily="18" charset="0"/>
              <a:cs typeface="Times New Roman" pitchFamily="18" charset="0"/>
            </a:endParaRPr>
          </a:p>
        </p:txBody>
      </p:sp>
      <p:sp>
        <p:nvSpPr>
          <p:cNvPr id="7" name="Content Placeholder 6"/>
          <p:cNvSpPr>
            <a:spLocks noGrp="1"/>
          </p:cNvSpPr>
          <p:nvPr>
            <p:ph idx="1"/>
          </p:nvPr>
        </p:nvSpPr>
        <p:spPr>
          <a:xfrm>
            <a:off x="476251" y="1369219"/>
            <a:ext cx="8220074" cy="3263504"/>
          </a:xfrm>
        </p:spPr>
        <p:txBody>
          <a:bodyPr>
            <a:normAutofit/>
          </a:bodyPr>
          <a:lstStyle/>
          <a:p>
            <a:pPr>
              <a:buNone/>
            </a:pPr>
            <a:r>
              <a:rPr lang="en-US" dirty="0">
                <a:latin typeface="Times New Roman" pitchFamily="18" charset="0"/>
                <a:cs typeface="Times New Roman" pitchFamily="18" charset="0"/>
              </a:rPr>
              <a:t>Given the base address of an array </a:t>
            </a:r>
            <a:r>
              <a:rPr lang="en-US" b="1" dirty="0">
                <a:latin typeface="Times New Roman" pitchFamily="18" charset="0"/>
                <a:cs typeface="Times New Roman" pitchFamily="18" charset="0"/>
              </a:rPr>
              <a:t>B[1300…..1900]</a:t>
            </a:r>
            <a:r>
              <a:rPr lang="en-US" dirty="0">
                <a:latin typeface="Times New Roman" pitchFamily="18" charset="0"/>
                <a:cs typeface="Times New Roman" pitchFamily="18" charset="0"/>
              </a:rPr>
              <a:t> as 1020 and size of each element is 2 bytes in the memory. Find the address of </a:t>
            </a:r>
            <a:r>
              <a:rPr lang="en-US" b="1" dirty="0">
                <a:latin typeface="Times New Roman" pitchFamily="18" charset="0"/>
                <a:cs typeface="Times New Roman" pitchFamily="18" charset="0"/>
              </a:rPr>
              <a:t>B[1700]</a:t>
            </a:r>
            <a:r>
              <a:rPr lang="en-US" dirty="0">
                <a:latin typeface="Times New Roman" pitchFamily="18" charset="0"/>
                <a:cs typeface="Times New Roman" pitchFamily="18" charset="0"/>
              </a:rPr>
              <a:t>.</a:t>
            </a:r>
          </a:p>
          <a:p>
            <a:pPr>
              <a:buNone/>
            </a:pPr>
            <a:r>
              <a:rPr lang="en-US" b="1" dirty="0">
                <a:latin typeface="Times New Roman" pitchFamily="18" charset="0"/>
                <a:cs typeface="Times New Roman" pitchFamily="18" charset="0"/>
              </a:rPr>
              <a:t>Solution:</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The given values are: B = 1020, LB = 1300, W = 2, I = 1700</a:t>
            </a:r>
          </a:p>
          <a:p>
            <a:r>
              <a:rPr lang="en-US" b="1" dirty="0">
                <a:latin typeface="Times New Roman" pitchFamily="18" charset="0"/>
                <a:cs typeface="Times New Roman" pitchFamily="18" charset="0"/>
              </a:rPr>
              <a:t>Address of A [ I ] = B + W * ( I – LB )</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 1020 + 2 * (1700 – 1300)</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1020 + 2 * 400</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1020 + 800</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 1820 </a:t>
            </a:r>
            <a:r>
              <a:rPr lang="en-US" b="1" dirty="0">
                <a:latin typeface="Times New Roman" pitchFamily="18" charset="0"/>
                <a:cs typeface="Times New Roman" pitchFamily="18" charset="0"/>
              </a:rPr>
              <a:t>[Ans]</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8" name="Rectangle 17"/>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Dr. Takale D.G, Department of Computer Engineering, VIIT, Pune-48</a:t>
            </a:r>
            <a:endParaRPr lang="en-IN" b="1" dirty="0">
              <a:solidFill>
                <a:schemeClr val="tx1"/>
              </a:solidFill>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DC61E3F2-26D4-C30D-41D4-3C7CA7CE05AC}"/>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15046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E8A93-A289-B4E0-2ACB-F3F79D5F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CBF95-BA7D-D8EF-FF43-30D252B07543}"/>
              </a:ext>
            </a:extLst>
          </p:cNvPr>
          <p:cNvSpPr>
            <a:spLocks noGrp="1"/>
          </p:cNvSpPr>
          <p:nvPr>
            <p:ph type="title"/>
          </p:nvPr>
        </p:nvSpPr>
        <p:spPr>
          <a:xfrm>
            <a:off x="628650" y="13692"/>
            <a:ext cx="7886700" cy="735413"/>
          </a:xfrm>
        </p:spPr>
        <p:txBody>
          <a:bodyPr>
            <a:normAutofit/>
          </a:bodyPr>
          <a:lstStyle/>
          <a:p>
            <a:pPr algn="ctr"/>
            <a:r>
              <a:rPr lang="en-US" sz="3200" b="1" i="0" dirty="0">
                <a:solidFill>
                  <a:srgbClr val="0D0D0D"/>
                </a:solidFill>
                <a:effectLst/>
                <a:latin typeface="Times New Roman" panose="02020603050405020304" pitchFamily="18" charset="0"/>
                <a:cs typeface="Times New Roman" panose="02020603050405020304" pitchFamily="18" charset="0"/>
              </a:rPr>
              <a:t>Two-Dimensional </a:t>
            </a:r>
            <a:r>
              <a:rPr lang="en-US" sz="3200" b="1" dirty="0">
                <a:solidFill>
                  <a:srgbClr val="0D0D0D"/>
                </a:solidFill>
                <a:latin typeface="Times New Roman" panose="02020603050405020304" pitchFamily="18" charset="0"/>
                <a:cs typeface="Times New Roman" panose="02020603050405020304" pitchFamily="18" charset="0"/>
              </a:rPr>
              <a:t>A</a:t>
            </a:r>
            <a:r>
              <a:rPr lang="en-US" sz="3200" b="1" i="0" dirty="0">
                <a:solidFill>
                  <a:srgbClr val="0D0D0D"/>
                </a:solidFill>
                <a:effectLst/>
                <a:latin typeface="Times New Roman" panose="02020603050405020304" pitchFamily="18" charset="0"/>
                <a:cs typeface="Times New Roman" panose="02020603050405020304" pitchFamily="18" charset="0"/>
              </a:rPr>
              <a:t>rray</a:t>
            </a:r>
            <a:endParaRPr lang="en-IN" sz="60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A27D0ADE-0DAC-A92D-BB55-FD189E3D87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0B6477D6-5E4E-BD3A-74BC-E1E796D042D7}"/>
              </a:ext>
            </a:extLst>
          </p:cNvPr>
          <p:cNvSpPr txBox="1"/>
          <p:nvPr/>
        </p:nvSpPr>
        <p:spPr>
          <a:xfrm>
            <a:off x="430618" y="970692"/>
            <a:ext cx="8282763" cy="2462213"/>
          </a:xfrm>
          <a:prstGeom prst="rect">
            <a:avLst/>
          </a:prstGeom>
          <a:noFill/>
        </p:spPr>
        <p:txBody>
          <a:bodyPr wrap="square">
            <a:spAutoFit/>
          </a:bodyPr>
          <a:lstStyle/>
          <a:p>
            <a:pPr algn="just"/>
            <a:r>
              <a:rPr lang="en-US" b="0" i="0" dirty="0">
                <a:solidFill>
                  <a:srgbClr val="0D0D0D"/>
                </a:solidFill>
                <a:effectLst/>
                <a:latin typeface="Times New Roman" panose="02020603050405020304" pitchFamily="18" charset="0"/>
                <a:cs typeface="Times New Roman" panose="02020603050405020304" pitchFamily="18" charset="0"/>
              </a:rPr>
              <a:t>A two-dimensional array, also known as a 2D array, is a data structure that stores elements in a grid format with rows and columns. Each element in a 2D array is identified by two indices - typically representing the row index and the column index.</a:t>
            </a:r>
          </a:p>
          <a:p>
            <a:pPr algn="just"/>
            <a:r>
              <a:rPr lang="en-US" b="0" i="0" dirty="0">
                <a:solidFill>
                  <a:srgbClr val="0D0D0D"/>
                </a:solidFill>
                <a:effectLst/>
                <a:latin typeface="Times New Roman" panose="02020603050405020304" pitchFamily="18" charset="0"/>
                <a:cs typeface="Times New Roman" panose="02020603050405020304" pitchFamily="18" charset="0"/>
              </a:rPr>
              <a:t>Here's a general overview of a two-dimensional array:</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Rows and Columns</a:t>
            </a:r>
            <a:r>
              <a:rPr lang="en-US" b="0" i="0" dirty="0">
                <a:solidFill>
                  <a:srgbClr val="0D0D0D"/>
                </a:solidFill>
                <a:effectLst/>
                <a:latin typeface="Times New Roman" panose="02020603050405020304" pitchFamily="18" charset="0"/>
                <a:cs typeface="Times New Roman" panose="02020603050405020304" pitchFamily="18" charset="0"/>
              </a:rPr>
              <a:t>: The array is organized into rows and columns. Each row has a fixed number of elements, and all rows have the same number of elements. Similarly, each column has a fixed number of elements, and all columns have the same number of elements.</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Indexing</a:t>
            </a:r>
            <a:r>
              <a:rPr lang="en-US" b="0" i="0" dirty="0">
                <a:solidFill>
                  <a:srgbClr val="0D0D0D"/>
                </a:solidFill>
                <a:effectLst/>
                <a:latin typeface="Times New Roman" panose="02020603050405020304" pitchFamily="18" charset="0"/>
                <a:cs typeface="Times New Roman" panose="02020603050405020304" pitchFamily="18" charset="0"/>
              </a:rPr>
              <a:t>: To access an element in a 2D array, you need to specify the row index and the column index. The indices usually start from 0 and go up to the size of the array minus one.</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Rectangular Structure</a:t>
            </a:r>
            <a:r>
              <a:rPr lang="en-US" b="0" i="0" dirty="0">
                <a:solidFill>
                  <a:srgbClr val="0D0D0D"/>
                </a:solidFill>
                <a:effectLst/>
                <a:latin typeface="Times New Roman" panose="02020603050405020304" pitchFamily="18" charset="0"/>
                <a:cs typeface="Times New Roman" panose="02020603050405020304" pitchFamily="18" charset="0"/>
              </a:rPr>
              <a:t>: Two-dimensional arrays have a rectangular structure, meaning they form a grid with equal-sized rows and columns.</a:t>
            </a:r>
          </a:p>
        </p:txBody>
      </p:sp>
      <p:sp>
        <p:nvSpPr>
          <p:cNvPr id="3" name="Rectangle 2">
            <a:extLst>
              <a:ext uri="{FF2B5EF4-FFF2-40B4-BE49-F238E27FC236}">
                <a16:creationId xmlns:a16="http://schemas.microsoft.com/office/drawing/2014/main" id="{9E8822F8-5E92-C06B-72B0-03C8FAF0413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979661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76AB2-5560-6BA9-2E95-7D1781F26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CADB6-C1A7-833D-ACDD-53060C1A1D0A}"/>
              </a:ext>
            </a:extLst>
          </p:cNvPr>
          <p:cNvSpPr>
            <a:spLocks noGrp="1"/>
          </p:cNvSpPr>
          <p:nvPr>
            <p:ph type="title"/>
          </p:nvPr>
        </p:nvSpPr>
        <p:spPr>
          <a:xfrm>
            <a:off x="628650" y="13692"/>
            <a:ext cx="7886700" cy="735413"/>
          </a:xfrm>
        </p:spPr>
        <p:txBody>
          <a:bodyPr>
            <a:normAutofit/>
          </a:bodyPr>
          <a:lstStyle/>
          <a:p>
            <a:pPr algn="ctr"/>
            <a:r>
              <a:rPr lang="en-US" sz="3200" b="1" i="0" dirty="0">
                <a:solidFill>
                  <a:srgbClr val="0D0D0D"/>
                </a:solidFill>
                <a:effectLst/>
                <a:latin typeface="Times New Roman" panose="02020603050405020304" pitchFamily="18" charset="0"/>
                <a:cs typeface="Times New Roman" panose="02020603050405020304" pitchFamily="18" charset="0"/>
              </a:rPr>
              <a:t>Two-Dimensional </a:t>
            </a:r>
            <a:r>
              <a:rPr lang="en-US" sz="3200" b="1" dirty="0">
                <a:solidFill>
                  <a:srgbClr val="0D0D0D"/>
                </a:solidFill>
                <a:latin typeface="Times New Roman" panose="02020603050405020304" pitchFamily="18" charset="0"/>
                <a:cs typeface="Times New Roman" panose="02020603050405020304" pitchFamily="18" charset="0"/>
              </a:rPr>
              <a:t>A</a:t>
            </a:r>
            <a:r>
              <a:rPr lang="en-US" sz="3200" b="1" i="0" dirty="0">
                <a:solidFill>
                  <a:srgbClr val="0D0D0D"/>
                </a:solidFill>
                <a:effectLst/>
                <a:latin typeface="Times New Roman" panose="02020603050405020304" pitchFamily="18" charset="0"/>
                <a:cs typeface="Times New Roman" panose="02020603050405020304" pitchFamily="18" charset="0"/>
              </a:rPr>
              <a:t>rray</a:t>
            </a:r>
            <a:endParaRPr lang="en-IN" sz="60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625AC6C6-5D7E-E805-C043-53C48EF71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4" name="Picture 3">
            <a:extLst>
              <a:ext uri="{FF2B5EF4-FFF2-40B4-BE49-F238E27FC236}">
                <a16:creationId xmlns:a16="http://schemas.microsoft.com/office/drawing/2014/main" id="{27C25828-B96A-9AA8-0726-A70716319577}"/>
              </a:ext>
            </a:extLst>
          </p:cNvPr>
          <p:cNvPicPr>
            <a:picLocks noChangeAspect="1"/>
          </p:cNvPicPr>
          <p:nvPr/>
        </p:nvPicPr>
        <p:blipFill>
          <a:blip r:embed="rId3"/>
          <a:stretch>
            <a:fillRect/>
          </a:stretch>
        </p:blipFill>
        <p:spPr>
          <a:xfrm>
            <a:off x="1471612" y="819345"/>
            <a:ext cx="6200775" cy="3648075"/>
          </a:xfrm>
          <a:prstGeom prst="rect">
            <a:avLst/>
          </a:prstGeom>
        </p:spPr>
      </p:pic>
      <p:sp>
        <p:nvSpPr>
          <p:cNvPr id="3" name="Rectangle 2">
            <a:extLst>
              <a:ext uri="{FF2B5EF4-FFF2-40B4-BE49-F238E27FC236}">
                <a16:creationId xmlns:a16="http://schemas.microsoft.com/office/drawing/2014/main" id="{071A8285-0187-C7DB-0D59-E575E0F6E2E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693827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A402C-5EDC-6A40-E252-6AC230F8A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B8A4C-7ADF-E3CD-FEA5-00BDCA96E39B}"/>
              </a:ext>
            </a:extLst>
          </p:cNvPr>
          <p:cNvSpPr>
            <a:spLocks noGrp="1"/>
          </p:cNvSpPr>
          <p:nvPr>
            <p:ph type="title"/>
          </p:nvPr>
        </p:nvSpPr>
        <p:spPr>
          <a:xfrm>
            <a:off x="628650" y="13692"/>
            <a:ext cx="7886700" cy="735413"/>
          </a:xfrm>
        </p:spPr>
        <p:txBody>
          <a:bodyPr>
            <a:normAutofit/>
          </a:bodyPr>
          <a:lstStyle/>
          <a:p>
            <a:pPr algn="ctr"/>
            <a:r>
              <a:rPr lang="en-US" sz="3200" b="1" i="0" dirty="0">
                <a:solidFill>
                  <a:srgbClr val="0D0D0D"/>
                </a:solidFill>
                <a:effectLst/>
                <a:latin typeface="Times New Roman" panose="02020603050405020304" pitchFamily="18" charset="0"/>
                <a:cs typeface="Times New Roman" panose="02020603050405020304" pitchFamily="18" charset="0"/>
              </a:rPr>
              <a:t>Two-Dimensional </a:t>
            </a:r>
            <a:r>
              <a:rPr lang="en-US" sz="3200" b="1" dirty="0">
                <a:solidFill>
                  <a:srgbClr val="0D0D0D"/>
                </a:solidFill>
                <a:latin typeface="Times New Roman" panose="02020603050405020304" pitchFamily="18" charset="0"/>
                <a:cs typeface="Times New Roman" panose="02020603050405020304" pitchFamily="18" charset="0"/>
              </a:rPr>
              <a:t>A</a:t>
            </a:r>
            <a:r>
              <a:rPr lang="en-US" sz="3200" b="1" i="0" dirty="0">
                <a:solidFill>
                  <a:srgbClr val="0D0D0D"/>
                </a:solidFill>
                <a:effectLst/>
                <a:latin typeface="Times New Roman" panose="02020603050405020304" pitchFamily="18" charset="0"/>
                <a:cs typeface="Times New Roman" panose="02020603050405020304" pitchFamily="18" charset="0"/>
              </a:rPr>
              <a:t>rray</a:t>
            </a:r>
            <a:endParaRPr lang="en-IN" sz="60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ED841E93-463F-2B36-FC54-6D0F08CB2F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5" name="Picture 4">
            <a:extLst>
              <a:ext uri="{FF2B5EF4-FFF2-40B4-BE49-F238E27FC236}">
                <a16:creationId xmlns:a16="http://schemas.microsoft.com/office/drawing/2014/main" id="{5E4B7BC5-6C0C-232C-45DC-65DDC2F5BE94}"/>
              </a:ext>
            </a:extLst>
          </p:cNvPr>
          <p:cNvPicPr>
            <a:picLocks noChangeAspect="1"/>
          </p:cNvPicPr>
          <p:nvPr/>
        </p:nvPicPr>
        <p:blipFill>
          <a:blip r:embed="rId3"/>
          <a:stretch>
            <a:fillRect/>
          </a:stretch>
        </p:blipFill>
        <p:spPr>
          <a:xfrm>
            <a:off x="1710274" y="604380"/>
            <a:ext cx="5723451" cy="4207835"/>
          </a:xfrm>
          <a:prstGeom prst="rect">
            <a:avLst/>
          </a:prstGeom>
        </p:spPr>
      </p:pic>
      <p:sp>
        <p:nvSpPr>
          <p:cNvPr id="3" name="Rectangle 2">
            <a:extLst>
              <a:ext uri="{FF2B5EF4-FFF2-40B4-BE49-F238E27FC236}">
                <a16:creationId xmlns:a16="http://schemas.microsoft.com/office/drawing/2014/main" id="{95F8D954-0A3B-83E2-6D88-F42BD7CAF33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58735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algn="ctr"/>
            <a:r>
              <a:rPr lang="en-US" sz="2700" b="1" dirty="0">
                <a:latin typeface="Times New Roman" pitchFamily="18" charset="0"/>
                <a:cs typeface="Times New Roman" pitchFamily="18" charset="0"/>
              </a:rPr>
              <a:t>Storage Representation of 2D Array</a:t>
            </a:r>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628650" y="1114104"/>
            <a:ext cx="4437336" cy="3276921"/>
          </a:xfrm>
        </p:spPr>
        <p:txBody>
          <a:bodyPr>
            <a:normAutofit fontScale="77500" lnSpcReduction="20000"/>
          </a:bodyPr>
          <a:lstStyle/>
          <a:p>
            <a:pPr marL="0" indent="0">
              <a:buNone/>
            </a:pPr>
            <a:endParaRPr lang="en-IN" sz="1800" dirty="0">
              <a:solidFill>
                <a:schemeClr val="bg2">
                  <a:lumMod val="90000"/>
                </a:schemeClr>
              </a:solidFill>
              <a:latin typeface="Times New Roman" pitchFamily="18" charset="0"/>
              <a:cs typeface="Times New Roman" pitchFamily="18" charset="0"/>
            </a:endParaRPr>
          </a:p>
          <a:p>
            <a:pPr algn="just">
              <a:buFont typeface="Wingdings" panose="05000000000000000000" pitchFamily="2" charset="2"/>
              <a:buChar char="Ø"/>
            </a:pPr>
            <a:r>
              <a:rPr lang="en-IN" sz="1800" dirty="0">
                <a:latin typeface="Times New Roman" pitchFamily="18" charset="0"/>
                <a:cs typeface="Times New Roman" pitchFamily="18" charset="0"/>
              </a:rPr>
              <a:t> </a:t>
            </a:r>
            <a:r>
              <a:rPr lang="en-US" dirty="0">
                <a:latin typeface="Times New Roman" pitchFamily="18" charset="0"/>
                <a:cs typeface="Times New Roman" pitchFamily="18" charset="0"/>
              </a:rPr>
              <a:t>While storing the elements of a 2-D array in memory, these are allocated contiguous memory locations. </a:t>
            </a:r>
          </a:p>
          <a:p>
            <a:pPr algn="just">
              <a:buFont typeface="Wingdings" panose="05000000000000000000" pitchFamily="2" charset="2"/>
              <a:buChar char="Ø"/>
            </a:pPr>
            <a:endParaRPr lang="en-US" dirty="0">
              <a:latin typeface="Times New Roman" pitchFamily="18" charset="0"/>
              <a:cs typeface="Times New Roman" pitchFamily="18" charset="0"/>
            </a:endParaRPr>
          </a:p>
          <a:p>
            <a:pPr algn="just">
              <a:buFont typeface="Wingdings" panose="05000000000000000000" pitchFamily="2" charset="2"/>
              <a:buChar char="Ø"/>
            </a:pPr>
            <a:r>
              <a:rPr lang="en-US" dirty="0">
                <a:latin typeface="Times New Roman" pitchFamily="18" charset="0"/>
                <a:cs typeface="Times New Roman" pitchFamily="18" charset="0"/>
              </a:rPr>
              <a:t>2-D array must be linearized so as to enable their storage. </a:t>
            </a:r>
          </a:p>
          <a:p>
            <a:pPr algn="just">
              <a:buFont typeface="Wingdings" panose="05000000000000000000" pitchFamily="2" charset="2"/>
              <a:buChar char="Ø"/>
            </a:pPr>
            <a:endParaRPr lang="en-US" dirty="0">
              <a:latin typeface="Times New Roman" pitchFamily="18" charset="0"/>
              <a:cs typeface="Times New Roman" pitchFamily="18" charset="0"/>
            </a:endParaRPr>
          </a:p>
          <a:p>
            <a:pPr algn="just">
              <a:buFont typeface="Wingdings" panose="05000000000000000000" pitchFamily="2" charset="2"/>
              <a:buChar char="Ø"/>
            </a:pPr>
            <a:r>
              <a:rPr lang="en-US" dirty="0">
                <a:latin typeface="Times New Roman" pitchFamily="18" charset="0"/>
                <a:cs typeface="Times New Roman" pitchFamily="18" charset="0"/>
              </a:rPr>
              <a:t>There are two alternatives to achieve linearization: Row-Major and Column-Major.</a:t>
            </a:r>
            <a:endParaRPr lang="en-IN"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a:p>
            <a:pPr marL="0" indent="0">
              <a:buNone/>
            </a:pPr>
            <a:r>
              <a:rPr lang="en-IN" sz="1800" dirty="0">
                <a:latin typeface="Times New Roman" pitchFamily="18" charset="0"/>
                <a:cs typeface="Times New Roman" pitchFamily="18" charset="0"/>
              </a:rPr>
              <a:t>     </a:t>
            </a:r>
          </a:p>
          <a:p>
            <a:pPr marL="0" indent="0">
              <a:buNone/>
            </a:pPr>
            <a:r>
              <a:rPr lang="en-IN" sz="1800" dirty="0">
                <a:latin typeface="Times New Roman" pitchFamily="18" charset="0"/>
                <a:cs typeface="Times New Roman" pitchFamily="18" charset="0"/>
              </a:rPr>
              <a:t>   </a:t>
            </a:r>
          </a:p>
          <a:p>
            <a:pPr marL="0" indent="0">
              <a:buNone/>
            </a:pPr>
            <a:endParaRPr lang="en-IN" sz="18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3074" name="Picture 2"/>
          <p:cNvPicPr>
            <a:picLocks noChangeAspect="1" noChangeArrowheads="1"/>
          </p:cNvPicPr>
          <p:nvPr/>
        </p:nvPicPr>
        <p:blipFill>
          <a:blip r:embed="rId4"/>
          <a:srcRect/>
          <a:stretch>
            <a:fillRect/>
          </a:stretch>
        </p:blipFill>
        <p:spPr bwMode="auto">
          <a:xfrm>
            <a:off x="5675594" y="1114104"/>
            <a:ext cx="2932395" cy="2887554"/>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800A4E2D-4F9D-4D87-99EC-EEC682E68D8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0793585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algn="ctr"/>
            <a:r>
              <a:rPr lang="en-IN" sz="2700" b="1" dirty="0"/>
              <a:t>Row Major Representation</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5122" name="Picture 2"/>
          <p:cNvPicPr>
            <a:picLocks noChangeAspect="1" noChangeArrowheads="1"/>
          </p:cNvPicPr>
          <p:nvPr/>
        </p:nvPicPr>
        <p:blipFill>
          <a:blip r:embed="rId4"/>
          <a:srcRect/>
          <a:stretch>
            <a:fillRect/>
          </a:stretch>
        </p:blipFill>
        <p:spPr bwMode="auto">
          <a:xfrm>
            <a:off x="693519" y="1048243"/>
            <a:ext cx="5991225" cy="1533525"/>
          </a:xfrm>
          <a:prstGeom prst="rect">
            <a:avLst/>
          </a:prstGeom>
          <a:noFill/>
          <a:ln w="9525">
            <a:noFill/>
            <a:miter lim="800000"/>
            <a:headEnd/>
            <a:tailEnd/>
          </a:ln>
          <a:effectLst/>
        </p:spPr>
      </p:pic>
      <p:pic>
        <p:nvPicPr>
          <p:cNvPr id="14" name="Picture 2"/>
          <p:cNvPicPr>
            <a:picLocks noChangeAspect="1" noChangeArrowheads="1"/>
          </p:cNvPicPr>
          <p:nvPr/>
        </p:nvPicPr>
        <p:blipFill>
          <a:blip r:embed="rId5"/>
          <a:srcRect/>
          <a:stretch>
            <a:fillRect/>
          </a:stretch>
        </p:blipFill>
        <p:spPr bwMode="auto">
          <a:xfrm>
            <a:off x="6390290" y="2835491"/>
            <a:ext cx="2533009" cy="1993696"/>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49D18F6D-6DEF-2181-734F-299B2A0E29F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6702090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algn="ctr"/>
            <a:r>
              <a:rPr lang="en-IN" sz="2700" b="1" dirty="0"/>
              <a:t>Column Major Representation</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7" name="Picture 2"/>
          <p:cNvPicPr>
            <a:picLocks noChangeAspect="1" noChangeArrowheads="1"/>
          </p:cNvPicPr>
          <p:nvPr/>
        </p:nvPicPr>
        <p:blipFill>
          <a:blip r:embed="rId4"/>
          <a:srcRect/>
          <a:stretch>
            <a:fillRect/>
          </a:stretch>
        </p:blipFill>
        <p:spPr bwMode="auto">
          <a:xfrm>
            <a:off x="6390290" y="2835491"/>
            <a:ext cx="2533009" cy="1993696"/>
          </a:xfrm>
          <a:prstGeom prst="rect">
            <a:avLst/>
          </a:prstGeom>
          <a:noFill/>
          <a:ln w="9525">
            <a:noFill/>
            <a:miter lim="800000"/>
            <a:headEnd/>
            <a:tailEnd/>
          </a:ln>
          <a:effectLst/>
        </p:spPr>
      </p:pic>
      <p:pic>
        <p:nvPicPr>
          <p:cNvPr id="4099" name="Picture 3"/>
          <p:cNvPicPr>
            <a:picLocks noChangeAspect="1" noChangeArrowheads="1"/>
          </p:cNvPicPr>
          <p:nvPr/>
        </p:nvPicPr>
        <p:blipFill>
          <a:blip r:embed="rId5"/>
          <a:srcRect/>
          <a:stretch>
            <a:fillRect/>
          </a:stretch>
        </p:blipFill>
        <p:spPr bwMode="auto">
          <a:xfrm>
            <a:off x="1154004" y="1133969"/>
            <a:ext cx="5953125" cy="1362075"/>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2F61665F-8547-8E45-82C5-86781434A90E}"/>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314525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Autofit/>
          </a:bodyPr>
          <a:lstStyle/>
          <a:p>
            <a:pPr algn="ctr"/>
            <a:r>
              <a:rPr lang="en-US" sz="2700" b="1" dirty="0"/>
              <a:t>Address Calculation in 2D Array</a:t>
            </a:r>
            <a:endParaRPr lang="en-IN" sz="2700" b="1" dirty="0"/>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6146" name="Picture 2"/>
          <p:cNvPicPr>
            <a:picLocks noGrp="1" noChangeAspect="1" noChangeArrowheads="1"/>
          </p:cNvPicPr>
          <p:nvPr>
            <p:ph idx="1"/>
          </p:nvPr>
        </p:nvPicPr>
        <p:blipFill>
          <a:blip r:embed="rId4"/>
          <a:srcRect/>
          <a:stretch>
            <a:fillRect/>
          </a:stretch>
        </p:blipFill>
        <p:spPr bwMode="auto">
          <a:xfrm>
            <a:off x="1177160" y="785990"/>
            <a:ext cx="7252138" cy="3835612"/>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030510E4-DA10-58EE-A7EA-D13B99113B2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2250244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US" sz="2000" dirty="0"/>
              <a:t>Contd.. </a:t>
            </a:r>
            <a:r>
              <a:rPr lang="en-US" sz="2700" b="1" dirty="0"/>
              <a:t>Address Calculation in 2D Array</a:t>
            </a:r>
            <a:br>
              <a:rPr lang="en-US" sz="2700" b="1" dirty="0"/>
            </a:br>
            <a:r>
              <a:rPr lang="en-US" sz="2700" b="1" dirty="0"/>
              <a:t>Example</a:t>
            </a:r>
            <a:endParaRPr lang="en-IN" sz="2700" b="1" dirty="0"/>
          </a:p>
        </p:txBody>
      </p:sp>
      <p:sp>
        <p:nvSpPr>
          <p:cNvPr id="8" name="Content Placeholder 7"/>
          <p:cNvSpPr>
            <a:spLocks noGrp="1"/>
          </p:cNvSpPr>
          <p:nvPr>
            <p:ph idx="1"/>
          </p:nvPr>
        </p:nvSpPr>
        <p:spPr/>
        <p:txBody>
          <a:bodyPr/>
          <a:lstStyle/>
          <a:p>
            <a:r>
              <a:rPr lang="en-US" dirty="0"/>
              <a:t>Assuming base address(B) to be 100 and W = 1 byte calculate the address of A[2][1]  in row major arrangement</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7170" name="Picture 2"/>
          <p:cNvPicPr>
            <a:picLocks noChangeAspect="1" noChangeArrowheads="1"/>
          </p:cNvPicPr>
          <p:nvPr/>
        </p:nvPicPr>
        <p:blipFill>
          <a:blip r:embed="rId4"/>
          <a:srcRect/>
          <a:stretch>
            <a:fillRect/>
          </a:stretch>
        </p:blipFill>
        <p:spPr bwMode="auto">
          <a:xfrm>
            <a:off x="825556" y="2192885"/>
            <a:ext cx="3667125" cy="295275"/>
          </a:xfrm>
          <a:prstGeom prst="rect">
            <a:avLst/>
          </a:prstGeom>
          <a:noFill/>
          <a:ln w="9525">
            <a:noFill/>
            <a:miter lim="800000"/>
            <a:headEnd/>
            <a:tailEnd/>
          </a:ln>
          <a:effectLst/>
        </p:spPr>
      </p:pic>
      <p:pic>
        <p:nvPicPr>
          <p:cNvPr id="10" name="Picture 2"/>
          <p:cNvPicPr>
            <a:picLocks noChangeAspect="1" noChangeArrowheads="1"/>
          </p:cNvPicPr>
          <p:nvPr/>
        </p:nvPicPr>
        <p:blipFill>
          <a:blip r:embed="rId5"/>
          <a:srcRect/>
          <a:stretch>
            <a:fillRect/>
          </a:stretch>
        </p:blipFill>
        <p:spPr bwMode="auto">
          <a:xfrm>
            <a:off x="819644" y="2561733"/>
            <a:ext cx="5991225" cy="1533525"/>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DF453452-A65C-2467-827D-8381EDC046D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091361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US" sz="2000" dirty="0"/>
              <a:t>Contd.. </a:t>
            </a:r>
            <a:r>
              <a:rPr lang="en-US" sz="2700" b="1" dirty="0"/>
              <a:t>Address Calculation in 2D Array</a:t>
            </a:r>
            <a:br>
              <a:rPr lang="en-US" sz="2700" b="1" dirty="0"/>
            </a:br>
            <a:r>
              <a:rPr lang="en-US" sz="2700" b="1" dirty="0"/>
              <a:t>Example</a:t>
            </a:r>
            <a:endParaRPr lang="en-IN" sz="2700" b="1" dirty="0"/>
          </a:p>
        </p:txBody>
      </p:sp>
      <p:sp>
        <p:nvSpPr>
          <p:cNvPr id="8" name="Content Placeholder 7"/>
          <p:cNvSpPr>
            <a:spLocks noGrp="1"/>
          </p:cNvSpPr>
          <p:nvPr>
            <p:ph idx="1"/>
          </p:nvPr>
        </p:nvSpPr>
        <p:spPr/>
        <p:txBody>
          <a:bodyPr/>
          <a:lstStyle/>
          <a:p>
            <a:r>
              <a:rPr lang="en-US" dirty="0"/>
              <a:t>Assuming base address(B) to be 100 and W = 1 byte calculate the address of A[2][1]  in column major arrangement</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9" name="Picture 3"/>
          <p:cNvPicPr>
            <a:picLocks noChangeAspect="1" noChangeArrowheads="1"/>
          </p:cNvPicPr>
          <p:nvPr/>
        </p:nvPicPr>
        <p:blipFill>
          <a:blip r:embed="rId4"/>
          <a:srcRect/>
          <a:stretch>
            <a:fillRect/>
          </a:stretch>
        </p:blipFill>
        <p:spPr bwMode="auto">
          <a:xfrm>
            <a:off x="796652" y="2626438"/>
            <a:ext cx="5953125" cy="1362075"/>
          </a:xfrm>
          <a:prstGeom prst="rect">
            <a:avLst/>
          </a:prstGeom>
          <a:noFill/>
          <a:ln w="9525">
            <a:noFill/>
            <a:miter lim="800000"/>
            <a:headEnd/>
            <a:tailEnd/>
          </a:ln>
          <a:effectLst/>
        </p:spPr>
      </p:pic>
      <p:pic>
        <p:nvPicPr>
          <p:cNvPr id="1026" name="Picture 2"/>
          <p:cNvPicPr>
            <a:picLocks noChangeAspect="1" noChangeArrowheads="1"/>
          </p:cNvPicPr>
          <p:nvPr/>
        </p:nvPicPr>
        <p:blipFill>
          <a:blip r:embed="rId5"/>
          <a:srcRect/>
          <a:stretch>
            <a:fillRect/>
          </a:stretch>
        </p:blipFill>
        <p:spPr bwMode="auto">
          <a:xfrm>
            <a:off x="756909" y="2103219"/>
            <a:ext cx="6200775" cy="390525"/>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5F6E6F7C-281A-62BB-CD83-A88B987B0CA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347440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IN" sz="2700" b="1" dirty="0">
                <a:latin typeface="Times New Roman" pitchFamily="18" charset="0"/>
                <a:cs typeface="Times New Roman" pitchFamily="18" charset="0"/>
              </a:rPr>
              <a:t>Note </a:t>
            </a:r>
          </a:p>
        </p:txBody>
      </p:sp>
      <p:sp>
        <p:nvSpPr>
          <p:cNvPr id="21" name="Content Placeholder 20"/>
          <p:cNvSpPr>
            <a:spLocks noGrp="1"/>
          </p:cNvSpPr>
          <p:nvPr>
            <p:ph idx="1"/>
          </p:nvPr>
        </p:nvSpPr>
        <p:spPr/>
        <p:txBody>
          <a:bodyPr/>
          <a:lstStyle/>
          <a:p>
            <a:r>
              <a:rPr lang="en-US" dirty="0">
                <a:latin typeface="Times New Roman" pitchFamily="18" charset="0"/>
                <a:cs typeface="Times New Roman" pitchFamily="18" charset="0"/>
              </a:rPr>
              <a:t>Usually number of rows and columns of a matrix are given ( like A[20][30] or A[40][60] )</a:t>
            </a:r>
          </a:p>
          <a:p>
            <a:r>
              <a:rPr lang="en-US" dirty="0">
                <a:latin typeface="Times New Roman" pitchFamily="18" charset="0"/>
                <a:cs typeface="Times New Roman" pitchFamily="18" charset="0"/>
              </a:rPr>
              <a:t>If it is given as </a:t>
            </a:r>
            <a:r>
              <a:rPr lang="en-US" b="1" dirty="0">
                <a:latin typeface="Times New Roman" pitchFamily="18" charset="0"/>
                <a:cs typeface="Times New Roman" pitchFamily="18" charset="0"/>
              </a:rPr>
              <a:t>A[Lr- – – – – Ur, Lc- – – – – Uc], i</a:t>
            </a:r>
            <a:r>
              <a:rPr lang="en-US" dirty="0">
                <a:latin typeface="Times New Roman" pitchFamily="18" charset="0"/>
                <a:cs typeface="Times New Roman" pitchFamily="18" charset="0"/>
              </a:rPr>
              <a:t>n this case number of rows and columns are calculated using the following methods:</a:t>
            </a:r>
          </a:p>
          <a:p>
            <a:pPr>
              <a:buNone/>
            </a:pPr>
            <a:r>
              <a:rPr lang="en-US" dirty="0">
                <a:latin typeface="Times New Roman" pitchFamily="18" charset="0"/>
                <a:cs typeface="Times New Roman" pitchFamily="18" charset="0"/>
              </a:rPr>
              <a:t>   Number of rows (</a:t>
            </a:r>
            <a:r>
              <a:rPr lang="en-US" b="1" dirty="0">
                <a:latin typeface="Times New Roman" pitchFamily="18" charset="0"/>
                <a:cs typeface="Times New Roman" pitchFamily="18" charset="0"/>
              </a:rPr>
              <a:t>M</a:t>
            </a:r>
            <a:r>
              <a:rPr lang="en-US" dirty="0">
                <a:latin typeface="Times New Roman" pitchFamily="18" charset="0"/>
                <a:cs typeface="Times New Roman" pitchFamily="18" charset="0"/>
              </a:rPr>
              <a:t>) will be calculated as = </a:t>
            </a:r>
            <a:r>
              <a:rPr lang="en-US" b="1" dirty="0">
                <a:latin typeface="Times New Roman" pitchFamily="18" charset="0"/>
                <a:cs typeface="Times New Roman" pitchFamily="18" charset="0"/>
              </a:rPr>
              <a:t>(Ur – Lr) + 1</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Number of columns (</a:t>
            </a:r>
            <a:r>
              <a:rPr lang="en-US" b="1" dirty="0">
                <a:latin typeface="Times New Roman" pitchFamily="18" charset="0"/>
                <a:cs typeface="Times New Roman" pitchFamily="18" charset="0"/>
              </a:rPr>
              <a:t>N</a:t>
            </a:r>
            <a:r>
              <a:rPr lang="en-US" dirty="0">
                <a:latin typeface="Times New Roman" pitchFamily="18" charset="0"/>
                <a:cs typeface="Times New Roman" pitchFamily="18" charset="0"/>
              </a:rPr>
              <a:t>) will be calculated as = </a:t>
            </a:r>
            <a:r>
              <a:rPr lang="en-US" b="1" dirty="0">
                <a:latin typeface="Times New Roman" pitchFamily="18" charset="0"/>
                <a:cs typeface="Times New Roman" pitchFamily="18" charset="0"/>
              </a:rPr>
              <a:t>(Uc – Lc) + 1</a:t>
            </a:r>
            <a:endParaRPr lang="en-US" dirty="0">
              <a:latin typeface="Times New Roman" pitchFamily="18" charset="0"/>
              <a:cs typeface="Times New Roman" pitchFamily="18" charset="0"/>
            </a:endParaRPr>
          </a:p>
          <a:p>
            <a:r>
              <a:rPr lang="en-US" dirty="0">
                <a:latin typeface="Times New Roman" pitchFamily="18" charset="0"/>
                <a:cs typeface="Times New Roman" pitchFamily="18" charset="0"/>
              </a:rPr>
              <a:t>Rest of the process will remain same as per requirement (Row Major Wise or Column Major Wise).</a:t>
            </a:r>
          </a:p>
          <a:p>
            <a:endParaRPr lang="en-US"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CCB71C88-256C-9C54-F784-3E55FE4EE2C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938661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IN" sz="2700" b="1" dirty="0"/>
              <a:t>Exercise</a:t>
            </a:r>
          </a:p>
        </p:txBody>
      </p:sp>
      <p:sp>
        <p:nvSpPr>
          <p:cNvPr id="3" name="Content Placeholder 2">
            <a:extLst>
              <a:ext uri="{FF2B5EF4-FFF2-40B4-BE49-F238E27FC236}">
                <a16:creationId xmlns:a16="http://schemas.microsoft.com/office/drawing/2014/main" id="{544CD12E-438F-45A1-AE6F-98E97C1FBCAE}"/>
              </a:ext>
            </a:extLst>
          </p:cNvPr>
          <p:cNvSpPr>
            <a:spLocks noGrp="1"/>
          </p:cNvSpPr>
          <p:nvPr>
            <p:ph idx="1"/>
          </p:nvPr>
        </p:nvSpPr>
        <p:spPr>
          <a:xfrm>
            <a:off x="628650" y="844061"/>
            <a:ext cx="7886700" cy="3866162"/>
          </a:xfrm>
        </p:spPr>
        <p:txBody>
          <a:bodyPr>
            <a:normAutofit/>
          </a:bodyPr>
          <a:lstStyle/>
          <a:p>
            <a:pPr algn="just">
              <a:buNone/>
            </a:pPr>
            <a:r>
              <a:rPr lang="en-US" b="1" dirty="0">
                <a:latin typeface="Times New Roman" pitchFamily="18" charset="0"/>
                <a:cs typeface="Times New Roman" pitchFamily="18" charset="0"/>
              </a:rPr>
              <a:t>Q 1</a:t>
            </a:r>
            <a:r>
              <a:rPr lang="en-US" dirty="0">
                <a:latin typeface="Times New Roman" pitchFamily="18" charset="0"/>
                <a:cs typeface="Times New Roman" pitchFamily="18" charset="0"/>
              </a:rPr>
              <a:t>. An array X [-15……….10] [15……………40] requires one byte of storage. If beginning location is 1500 determine the location of X [15][20].</a:t>
            </a:r>
          </a:p>
          <a:p>
            <a:pPr algn="just">
              <a:buNone/>
            </a:pPr>
            <a:r>
              <a:rPr lang="en-US" b="1" dirty="0">
                <a:latin typeface="Times New Roman" pitchFamily="18" charset="0"/>
                <a:cs typeface="Times New Roman" pitchFamily="18" charset="0"/>
              </a:rPr>
              <a:t>Solution:</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As you see here the number of rows and columns are not given in the question. So they are calculated as:</a:t>
            </a:r>
          </a:p>
          <a:p>
            <a:pPr algn="just"/>
            <a:r>
              <a:rPr lang="en-US" dirty="0">
                <a:latin typeface="Times New Roman" pitchFamily="18" charset="0"/>
                <a:cs typeface="Times New Roman" pitchFamily="18" charset="0"/>
              </a:rPr>
              <a:t>Number or rows say </a:t>
            </a:r>
            <a:r>
              <a:rPr lang="en-US" b="1" dirty="0">
                <a:latin typeface="Times New Roman" pitchFamily="18" charset="0"/>
                <a:cs typeface="Times New Roman" pitchFamily="18" charset="0"/>
              </a:rPr>
              <a:t>M = (Ur – Lr) + 1</a:t>
            </a:r>
            <a:r>
              <a:rPr lang="en-US" dirty="0">
                <a:latin typeface="Times New Roman" pitchFamily="18" charset="0"/>
                <a:cs typeface="Times New Roman" pitchFamily="18" charset="0"/>
              </a:rPr>
              <a:t> = [10 – (- 15)] +1 = 26</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Number or columns say </a:t>
            </a:r>
            <a:r>
              <a:rPr lang="en-US" b="1" dirty="0">
                <a:latin typeface="Times New Roman" pitchFamily="18" charset="0"/>
                <a:cs typeface="Times New Roman" pitchFamily="18" charset="0"/>
              </a:rPr>
              <a:t>N = (Uc – Lc) + 1</a:t>
            </a:r>
            <a:r>
              <a:rPr lang="en-US" dirty="0">
                <a:latin typeface="Times New Roman" pitchFamily="18" charset="0"/>
                <a:cs typeface="Times New Roman" pitchFamily="18" charset="0"/>
              </a:rPr>
              <a:t> = [40 – 15)] +1 = 26</a:t>
            </a: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CE5CDDFA-3FBB-61F0-A4B5-C03FBCA24EC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726793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IN" sz="2700" b="1" dirty="0"/>
              <a:t>Exercise Solution</a:t>
            </a:r>
          </a:p>
        </p:txBody>
      </p:sp>
      <p:sp>
        <p:nvSpPr>
          <p:cNvPr id="3" name="Content Placeholder 2">
            <a:extLst>
              <a:ext uri="{FF2B5EF4-FFF2-40B4-BE49-F238E27FC236}">
                <a16:creationId xmlns:a16="http://schemas.microsoft.com/office/drawing/2014/main" id="{544CD12E-438F-45A1-AE6F-98E97C1FBCAE}"/>
              </a:ext>
            </a:extLst>
          </p:cNvPr>
          <p:cNvSpPr>
            <a:spLocks noGrp="1"/>
          </p:cNvSpPr>
          <p:nvPr>
            <p:ph idx="1"/>
          </p:nvPr>
        </p:nvSpPr>
        <p:spPr>
          <a:xfrm>
            <a:off x="628650" y="844061"/>
            <a:ext cx="7886700" cy="3919325"/>
          </a:xfrm>
        </p:spPr>
        <p:txBody>
          <a:bodyPr>
            <a:noAutofit/>
          </a:bodyPr>
          <a:lstStyle/>
          <a:p>
            <a:pPr algn="just">
              <a:buNone/>
            </a:pPr>
            <a:r>
              <a:rPr lang="en-US" sz="1400" b="1" dirty="0">
                <a:solidFill>
                  <a:srgbClr val="333333"/>
                </a:solidFill>
                <a:latin typeface="Times New Roman" pitchFamily="18" charset="0"/>
                <a:cs typeface="Times New Roman" pitchFamily="18" charset="0"/>
              </a:rPr>
              <a:t>(</a:t>
            </a:r>
            <a:r>
              <a:rPr lang="en-US" sz="1400" b="1" dirty="0" err="1">
                <a:solidFill>
                  <a:srgbClr val="333333"/>
                </a:solidFill>
                <a:latin typeface="Times New Roman" pitchFamily="18" charset="0"/>
                <a:cs typeface="Times New Roman" pitchFamily="18" charset="0"/>
              </a:rPr>
              <a:t>i</a:t>
            </a:r>
            <a:r>
              <a:rPr lang="en-US" sz="1400" b="1" dirty="0">
                <a:solidFill>
                  <a:srgbClr val="333333"/>
                </a:solidFill>
                <a:latin typeface="Times New Roman" pitchFamily="18" charset="0"/>
                <a:cs typeface="Times New Roman" pitchFamily="18" charset="0"/>
              </a:rPr>
              <a:t>) Column Major Wise Calculation of above equation</a:t>
            </a:r>
            <a:endParaRPr lang="en-US" sz="1400" dirty="0">
              <a:solidFill>
                <a:srgbClr val="333333"/>
              </a:solidFill>
              <a:latin typeface="Times New Roman" pitchFamily="18" charset="0"/>
              <a:cs typeface="Times New Roman" pitchFamily="18" charset="0"/>
            </a:endParaRPr>
          </a:p>
          <a:p>
            <a:pPr algn="just">
              <a:buNone/>
            </a:pPr>
            <a:r>
              <a:rPr lang="en-US" sz="1400" dirty="0">
                <a:solidFill>
                  <a:srgbClr val="333333"/>
                </a:solidFill>
                <a:latin typeface="Times New Roman" pitchFamily="18" charset="0"/>
                <a:cs typeface="Times New Roman" pitchFamily="18" charset="0"/>
              </a:rPr>
              <a:t>The given values are: B = 1500, W = 1 byte, I = 15, J = 20, </a:t>
            </a:r>
            <a:r>
              <a:rPr lang="en-US" sz="1400" dirty="0" err="1">
                <a:solidFill>
                  <a:srgbClr val="333333"/>
                </a:solidFill>
                <a:latin typeface="Times New Roman" pitchFamily="18" charset="0"/>
                <a:cs typeface="Times New Roman" pitchFamily="18" charset="0"/>
              </a:rPr>
              <a:t>Lr</a:t>
            </a:r>
            <a:r>
              <a:rPr lang="en-US" sz="1400" dirty="0">
                <a:solidFill>
                  <a:srgbClr val="333333"/>
                </a:solidFill>
                <a:latin typeface="Times New Roman" pitchFamily="18" charset="0"/>
                <a:cs typeface="Times New Roman" pitchFamily="18" charset="0"/>
              </a:rPr>
              <a:t> = -15, </a:t>
            </a:r>
            <a:r>
              <a:rPr lang="en-US" sz="1400" dirty="0" err="1">
                <a:solidFill>
                  <a:srgbClr val="333333"/>
                </a:solidFill>
                <a:latin typeface="Times New Roman" pitchFamily="18" charset="0"/>
                <a:cs typeface="Times New Roman" pitchFamily="18" charset="0"/>
              </a:rPr>
              <a:t>Lc</a:t>
            </a:r>
            <a:r>
              <a:rPr lang="en-US" sz="1400" dirty="0">
                <a:solidFill>
                  <a:srgbClr val="333333"/>
                </a:solidFill>
                <a:latin typeface="Times New Roman" pitchFamily="18" charset="0"/>
                <a:cs typeface="Times New Roman" pitchFamily="18" charset="0"/>
              </a:rPr>
              <a:t> = 15, M = 26</a:t>
            </a:r>
          </a:p>
          <a:p>
            <a:pPr algn="just">
              <a:buNone/>
            </a:pPr>
            <a:r>
              <a:rPr lang="en-US" sz="1400" dirty="0">
                <a:solidFill>
                  <a:srgbClr val="333333"/>
                </a:solidFill>
                <a:latin typeface="Times New Roman" pitchFamily="18" charset="0"/>
                <a:cs typeface="Times New Roman" pitchFamily="18" charset="0"/>
              </a:rPr>
              <a:t>Address of A [ I ][ J ] = B + W * [ ( I – </a:t>
            </a:r>
            <a:r>
              <a:rPr lang="en-US" sz="1400" dirty="0" err="1">
                <a:solidFill>
                  <a:srgbClr val="333333"/>
                </a:solidFill>
                <a:latin typeface="Times New Roman" pitchFamily="18" charset="0"/>
                <a:cs typeface="Times New Roman" pitchFamily="18" charset="0"/>
              </a:rPr>
              <a:t>Lr</a:t>
            </a:r>
            <a:r>
              <a:rPr lang="en-US" sz="1400" dirty="0">
                <a:solidFill>
                  <a:srgbClr val="333333"/>
                </a:solidFill>
                <a:latin typeface="Times New Roman" pitchFamily="18" charset="0"/>
                <a:cs typeface="Times New Roman" pitchFamily="18" charset="0"/>
              </a:rPr>
              <a:t> ) + M * ( J – </a:t>
            </a:r>
            <a:r>
              <a:rPr lang="en-US" sz="1400" dirty="0" err="1">
                <a:solidFill>
                  <a:srgbClr val="333333"/>
                </a:solidFill>
                <a:latin typeface="Times New Roman" pitchFamily="18" charset="0"/>
                <a:cs typeface="Times New Roman" pitchFamily="18" charset="0"/>
              </a:rPr>
              <a:t>Lc</a:t>
            </a:r>
            <a:r>
              <a:rPr lang="en-US" sz="1400" dirty="0">
                <a:solidFill>
                  <a:srgbClr val="333333"/>
                </a:solidFill>
                <a:latin typeface="Times New Roman" pitchFamily="18" charset="0"/>
                <a:cs typeface="Times New Roman" pitchFamily="18" charset="0"/>
              </a:rPr>
              <a:t> ) ]</a:t>
            </a:r>
          </a:p>
          <a:p>
            <a:pPr algn="just">
              <a:buNone/>
            </a:pPr>
            <a:r>
              <a:rPr lang="en-US" sz="1400" dirty="0">
                <a:solidFill>
                  <a:srgbClr val="333333"/>
                </a:solidFill>
                <a:latin typeface="Times New Roman" pitchFamily="18" charset="0"/>
                <a:cs typeface="Times New Roman" pitchFamily="18" charset="0"/>
              </a:rPr>
              <a:t>= 1500 + 1 * [(15 – (-15)) + 26 * (20 – 15)] </a:t>
            </a:r>
          </a:p>
          <a:p>
            <a:pPr algn="just">
              <a:buNone/>
            </a:pPr>
            <a:r>
              <a:rPr lang="en-US" sz="1400" dirty="0">
                <a:solidFill>
                  <a:srgbClr val="333333"/>
                </a:solidFill>
                <a:latin typeface="Times New Roman" pitchFamily="18" charset="0"/>
                <a:cs typeface="Times New Roman" pitchFamily="18" charset="0"/>
              </a:rPr>
              <a:t>= 1500 + 1 * [30 + 26 * 5] = 1500 + 1 * [160]</a:t>
            </a:r>
          </a:p>
          <a:p>
            <a:pPr algn="just">
              <a:buNone/>
            </a:pPr>
            <a:r>
              <a:rPr lang="en-US" sz="1400" dirty="0">
                <a:solidFill>
                  <a:srgbClr val="333333"/>
                </a:solidFill>
                <a:latin typeface="Times New Roman" pitchFamily="18" charset="0"/>
                <a:cs typeface="Times New Roman" pitchFamily="18" charset="0"/>
              </a:rPr>
              <a:t>= 1660 </a:t>
            </a:r>
            <a:r>
              <a:rPr lang="en-US" sz="1400" b="1" dirty="0">
                <a:solidFill>
                  <a:srgbClr val="333333"/>
                </a:solidFill>
                <a:latin typeface="Times New Roman" pitchFamily="18" charset="0"/>
                <a:cs typeface="Times New Roman" pitchFamily="18" charset="0"/>
              </a:rPr>
              <a:t>[</a:t>
            </a:r>
            <a:r>
              <a:rPr lang="en-US" sz="1400" b="1" dirty="0" err="1">
                <a:solidFill>
                  <a:srgbClr val="333333"/>
                </a:solidFill>
                <a:latin typeface="Times New Roman" pitchFamily="18" charset="0"/>
                <a:cs typeface="Times New Roman" pitchFamily="18" charset="0"/>
              </a:rPr>
              <a:t>Ans</a:t>
            </a:r>
            <a:r>
              <a:rPr lang="en-US" sz="1400" b="1" dirty="0">
                <a:solidFill>
                  <a:srgbClr val="333333"/>
                </a:solidFill>
                <a:latin typeface="Times New Roman" pitchFamily="18" charset="0"/>
                <a:cs typeface="Times New Roman" pitchFamily="18" charset="0"/>
              </a:rPr>
              <a:t>]</a:t>
            </a:r>
          </a:p>
          <a:p>
            <a:pPr algn="just">
              <a:buNone/>
            </a:pPr>
            <a:endParaRPr lang="en-US" sz="1400" dirty="0">
              <a:solidFill>
                <a:srgbClr val="333333"/>
              </a:solidFill>
              <a:latin typeface="Times New Roman" pitchFamily="18" charset="0"/>
              <a:cs typeface="Times New Roman" pitchFamily="18" charset="0"/>
            </a:endParaRPr>
          </a:p>
          <a:p>
            <a:pPr>
              <a:buNone/>
            </a:pPr>
            <a:r>
              <a:rPr lang="en-US" sz="1400" b="1" dirty="0">
                <a:solidFill>
                  <a:srgbClr val="333333"/>
                </a:solidFill>
                <a:latin typeface="Times New Roman" pitchFamily="18" charset="0"/>
                <a:cs typeface="Times New Roman" pitchFamily="18" charset="0"/>
              </a:rPr>
              <a:t>(ii) Row Major Wise Calculation of above equation</a:t>
            </a:r>
            <a:endParaRPr lang="en-US" sz="1400" dirty="0">
              <a:solidFill>
                <a:srgbClr val="333333"/>
              </a:solidFill>
              <a:latin typeface="Times New Roman" pitchFamily="18" charset="0"/>
              <a:cs typeface="Times New Roman" pitchFamily="18" charset="0"/>
            </a:endParaRPr>
          </a:p>
          <a:p>
            <a:pPr>
              <a:buNone/>
            </a:pPr>
            <a:r>
              <a:rPr lang="en-US" sz="1400" dirty="0">
                <a:solidFill>
                  <a:srgbClr val="333333"/>
                </a:solidFill>
                <a:latin typeface="Times New Roman" pitchFamily="18" charset="0"/>
                <a:cs typeface="Times New Roman" pitchFamily="18" charset="0"/>
              </a:rPr>
              <a:t>The given values are: B = 1500, W = 1 byte, I = 15, J = 20, </a:t>
            </a:r>
            <a:r>
              <a:rPr lang="en-US" sz="1400" dirty="0" err="1">
                <a:solidFill>
                  <a:srgbClr val="333333"/>
                </a:solidFill>
                <a:latin typeface="Times New Roman" pitchFamily="18" charset="0"/>
                <a:cs typeface="Times New Roman" pitchFamily="18" charset="0"/>
              </a:rPr>
              <a:t>Lr</a:t>
            </a:r>
            <a:r>
              <a:rPr lang="en-US" sz="1400" dirty="0">
                <a:solidFill>
                  <a:srgbClr val="333333"/>
                </a:solidFill>
                <a:latin typeface="Times New Roman" pitchFamily="18" charset="0"/>
                <a:cs typeface="Times New Roman" pitchFamily="18" charset="0"/>
              </a:rPr>
              <a:t> = -15, </a:t>
            </a:r>
            <a:r>
              <a:rPr lang="en-US" sz="1400" dirty="0" err="1">
                <a:solidFill>
                  <a:srgbClr val="333333"/>
                </a:solidFill>
                <a:latin typeface="Times New Roman" pitchFamily="18" charset="0"/>
                <a:cs typeface="Times New Roman" pitchFamily="18" charset="0"/>
              </a:rPr>
              <a:t>Lc</a:t>
            </a:r>
            <a:r>
              <a:rPr lang="en-US" sz="1400" dirty="0">
                <a:solidFill>
                  <a:srgbClr val="333333"/>
                </a:solidFill>
                <a:latin typeface="Times New Roman" pitchFamily="18" charset="0"/>
                <a:cs typeface="Times New Roman" pitchFamily="18" charset="0"/>
              </a:rPr>
              <a:t> = 15, N = 26</a:t>
            </a:r>
          </a:p>
          <a:p>
            <a:pPr>
              <a:buNone/>
            </a:pPr>
            <a:r>
              <a:rPr lang="en-US" sz="1400" dirty="0">
                <a:solidFill>
                  <a:srgbClr val="333333"/>
                </a:solidFill>
                <a:latin typeface="Times New Roman" pitchFamily="18" charset="0"/>
                <a:cs typeface="Times New Roman" pitchFamily="18" charset="0"/>
              </a:rPr>
              <a:t>Address of A [ I ][ J ] = B + W * [ N * ( I – </a:t>
            </a:r>
            <a:r>
              <a:rPr lang="en-US" sz="1400" dirty="0" err="1">
                <a:solidFill>
                  <a:srgbClr val="333333"/>
                </a:solidFill>
                <a:latin typeface="Times New Roman" pitchFamily="18" charset="0"/>
                <a:cs typeface="Times New Roman" pitchFamily="18" charset="0"/>
              </a:rPr>
              <a:t>Lr</a:t>
            </a:r>
            <a:r>
              <a:rPr lang="en-US" sz="1400" dirty="0">
                <a:solidFill>
                  <a:srgbClr val="333333"/>
                </a:solidFill>
                <a:latin typeface="Times New Roman" pitchFamily="18" charset="0"/>
                <a:cs typeface="Times New Roman" pitchFamily="18" charset="0"/>
              </a:rPr>
              <a:t> ) + ( J – </a:t>
            </a:r>
            <a:r>
              <a:rPr lang="en-US" sz="1400" dirty="0" err="1">
                <a:solidFill>
                  <a:srgbClr val="333333"/>
                </a:solidFill>
                <a:latin typeface="Times New Roman" pitchFamily="18" charset="0"/>
                <a:cs typeface="Times New Roman" pitchFamily="18" charset="0"/>
              </a:rPr>
              <a:t>Lc</a:t>
            </a:r>
            <a:r>
              <a:rPr lang="en-US" sz="1400" dirty="0">
                <a:solidFill>
                  <a:srgbClr val="333333"/>
                </a:solidFill>
                <a:latin typeface="Times New Roman" pitchFamily="18" charset="0"/>
                <a:cs typeface="Times New Roman" pitchFamily="18" charset="0"/>
              </a:rPr>
              <a:t> ) ]</a:t>
            </a:r>
          </a:p>
          <a:p>
            <a:pPr>
              <a:buNone/>
            </a:pPr>
            <a:r>
              <a:rPr lang="en-US" sz="1400" dirty="0">
                <a:solidFill>
                  <a:srgbClr val="333333"/>
                </a:solidFill>
                <a:latin typeface="Times New Roman" pitchFamily="18" charset="0"/>
                <a:cs typeface="Times New Roman" pitchFamily="18" charset="0"/>
              </a:rPr>
              <a:t>= 1500 + 1* [26 * (15 – (-15))) + (20 – 15)] </a:t>
            </a:r>
          </a:p>
          <a:p>
            <a:pPr>
              <a:buNone/>
            </a:pPr>
            <a:r>
              <a:rPr lang="en-US" sz="1400" dirty="0">
                <a:solidFill>
                  <a:srgbClr val="333333"/>
                </a:solidFill>
                <a:latin typeface="Times New Roman" pitchFamily="18" charset="0"/>
                <a:cs typeface="Times New Roman" pitchFamily="18" charset="0"/>
              </a:rPr>
              <a:t>= 1500 + 1 * [26 * 30 + 5] = 1500 + 1 * [780 + 5] = 1500 + 785</a:t>
            </a:r>
          </a:p>
          <a:p>
            <a:pPr>
              <a:buNone/>
            </a:pPr>
            <a:r>
              <a:rPr lang="en-US" sz="1400" dirty="0">
                <a:solidFill>
                  <a:srgbClr val="333333"/>
                </a:solidFill>
                <a:latin typeface="Times New Roman" pitchFamily="18" charset="0"/>
                <a:cs typeface="Times New Roman" pitchFamily="18" charset="0"/>
              </a:rPr>
              <a:t>= 2285 </a:t>
            </a:r>
            <a:r>
              <a:rPr lang="en-US" sz="1400" b="1" dirty="0">
                <a:solidFill>
                  <a:srgbClr val="333333"/>
                </a:solidFill>
                <a:latin typeface="Times New Roman" pitchFamily="18" charset="0"/>
                <a:cs typeface="Times New Roman" pitchFamily="18" charset="0"/>
              </a:rPr>
              <a:t>[</a:t>
            </a:r>
            <a:r>
              <a:rPr lang="en-US" sz="1400" b="1" dirty="0" err="1">
                <a:solidFill>
                  <a:srgbClr val="333333"/>
                </a:solidFill>
                <a:latin typeface="Times New Roman" pitchFamily="18" charset="0"/>
                <a:cs typeface="Times New Roman" pitchFamily="18" charset="0"/>
              </a:rPr>
              <a:t>Ans</a:t>
            </a:r>
            <a:r>
              <a:rPr lang="en-US" sz="1400" b="1" dirty="0">
                <a:solidFill>
                  <a:srgbClr val="333333"/>
                </a:solidFill>
                <a:latin typeface="Times New Roman" pitchFamily="18" charset="0"/>
                <a:cs typeface="Times New Roman" pitchFamily="18" charset="0"/>
              </a:rPr>
              <a:t>]</a:t>
            </a:r>
            <a:endParaRPr lang="en-US" sz="1400" b="0" i="0" dirty="0">
              <a:solidFill>
                <a:srgbClr val="333333"/>
              </a:solidFill>
              <a:latin typeface="Times New Roman" pitchFamily="18" charset="0"/>
              <a:cs typeface="Times New Roman" pitchFamily="18"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1A0F401A-C21A-B992-AE86-113AF01270FC}"/>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818451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IN" sz="3000" b="1" dirty="0"/>
              <a:t>Sparse Matrices using Array</a:t>
            </a:r>
            <a:endParaRPr lang="en-IN" sz="2700" b="1" dirty="0">
              <a:solidFill>
                <a:schemeClr val="bg2">
                  <a:lumMod val="50000"/>
                </a:schemeClr>
              </a:solidFill>
            </a:endParaRPr>
          </a:p>
        </p:txBody>
      </p:sp>
      <p:sp>
        <p:nvSpPr>
          <p:cNvPr id="3" name="Content Placeholder 2">
            <a:extLst>
              <a:ext uri="{FF2B5EF4-FFF2-40B4-BE49-F238E27FC236}">
                <a16:creationId xmlns:a16="http://schemas.microsoft.com/office/drawing/2014/main" id="{8B0F5765-9B78-4DB7-A1DF-B1193D1F3BB0}"/>
              </a:ext>
            </a:extLst>
          </p:cNvPr>
          <p:cNvSpPr>
            <a:spLocks noGrp="1"/>
          </p:cNvSpPr>
          <p:nvPr>
            <p:ph idx="1"/>
          </p:nvPr>
        </p:nvSpPr>
        <p:spPr>
          <a:xfrm>
            <a:off x="512590" y="783633"/>
            <a:ext cx="8556982" cy="4098822"/>
          </a:xfrm>
        </p:spPr>
        <p:txBody>
          <a:bodyPr/>
          <a:lstStyle/>
          <a:p>
            <a:pPr marL="0" indent="0">
              <a:buNone/>
            </a:pPr>
            <a:r>
              <a:rPr lang="en-US" b="1" dirty="0">
                <a:latin typeface="Times New Roman" pitchFamily="18" charset="0"/>
                <a:cs typeface="Times New Roman" pitchFamily="18" charset="0"/>
              </a:rPr>
              <a:t>What is Sparse Matrix?</a:t>
            </a:r>
            <a:endParaRPr lang="en-IN" dirty="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Sparse matrix is a matrix which contains very few non-zero elements.</a:t>
            </a:r>
          </a:p>
          <a:p>
            <a:r>
              <a:rPr lang="en-US" b="1" dirty="0">
                <a:latin typeface="Times New Roman" pitchFamily="18" charset="0"/>
                <a:cs typeface="Times New Roman" pitchFamily="18" charset="0"/>
              </a:rPr>
              <a:t>Sparse Matrix Representations</a:t>
            </a:r>
          </a:p>
          <a:p>
            <a:r>
              <a:rPr lang="en-US" dirty="0">
                <a:latin typeface="Times New Roman" pitchFamily="18" charset="0"/>
                <a:cs typeface="Times New Roman" pitchFamily="18" charset="0"/>
              </a:rPr>
              <a:t>A sparse matrix can be represented by using TWO representations, those are as follows...</a:t>
            </a:r>
          </a:p>
          <a:p>
            <a:pPr lvl="1"/>
            <a:r>
              <a:rPr lang="en-US" dirty="0">
                <a:latin typeface="Times New Roman" pitchFamily="18" charset="0"/>
                <a:cs typeface="Times New Roman" pitchFamily="18" charset="0"/>
              </a:rPr>
              <a:t>Triplet Representation (Array Representation)</a:t>
            </a:r>
          </a:p>
          <a:p>
            <a:pPr lvl="1"/>
            <a:r>
              <a:rPr lang="en-US" dirty="0">
                <a:latin typeface="Times New Roman" pitchFamily="18" charset="0"/>
                <a:cs typeface="Times New Roman" pitchFamily="18" charset="0"/>
              </a:rPr>
              <a:t>Linked Representation</a:t>
            </a:r>
          </a:p>
          <a:p>
            <a:pPr marL="0" indent="0">
              <a:buNone/>
            </a:pPr>
            <a:endParaRPr lang="en-IN"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a:p>
            <a:pPr marL="0" indent="0">
              <a:buNone/>
            </a:pPr>
            <a:endParaRPr lang="en-IN" dirty="0">
              <a:latin typeface="Times New Roman" pitchFamily="18" charset="0"/>
              <a:cs typeface="Times New Roman"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2050" name="Picture 2"/>
          <p:cNvPicPr>
            <a:picLocks noChangeAspect="1" noChangeArrowheads="1"/>
          </p:cNvPicPr>
          <p:nvPr/>
        </p:nvPicPr>
        <p:blipFill>
          <a:blip r:embed="rId3"/>
          <a:srcRect/>
          <a:stretch>
            <a:fillRect/>
          </a:stretch>
        </p:blipFill>
        <p:spPr bwMode="auto">
          <a:xfrm>
            <a:off x="5316279" y="2945219"/>
            <a:ext cx="3349256" cy="1841543"/>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D9CA0B95-2940-B14E-E6ED-C417E0BA6C42}"/>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90983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blinds(horizontal)">
                                      <p:cBhvr>
                                        <p:cTn id="7" dur="500"/>
                                        <p:tgtEl>
                                          <p:spTgt spid="2050"/>
                                        </p:tgtEl>
                                      </p:cBhvr>
                                    </p:animEffect>
                                  </p:childTnLst>
                                </p:cTn>
                              </p:par>
                              <p:par>
                                <p:cTn id="8" presetID="1" presetClass="exit"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hidden"/>
                                      </p:to>
                                    </p:set>
                                  </p:childTnLst>
                                </p:cTn>
                              </p:par>
                              <p:par>
                                <p:cTn id="16" presetID="1" presetClass="exit"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hidden"/>
                                      </p:to>
                                    </p:set>
                                  </p:childTnLst>
                                </p:cTn>
                              </p:par>
                              <p:par>
                                <p:cTn id="18" presetID="1" presetClass="exit"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US" sz="2400" b="1" dirty="0"/>
              <a:t>Matrix Addition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11" name="Content Placeholder 10"/>
          <p:cNvGraphicFramePr>
            <a:graphicFrameLocks noGrp="1"/>
          </p:cNvGraphicFramePr>
          <p:nvPr>
            <p:ph idx="1"/>
          </p:nvPr>
        </p:nvGraphicFramePr>
        <p:xfrm>
          <a:off x="271310" y="1370013"/>
          <a:ext cx="2282716" cy="1483360"/>
        </p:xfrm>
        <a:graphic>
          <a:graphicData uri="http://schemas.openxmlformats.org/drawingml/2006/table">
            <a:tbl>
              <a:tblPr firstRow="1" bandRow="1">
                <a:tableStyleId>{5940675A-B579-460E-94D1-54222C63F5DA}</a:tableStyleId>
              </a:tblPr>
              <a:tblGrid>
                <a:gridCol w="579295">
                  <a:extLst>
                    <a:ext uri="{9D8B030D-6E8A-4147-A177-3AD203B41FA5}">
                      <a16:colId xmlns:a16="http://schemas.microsoft.com/office/drawing/2014/main" val="20000"/>
                    </a:ext>
                  </a:extLst>
                </a:gridCol>
                <a:gridCol w="562063">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solidFill>
                            <a:schemeClr val="accent4"/>
                          </a:solidFill>
                        </a:rPr>
                        <a:t>1</a:t>
                      </a:r>
                    </a:p>
                  </a:txBody>
                  <a:tcPr/>
                </a:tc>
                <a:tc>
                  <a:txBody>
                    <a:bodyPr/>
                    <a:lstStyle/>
                    <a:p>
                      <a:r>
                        <a:rPr lang="en-US" dirty="0">
                          <a:solidFill>
                            <a:schemeClr val="accent4"/>
                          </a:solidFill>
                        </a:rPr>
                        <a:t>2</a:t>
                      </a:r>
                    </a:p>
                  </a:txBody>
                  <a:tcPr/>
                </a:tc>
                <a:tc>
                  <a:txBody>
                    <a:bodyPr/>
                    <a:lstStyle/>
                    <a:p>
                      <a:r>
                        <a:rPr lang="en-US" dirty="0">
                          <a:solidFill>
                            <a:schemeClr val="accent4"/>
                          </a:solidFill>
                        </a:rPr>
                        <a:t>3</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3</a:t>
                      </a:r>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0</a:t>
                      </a:r>
                    </a:p>
                  </a:txBody>
                  <a:tcPr/>
                </a:tc>
                <a:tc>
                  <a:txBody>
                    <a:bodyPr/>
                    <a:lstStyle/>
                    <a:p>
                      <a:r>
                        <a:rPr lang="en-US" dirty="0"/>
                        <a:t>5</a:t>
                      </a:r>
                    </a:p>
                  </a:txBody>
                  <a:tcPr/>
                </a:tc>
                <a:tc>
                  <a:txBody>
                    <a:bodyPr/>
                    <a:lstStyle/>
                    <a:p>
                      <a:r>
                        <a:rPr lang="en-US" dirty="0"/>
                        <a:t>0</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1</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3"/>
                  </a:ext>
                </a:extLst>
              </a:tr>
            </a:tbl>
          </a:graphicData>
        </a:graphic>
      </p:graphicFrame>
      <p:graphicFrame>
        <p:nvGraphicFramePr>
          <p:cNvPr id="12" name="Content Placeholder 10"/>
          <p:cNvGraphicFramePr>
            <a:graphicFrameLocks/>
          </p:cNvGraphicFramePr>
          <p:nvPr/>
        </p:nvGraphicFramePr>
        <p:xfrm>
          <a:off x="3082827" y="1396289"/>
          <a:ext cx="2282716" cy="148336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solidFill>
                            <a:schemeClr val="accent4"/>
                          </a:solidFill>
                        </a:rPr>
                        <a:t>1</a:t>
                      </a:r>
                    </a:p>
                  </a:txBody>
                  <a:tcPr/>
                </a:tc>
                <a:tc>
                  <a:txBody>
                    <a:bodyPr/>
                    <a:lstStyle/>
                    <a:p>
                      <a:r>
                        <a:rPr lang="en-US" dirty="0">
                          <a:solidFill>
                            <a:schemeClr val="accent4"/>
                          </a:solidFill>
                        </a:rPr>
                        <a:t>2</a:t>
                      </a:r>
                    </a:p>
                  </a:txBody>
                  <a:tcPr/>
                </a:tc>
                <a:tc>
                  <a:txBody>
                    <a:bodyPr/>
                    <a:lstStyle/>
                    <a:p>
                      <a:r>
                        <a:rPr lang="en-US" dirty="0">
                          <a:solidFill>
                            <a:schemeClr val="accent4"/>
                          </a:solidFill>
                        </a:rPr>
                        <a:t>3</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0</a:t>
                      </a:r>
                    </a:p>
                  </a:txBody>
                  <a:tcPr/>
                </a:tc>
                <a:tc>
                  <a:txBody>
                    <a:bodyPr/>
                    <a:lstStyle/>
                    <a:p>
                      <a:r>
                        <a:rPr lang="en-US" dirty="0"/>
                        <a:t>13</a:t>
                      </a:r>
                    </a:p>
                  </a:txBody>
                  <a:tcPr/>
                </a:tc>
                <a:tc>
                  <a:txBody>
                    <a:bodyPr/>
                    <a:lstStyle/>
                    <a:p>
                      <a:r>
                        <a:rPr lang="en-US" dirty="0"/>
                        <a:t>10</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0</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8</a:t>
                      </a:r>
                    </a:p>
                  </a:txBody>
                  <a:tcPr/>
                </a:tc>
                <a:tc>
                  <a:txBody>
                    <a:bodyPr/>
                    <a:lstStyle/>
                    <a:p>
                      <a:r>
                        <a:rPr lang="en-US" dirty="0"/>
                        <a:t>0</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graphicFrame>
        <p:nvGraphicFramePr>
          <p:cNvPr id="13" name="Content Placeholder 10"/>
          <p:cNvGraphicFramePr>
            <a:graphicFrameLocks/>
          </p:cNvGraphicFramePr>
          <p:nvPr/>
        </p:nvGraphicFramePr>
        <p:xfrm>
          <a:off x="6199144" y="1422565"/>
          <a:ext cx="2282716" cy="148336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solidFill>
                            <a:schemeClr val="accent4"/>
                          </a:solidFill>
                        </a:rPr>
                        <a:t>1</a:t>
                      </a:r>
                    </a:p>
                  </a:txBody>
                  <a:tcPr/>
                </a:tc>
                <a:tc>
                  <a:txBody>
                    <a:bodyPr/>
                    <a:lstStyle/>
                    <a:p>
                      <a:r>
                        <a:rPr lang="en-US" dirty="0">
                          <a:solidFill>
                            <a:schemeClr val="accent4"/>
                          </a:solidFill>
                        </a:rPr>
                        <a:t>2</a:t>
                      </a:r>
                    </a:p>
                  </a:txBody>
                  <a:tcPr/>
                </a:tc>
                <a:tc>
                  <a:txBody>
                    <a:bodyPr/>
                    <a:lstStyle/>
                    <a:p>
                      <a:r>
                        <a:rPr lang="en-US" dirty="0">
                          <a:solidFill>
                            <a:schemeClr val="accent4"/>
                          </a:solidFill>
                        </a:rPr>
                        <a:t>3</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3</a:t>
                      </a:r>
                    </a:p>
                  </a:txBody>
                  <a:tcPr/>
                </a:tc>
                <a:tc>
                  <a:txBody>
                    <a:bodyPr/>
                    <a:lstStyle/>
                    <a:p>
                      <a:r>
                        <a:rPr lang="en-US" dirty="0"/>
                        <a:t>13</a:t>
                      </a:r>
                    </a:p>
                  </a:txBody>
                  <a:tcPr/>
                </a:tc>
                <a:tc>
                  <a:txBody>
                    <a:bodyPr/>
                    <a:lstStyle/>
                    <a:p>
                      <a:r>
                        <a:rPr lang="en-US" dirty="0"/>
                        <a:t>12</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0</a:t>
                      </a:r>
                    </a:p>
                  </a:txBody>
                  <a:tcPr/>
                </a:tc>
                <a:tc>
                  <a:txBody>
                    <a:bodyPr/>
                    <a:lstStyle/>
                    <a:p>
                      <a:r>
                        <a:rPr lang="en-US" dirty="0"/>
                        <a:t>5</a:t>
                      </a:r>
                    </a:p>
                  </a:txBody>
                  <a:tcPr/>
                </a:tc>
                <a:tc>
                  <a:txBody>
                    <a:bodyPr/>
                    <a:lstStyle/>
                    <a:p>
                      <a:r>
                        <a:rPr lang="en-US" dirty="0"/>
                        <a:t>0</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9</a:t>
                      </a:r>
                    </a:p>
                  </a:txBody>
                  <a:tcPr/>
                </a:tc>
                <a:tc>
                  <a:txBody>
                    <a:bodyPr/>
                    <a:lstStyle/>
                    <a:p>
                      <a:r>
                        <a:rPr lang="en-US" dirty="0"/>
                        <a:t>0</a:t>
                      </a:r>
                    </a:p>
                  </a:txBody>
                  <a:tcPr/>
                </a:tc>
                <a:tc>
                  <a:txBody>
                    <a:bodyPr/>
                    <a:lstStyle/>
                    <a:p>
                      <a:r>
                        <a:rPr lang="en-US" dirty="0"/>
                        <a:t>4</a:t>
                      </a:r>
                    </a:p>
                  </a:txBody>
                  <a:tcPr/>
                </a:tc>
                <a:extLst>
                  <a:ext uri="{0D108BD9-81ED-4DB2-BD59-A6C34878D82A}">
                    <a16:rowId xmlns:a16="http://schemas.microsoft.com/office/drawing/2014/main" val="10003"/>
                  </a:ext>
                </a:extLst>
              </a:tr>
            </a:tbl>
          </a:graphicData>
        </a:graphic>
      </p:graphicFrame>
      <p:sp>
        <p:nvSpPr>
          <p:cNvPr id="14" name="TextBox 13"/>
          <p:cNvSpPr txBox="1"/>
          <p:nvPr/>
        </p:nvSpPr>
        <p:spPr>
          <a:xfrm>
            <a:off x="2638097" y="1975945"/>
            <a:ext cx="300082" cy="369332"/>
          </a:xfrm>
          <a:prstGeom prst="rect">
            <a:avLst/>
          </a:prstGeom>
          <a:noFill/>
        </p:spPr>
        <p:txBody>
          <a:bodyPr wrap="none" rtlCol="0">
            <a:spAutoFit/>
          </a:bodyPr>
          <a:lstStyle/>
          <a:p>
            <a:r>
              <a:rPr lang="en-US" sz="1800" b="1" dirty="0"/>
              <a:t>+</a:t>
            </a:r>
          </a:p>
        </p:txBody>
      </p:sp>
      <p:sp>
        <p:nvSpPr>
          <p:cNvPr id="15" name="TextBox 14"/>
          <p:cNvSpPr txBox="1"/>
          <p:nvPr/>
        </p:nvSpPr>
        <p:spPr>
          <a:xfrm>
            <a:off x="5607269" y="2086303"/>
            <a:ext cx="300082" cy="369332"/>
          </a:xfrm>
          <a:prstGeom prst="rect">
            <a:avLst/>
          </a:prstGeom>
          <a:noFill/>
        </p:spPr>
        <p:txBody>
          <a:bodyPr wrap="none" rtlCol="0">
            <a:spAutoFit/>
          </a:bodyPr>
          <a:lstStyle/>
          <a:p>
            <a:r>
              <a:rPr lang="en-US" sz="1800" b="1" dirty="0"/>
              <a:t>=</a:t>
            </a:r>
          </a:p>
        </p:txBody>
      </p:sp>
      <p:sp>
        <p:nvSpPr>
          <p:cNvPr id="3" name="Rectangle 2">
            <a:extLst>
              <a:ext uri="{FF2B5EF4-FFF2-40B4-BE49-F238E27FC236}">
                <a16:creationId xmlns:a16="http://schemas.microsoft.com/office/drawing/2014/main" id="{DA10E0DD-A0E6-F9A9-0AE5-7C4A2CA3ADB1}"/>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882210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US" sz="2400" b="1" dirty="0"/>
              <a:t>Sparse Matrix Addition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11" name="Content Placeholder 10"/>
          <p:cNvGraphicFramePr>
            <a:graphicFrameLocks noGrp="1"/>
          </p:cNvGraphicFramePr>
          <p:nvPr>
            <p:ph idx="1"/>
          </p:nvPr>
        </p:nvGraphicFramePr>
        <p:xfrm>
          <a:off x="271310" y="1370013"/>
          <a:ext cx="2282716" cy="1857087"/>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3727">
                <a:tc>
                  <a:txBody>
                    <a:bodyPr/>
                    <a:lstStyle/>
                    <a:p>
                      <a:r>
                        <a:rPr lang="en-US" dirty="0">
                          <a:solidFill>
                            <a:schemeClr val="accent4"/>
                          </a:solidFill>
                        </a:rPr>
                        <a:t>0</a:t>
                      </a:r>
                    </a:p>
                  </a:txBody>
                  <a:tcPr/>
                </a:tc>
                <a:tc>
                  <a:txBody>
                    <a:bodyPr/>
                    <a:lstStyle/>
                    <a:p>
                      <a:r>
                        <a:rPr lang="en-US" dirty="0">
                          <a:solidFill>
                            <a:schemeClr val="accent4"/>
                          </a:solidFill>
                        </a:rPr>
                        <a:t>3</a:t>
                      </a:r>
                    </a:p>
                  </a:txBody>
                  <a:tcPr/>
                </a:tc>
                <a:tc>
                  <a:txBody>
                    <a:bodyPr/>
                    <a:lstStyle/>
                    <a:p>
                      <a:r>
                        <a:rPr lang="en-US" dirty="0">
                          <a:solidFill>
                            <a:schemeClr val="accent4"/>
                          </a:solidFill>
                        </a:rPr>
                        <a:t>3</a:t>
                      </a:r>
                    </a:p>
                  </a:txBody>
                  <a:tcPr/>
                </a:tc>
                <a:tc>
                  <a:txBody>
                    <a:bodyPr/>
                    <a:lstStyle/>
                    <a:p>
                      <a:r>
                        <a:rPr lang="en-US" dirty="0">
                          <a:solidFill>
                            <a:schemeClr val="accent4"/>
                          </a:solidFill>
                        </a:rPr>
                        <a:t>4</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1</a:t>
                      </a:r>
                    </a:p>
                  </a:txBody>
                  <a:tcPr/>
                </a:tc>
                <a:tc>
                  <a:txBody>
                    <a:bodyPr/>
                    <a:lstStyle/>
                    <a:p>
                      <a:r>
                        <a:rPr lang="en-US" dirty="0"/>
                        <a:t>1</a:t>
                      </a:r>
                    </a:p>
                  </a:txBody>
                  <a:tcPr/>
                </a:tc>
                <a:tc>
                  <a:txBody>
                    <a:bodyPr/>
                    <a:lstStyle/>
                    <a:p>
                      <a:r>
                        <a:rPr lang="en-US" dirty="0"/>
                        <a:t>3</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1</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2</a:t>
                      </a:r>
                    </a:p>
                  </a:txBody>
                  <a:tcPr/>
                </a:tc>
                <a:tc>
                  <a:txBody>
                    <a:bodyPr/>
                    <a:lstStyle/>
                    <a:p>
                      <a:r>
                        <a:rPr lang="en-US" dirty="0"/>
                        <a:t>2</a:t>
                      </a:r>
                    </a:p>
                  </a:txBody>
                  <a:tcPr/>
                </a:tc>
                <a:tc>
                  <a:txBody>
                    <a:bodyPr/>
                    <a:lstStyle/>
                    <a:p>
                      <a:r>
                        <a:rPr lang="en-US" dirty="0"/>
                        <a:t>5</a:t>
                      </a:r>
                    </a:p>
                  </a:txBody>
                  <a:tcPr/>
                </a:tc>
                <a:extLst>
                  <a:ext uri="{0D108BD9-81ED-4DB2-BD59-A6C34878D82A}">
                    <a16:rowId xmlns:a16="http://schemas.microsoft.com/office/drawing/2014/main" val="10003"/>
                  </a:ext>
                </a:extLst>
              </a:tr>
              <a:tr h="370840">
                <a:tc>
                  <a:txBody>
                    <a:bodyPr/>
                    <a:lstStyle/>
                    <a:p>
                      <a:r>
                        <a:rPr lang="en-US" dirty="0">
                          <a:solidFill>
                            <a:schemeClr val="accent4"/>
                          </a:solidFill>
                        </a:rPr>
                        <a:t>4</a:t>
                      </a:r>
                    </a:p>
                  </a:txBody>
                  <a:tcPr/>
                </a:tc>
                <a:tc>
                  <a:txBody>
                    <a:bodyPr/>
                    <a:lstStyle/>
                    <a:p>
                      <a:r>
                        <a:rPr lang="en-US" dirty="0"/>
                        <a:t>3</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p:graphicFrame>
        <p:nvGraphicFramePr>
          <p:cNvPr id="12" name="Content Placeholder 10"/>
          <p:cNvGraphicFramePr>
            <a:graphicFrameLocks/>
          </p:cNvGraphicFramePr>
          <p:nvPr/>
        </p:nvGraphicFramePr>
        <p:xfrm>
          <a:off x="3082827" y="1396289"/>
          <a:ext cx="2282716" cy="185420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r>
                        <a:rPr lang="en-US" dirty="0">
                          <a:solidFill>
                            <a:schemeClr val="accent4"/>
                          </a:solidFill>
                        </a:rPr>
                        <a:t>0</a:t>
                      </a:r>
                    </a:p>
                  </a:txBody>
                  <a:tcPr/>
                </a:tc>
                <a:tc>
                  <a:txBody>
                    <a:bodyPr/>
                    <a:lstStyle/>
                    <a:p>
                      <a:r>
                        <a:rPr lang="en-US" dirty="0">
                          <a:solidFill>
                            <a:schemeClr val="accent4"/>
                          </a:solidFill>
                        </a:rPr>
                        <a:t>3</a:t>
                      </a:r>
                    </a:p>
                  </a:txBody>
                  <a:tcPr/>
                </a:tc>
                <a:tc>
                  <a:txBody>
                    <a:bodyPr/>
                    <a:lstStyle/>
                    <a:p>
                      <a:r>
                        <a:rPr lang="en-US" dirty="0">
                          <a:solidFill>
                            <a:schemeClr val="accent4"/>
                          </a:solidFill>
                        </a:rPr>
                        <a:t>3</a:t>
                      </a:r>
                    </a:p>
                  </a:txBody>
                  <a:tcPr/>
                </a:tc>
                <a:tc>
                  <a:txBody>
                    <a:bodyPr/>
                    <a:lstStyle/>
                    <a:p>
                      <a:r>
                        <a:rPr lang="en-US" dirty="0">
                          <a:solidFill>
                            <a:schemeClr val="accent4"/>
                          </a:solidFill>
                        </a:rPr>
                        <a:t>4</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1</a:t>
                      </a:r>
                    </a:p>
                  </a:txBody>
                  <a:tcPr/>
                </a:tc>
                <a:tc>
                  <a:txBody>
                    <a:bodyPr/>
                    <a:lstStyle/>
                    <a:p>
                      <a:r>
                        <a:rPr lang="en-US" dirty="0"/>
                        <a:t>2</a:t>
                      </a:r>
                    </a:p>
                  </a:txBody>
                  <a:tcPr/>
                </a:tc>
                <a:tc>
                  <a:txBody>
                    <a:bodyPr/>
                    <a:lstStyle/>
                    <a:p>
                      <a:r>
                        <a:rPr lang="en-US" dirty="0"/>
                        <a:t>13</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1</a:t>
                      </a:r>
                    </a:p>
                  </a:txBody>
                  <a:tcPr/>
                </a:tc>
                <a:tc>
                  <a:txBody>
                    <a:bodyPr/>
                    <a:lstStyle/>
                    <a:p>
                      <a:r>
                        <a:rPr lang="en-US" dirty="0"/>
                        <a:t>3</a:t>
                      </a:r>
                    </a:p>
                  </a:txBody>
                  <a:tcPr/>
                </a:tc>
                <a:tc>
                  <a:txBody>
                    <a:bodyPr/>
                    <a:lstStyle/>
                    <a:p>
                      <a:r>
                        <a:rPr lang="en-US" dirty="0"/>
                        <a:t>10</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3</a:t>
                      </a:r>
                    </a:p>
                  </a:txBody>
                  <a:tcPr/>
                </a:tc>
                <a:tc>
                  <a:txBody>
                    <a:bodyPr/>
                    <a:lstStyle/>
                    <a:p>
                      <a:r>
                        <a:rPr lang="en-US" dirty="0"/>
                        <a:t>1</a:t>
                      </a:r>
                    </a:p>
                  </a:txBody>
                  <a:tcPr/>
                </a:tc>
                <a:tc>
                  <a:txBody>
                    <a:bodyPr/>
                    <a:lstStyle/>
                    <a:p>
                      <a:r>
                        <a:rPr lang="en-US" dirty="0"/>
                        <a:t>8</a:t>
                      </a:r>
                    </a:p>
                  </a:txBody>
                  <a:tcPr/>
                </a:tc>
                <a:extLst>
                  <a:ext uri="{0D108BD9-81ED-4DB2-BD59-A6C34878D82A}">
                    <a16:rowId xmlns:a16="http://schemas.microsoft.com/office/drawing/2014/main" val="10003"/>
                  </a:ext>
                </a:extLst>
              </a:tr>
              <a:tr h="370840">
                <a:tc>
                  <a:txBody>
                    <a:bodyPr/>
                    <a:lstStyle/>
                    <a:p>
                      <a:r>
                        <a:rPr lang="en-US" dirty="0">
                          <a:solidFill>
                            <a:schemeClr val="accent4"/>
                          </a:solidFill>
                        </a:rPr>
                        <a:t>4</a:t>
                      </a:r>
                    </a:p>
                  </a:txBody>
                  <a:tcPr/>
                </a:tc>
                <a:tc>
                  <a:txBody>
                    <a:bodyPr/>
                    <a:lstStyle/>
                    <a:p>
                      <a:r>
                        <a:rPr lang="en-US" dirty="0"/>
                        <a:t>3</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4"/>
                  </a:ext>
                </a:extLst>
              </a:tr>
            </a:tbl>
          </a:graphicData>
        </a:graphic>
      </p:graphicFrame>
      <p:graphicFrame>
        <p:nvGraphicFramePr>
          <p:cNvPr id="13" name="Content Placeholder 10"/>
          <p:cNvGraphicFramePr>
            <a:graphicFrameLocks/>
          </p:cNvGraphicFramePr>
          <p:nvPr/>
        </p:nvGraphicFramePr>
        <p:xfrm>
          <a:off x="6199144" y="1422565"/>
          <a:ext cx="2282716" cy="259588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r>
                        <a:rPr lang="en-US" dirty="0">
                          <a:solidFill>
                            <a:schemeClr val="accent4"/>
                          </a:solidFill>
                        </a:rPr>
                        <a:t>0</a:t>
                      </a:r>
                    </a:p>
                  </a:txBody>
                  <a:tcPr/>
                </a:tc>
                <a:tc>
                  <a:txBody>
                    <a:bodyPr/>
                    <a:lstStyle/>
                    <a:p>
                      <a:r>
                        <a:rPr lang="en-US" dirty="0">
                          <a:solidFill>
                            <a:schemeClr val="accent4"/>
                          </a:solidFill>
                        </a:rPr>
                        <a:t>3</a:t>
                      </a:r>
                    </a:p>
                  </a:txBody>
                  <a:tcPr/>
                </a:tc>
                <a:tc>
                  <a:txBody>
                    <a:bodyPr/>
                    <a:lstStyle/>
                    <a:p>
                      <a:r>
                        <a:rPr lang="en-US" dirty="0">
                          <a:solidFill>
                            <a:schemeClr val="accent4"/>
                          </a:solidFill>
                        </a:rPr>
                        <a:t>3</a:t>
                      </a:r>
                    </a:p>
                  </a:txBody>
                  <a:tcPr/>
                </a:tc>
                <a:tc>
                  <a:txBody>
                    <a:bodyPr/>
                    <a:lstStyle/>
                    <a:p>
                      <a:r>
                        <a:rPr lang="en-US" dirty="0">
                          <a:solidFill>
                            <a:schemeClr val="accent4"/>
                          </a:solidFill>
                        </a:rPr>
                        <a:t>7</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1</a:t>
                      </a:r>
                    </a:p>
                  </a:txBody>
                  <a:tcPr/>
                </a:tc>
                <a:tc>
                  <a:txBody>
                    <a:bodyPr/>
                    <a:lstStyle/>
                    <a:p>
                      <a:r>
                        <a:rPr lang="en-US" dirty="0"/>
                        <a:t>1</a:t>
                      </a:r>
                    </a:p>
                  </a:txBody>
                  <a:tcPr/>
                </a:tc>
                <a:tc>
                  <a:txBody>
                    <a:bodyPr/>
                    <a:lstStyle/>
                    <a:p>
                      <a:r>
                        <a:rPr lang="en-US" dirty="0"/>
                        <a:t>3</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1</a:t>
                      </a:r>
                    </a:p>
                  </a:txBody>
                  <a:tcPr/>
                </a:tc>
                <a:tc>
                  <a:txBody>
                    <a:bodyPr/>
                    <a:lstStyle/>
                    <a:p>
                      <a:r>
                        <a:rPr lang="en-US" dirty="0"/>
                        <a:t>2</a:t>
                      </a:r>
                    </a:p>
                  </a:txBody>
                  <a:tcPr/>
                </a:tc>
                <a:tc>
                  <a:txBody>
                    <a:bodyPr/>
                    <a:lstStyle/>
                    <a:p>
                      <a:r>
                        <a:rPr lang="en-US" dirty="0"/>
                        <a:t>13</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1</a:t>
                      </a:r>
                    </a:p>
                  </a:txBody>
                  <a:tcPr/>
                </a:tc>
                <a:tc>
                  <a:txBody>
                    <a:bodyPr/>
                    <a:lstStyle/>
                    <a:p>
                      <a:r>
                        <a:rPr lang="en-US" dirty="0"/>
                        <a:t>3</a:t>
                      </a:r>
                    </a:p>
                  </a:txBody>
                  <a:tcPr/>
                </a:tc>
                <a:tc>
                  <a:txBody>
                    <a:bodyPr/>
                    <a:lstStyle/>
                    <a:p>
                      <a:r>
                        <a:rPr lang="en-US" dirty="0"/>
                        <a:t>12</a:t>
                      </a:r>
                    </a:p>
                  </a:txBody>
                  <a:tcPr/>
                </a:tc>
                <a:extLst>
                  <a:ext uri="{0D108BD9-81ED-4DB2-BD59-A6C34878D82A}">
                    <a16:rowId xmlns:a16="http://schemas.microsoft.com/office/drawing/2014/main" val="10003"/>
                  </a:ext>
                </a:extLst>
              </a:tr>
              <a:tr h="370840">
                <a:tc>
                  <a:txBody>
                    <a:bodyPr/>
                    <a:lstStyle/>
                    <a:p>
                      <a:r>
                        <a:rPr lang="en-US" dirty="0">
                          <a:solidFill>
                            <a:schemeClr val="accent4"/>
                          </a:solidFill>
                        </a:rPr>
                        <a:t>4</a:t>
                      </a:r>
                    </a:p>
                  </a:txBody>
                  <a:tcPr/>
                </a:tc>
                <a:tc>
                  <a:txBody>
                    <a:bodyPr/>
                    <a:lstStyle/>
                    <a:p>
                      <a:r>
                        <a:rPr lang="en-US" dirty="0"/>
                        <a:t>2</a:t>
                      </a:r>
                    </a:p>
                  </a:txBody>
                  <a:tcPr/>
                </a:tc>
                <a:tc>
                  <a:txBody>
                    <a:bodyPr/>
                    <a:lstStyle/>
                    <a:p>
                      <a:r>
                        <a:rPr lang="en-US" dirty="0"/>
                        <a:t>2</a:t>
                      </a:r>
                    </a:p>
                  </a:txBody>
                  <a:tcPr/>
                </a:tc>
                <a:tc>
                  <a:txBody>
                    <a:bodyPr/>
                    <a:lstStyle/>
                    <a:p>
                      <a:r>
                        <a:rPr lang="en-US" dirty="0"/>
                        <a:t>5</a:t>
                      </a:r>
                    </a:p>
                  </a:txBody>
                  <a:tcPr/>
                </a:tc>
                <a:extLst>
                  <a:ext uri="{0D108BD9-81ED-4DB2-BD59-A6C34878D82A}">
                    <a16:rowId xmlns:a16="http://schemas.microsoft.com/office/drawing/2014/main" val="10004"/>
                  </a:ext>
                </a:extLst>
              </a:tr>
              <a:tr h="370840">
                <a:tc>
                  <a:txBody>
                    <a:bodyPr/>
                    <a:lstStyle/>
                    <a:p>
                      <a:r>
                        <a:rPr lang="en-US" dirty="0">
                          <a:solidFill>
                            <a:schemeClr val="accent4"/>
                          </a:solidFill>
                        </a:rPr>
                        <a:t>5</a:t>
                      </a:r>
                    </a:p>
                  </a:txBody>
                  <a:tcPr/>
                </a:tc>
                <a:tc>
                  <a:txBody>
                    <a:bodyPr/>
                    <a:lstStyle/>
                    <a:p>
                      <a:r>
                        <a:rPr lang="en-US" dirty="0"/>
                        <a:t>3</a:t>
                      </a:r>
                    </a:p>
                  </a:txBody>
                  <a:tcPr/>
                </a:tc>
                <a:tc>
                  <a:txBody>
                    <a:bodyPr/>
                    <a:lstStyle/>
                    <a:p>
                      <a:r>
                        <a:rPr lang="en-US" dirty="0"/>
                        <a:t>1</a:t>
                      </a:r>
                    </a:p>
                  </a:txBody>
                  <a:tcPr/>
                </a:tc>
                <a:tc>
                  <a:txBody>
                    <a:bodyPr/>
                    <a:lstStyle/>
                    <a:p>
                      <a:r>
                        <a:rPr lang="en-US" dirty="0"/>
                        <a:t>9</a:t>
                      </a:r>
                    </a:p>
                  </a:txBody>
                  <a:tcPr/>
                </a:tc>
                <a:extLst>
                  <a:ext uri="{0D108BD9-81ED-4DB2-BD59-A6C34878D82A}">
                    <a16:rowId xmlns:a16="http://schemas.microsoft.com/office/drawing/2014/main" val="10005"/>
                  </a:ext>
                </a:extLst>
              </a:tr>
              <a:tr h="370840">
                <a:tc>
                  <a:txBody>
                    <a:bodyPr/>
                    <a:lstStyle/>
                    <a:p>
                      <a:r>
                        <a:rPr lang="en-US" dirty="0">
                          <a:solidFill>
                            <a:schemeClr val="accent4"/>
                          </a:solidFill>
                        </a:rPr>
                        <a:t>6</a:t>
                      </a:r>
                    </a:p>
                  </a:txBody>
                  <a:tcPr/>
                </a:tc>
                <a:tc>
                  <a:txBody>
                    <a:bodyPr/>
                    <a:lstStyle/>
                    <a:p>
                      <a:r>
                        <a:rPr lang="en-US" dirty="0"/>
                        <a:t>3</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6"/>
                  </a:ext>
                </a:extLst>
              </a:tr>
            </a:tbl>
          </a:graphicData>
        </a:graphic>
      </p:graphicFrame>
      <p:sp>
        <p:nvSpPr>
          <p:cNvPr id="14" name="TextBox 13"/>
          <p:cNvSpPr txBox="1"/>
          <p:nvPr/>
        </p:nvSpPr>
        <p:spPr>
          <a:xfrm>
            <a:off x="2638097" y="1975945"/>
            <a:ext cx="300082" cy="369332"/>
          </a:xfrm>
          <a:prstGeom prst="rect">
            <a:avLst/>
          </a:prstGeom>
          <a:noFill/>
        </p:spPr>
        <p:txBody>
          <a:bodyPr wrap="none" rtlCol="0">
            <a:spAutoFit/>
          </a:bodyPr>
          <a:lstStyle/>
          <a:p>
            <a:r>
              <a:rPr lang="en-US" sz="1800" b="1" dirty="0"/>
              <a:t>+</a:t>
            </a:r>
          </a:p>
        </p:txBody>
      </p:sp>
      <p:sp>
        <p:nvSpPr>
          <p:cNvPr id="15" name="TextBox 14"/>
          <p:cNvSpPr txBox="1"/>
          <p:nvPr/>
        </p:nvSpPr>
        <p:spPr>
          <a:xfrm>
            <a:off x="5607269" y="2086303"/>
            <a:ext cx="300082" cy="369332"/>
          </a:xfrm>
          <a:prstGeom prst="rect">
            <a:avLst/>
          </a:prstGeom>
          <a:noFill/>
        </p:spPr>
        <p:txBody>
          <a:bodyPr wrap="none" rtlCol="0">
            <a:spAutoFit/>
          </a:bodyPr>
          <a:lstStyle/>
          <a:p>
            <a:r>
              <a:rPr lang="en-US" sz="1800" b="1" dirty="0"/>
              <a:t>=</a:t>
            </a:r>
          </a:p>
        </p:txBody>
      </p:sp>
      <p:sp>
        <p:nvSpPr>
          <p:cNvPr id="3" name="Rectangle 2">
            <a:extLst>
              <a:ext uri="{FF2B5EF4-FFF2-40B4-BE49-F238E27FC236}">
                <a16:creationId xmlns:a16="http://schemas.microsoft.com/office/drawing/2014/main" id="{BA3CF525-CCD2-C3ED-E97D-2A7DA1D32E76}"/>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659457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US" sz="2400" b="1" dirty="0"/>
              <a:t>Matrix Transpose</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11" name="Content Placeholder 10"/>
          <p:cNvGraphicFramePr>
            <a:graphicFrameLocks noGrp="1"/>
          </p:cNvGraphicFramePr>
          <p:nvPr>
            <p:ph idx="1"/>
          </p:nvPr>
        </p:nvGraphicFramePr>
        <p:xfrm>
          <a:off x="2100110" y="1517158"/>
          <a:ext cx="2282716" cy="148336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solidFill>
                            <a:schemeClr val="accent4"/>
                          </a:solidFill>
                        </a:rPr>
                        <a:t>1</a:t>
                      </a:r>
                    </a:p>
                  </a:txBody>
                  <a:tcPr/>
                </a:tc>
                <a:tc>
                  <a:txBody>
                    <a:bodyPr/>
                    <a:lstStyle/>
                    <a:p>
                      <a:r>
                        <a:rPr lang="en-US" dirty="0">
                          <a:solidFill>
                            <a:schemeClr val="accent4"/>
                          </a:solidFill>
                        </a:rPr>
                        <a:t>2</a:t>
                      </a:r>
                    </a:p>
                  </a:txBody>
                  <a:tcPr/>
                </a:tc>
                <a:tc>
                  <a:txBody>
                    <a:bodyPr/>
                    <a:lstStyle/>
                    <a:p>
                      <a:r>
                        <a:rPr lang="en-US" dirty="0">
                          <a:solidFill>
                            <a:schemeClr val="accent4"/>
                          </a:solidFill>
                        </a:rPr>
                        <a:t>3</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0</a:t>
                      </a:r>
                    </a:p>
                  </a:txBody>
                  <a:tcPr/>
                </a:tc>
                <a:tc>
                  <a:txBody>
                    <a:bodyPr/>
                    <a:lstStyle/>
                    <a:p>
                      <a:r>
                        <a:rPr lang="en-US" dirty="0"/>
                        <a:t>5</a:t>
                      </a:r>
                    </a:p>
                  </a:txBody>
                  <a:tcPr/>
                </a:tc>
                <a:tc>
                  <a:txBody>
                    <a:bodyPr/>
                    <a:lstStyle/>
                    <a:p>
                      <a:r>
                        <a:rPr lang="en-US" dirty="0"/>
                        <a:t>0</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8</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0</a:t>
                      </a:r>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10003"/>
                  </a:ext>
                </a:extLst>
              </a:tr>
            </a:tbl>
          </a:graphicData>
        </a:graphic>
      </p:graphicFrame>
      <p:graphicFrame>
        <p:nvGraphicFramePr>
          <p:cNvPr id="13" name="Content Placeholder 10"/>
          <p:cNvGraphicFramePr>
            <a:graphicFrameLocks/>
          </p:cNvGraphicFramePr>
          <p:nvPr/>
        </p:nvGraphicFramePr>
        <p:xfrm>
          <a:off x="5631586" y="1548689"/>
          <a:ext cx="2282716" cy="148336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solidFill>
                            <a:schemeClr val="accent4"/>
                          </a:solidFill>
                        </a:rPr>
                        <a:t>1</a:t>
                      </a:r>
                    </a:p>
                  </a:txBody>
                  <a:tcPr/>
                </a:tc>
                <a:tc>
                  <a:txBody>
                    <a:bodyPr/>
                    <a:lstStyle/>
                    <a:p>
                      <a:r>
                        <a:rPr lang="en-US" dirty="0">
                          <a:solidFill>
                            <a:schemeClr val="accent4"/>
                          </a:solidFill>
                        </a:rPr>
                        <a:t>2</a:t>
                      </a:r>
                    </a:p>
                  </a:txBody>
                  <a:tcPr/>
                </a:tc>
                <a:tc>
                  <a:txBody>
                    <a:bodyPr/>
                    <a:lstStyle/>
                    <a:p>
                      <a:r>
                        <a:rPr lang="en-US" dirty="0">
                          <a:solidFill>
                            <a:schemeClr val="accent4"/>
                          </a:solidFill>
                        </a:rPr>
                        <a:t>3</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0</a:t>
                      </a:r>
                    </a:p>
                  </a:txBody>
                  <a:tcPr/>
                </a:tc>
                <a:tc>
                  <a:txBody>
                    <a:bodyPr/>
                    <a:lstStyle/>
                    <a:p>
                      <a:r>
                        <a:rPr lang="en-US" dirty="0"/>
                        <a:t>8</a:t>
                      </a:r>
                    </a:p>
                  </a:txBody>
                  <a:tcPr/>
                </a:tc>
                <a:tc>
                  <a:txBody>
                    <a:bodyPr/>
                    <a:lstStyle/>
                    <a:p>
                      <a:r>
                        <a:rPr lang="en-US" dirty="0"/>
                        <a:t>0</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5</a:t>
                      </a:r>
                    </a:p>
                  </a:txBody>
                  <a:tcPr/>
                </a:tc>
                <a:tc>
                  <a:txBody>
                    <a:bodyPr/>
                    <a:lstStyle/>
                    <a:p>
                      <a:r>
                        <a:rPr lang="en-US" dirty="0"/>
                        <a:t>0</a:t>
                      </a:r>
                    </a:p>
                  </a:txBody>
                  <a:tcPr/>
                </a:tc>
                <a:tc>
                  <a:txBody>
                    <a:bodyPr/>
                    <a:lstStyle/>
                    <a:p>
                      <a:r>
                        <a:rPr lang="en-US" dirty="0"/>
                        <a:t>0</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3"/>
                  </a:ext>
                </a:extLst>
              </a:tr>
            </a:tbl>
          </a:graphicData>
        </a:graphic>
      </p:graphicFrame>
      <p:sp>
        <p:nvSpPr>
          <p:cNvPr id="15" name="TextBox 14"/>
          <p:cNvSpPr txBox="1"/>
          <p:nvPr/>
        </p:nvSpPr>
        <p:spPr>
          <a:xfrm>
            <a:off x="4871545" y="2086303"/>
            <a:ext cx="431528" cy="369332"/>
          </a:xfrm>
          <a:prstGeom prst="rect">
            <a:avLst/>
          </a:prstGeom>
          <a:noFill/>
        </p:spPr>
        <p:txBody>
          <a:bodyPr wrap="none" rtlCol="0">
            <a:spAutoFit/>
          </a:bodyPr>
          <a:lstStyle/>
          <a:p>
            <a:r>
              <a:rPr lang="en-US" sz="1800" b="1" dirty="0">
                <a:sym typeface="Wingdings" pitchFamily="2" charset="2"/>
              </a:rPr>
              <a:t></a:t>
            </a:r>
            <a:endParaRPr lang="en-US" sz="1800" b="1" dirty="0"/>
          </a:p>
        </p:txBody>
      </p:sp>
      <p:sp>
        <p:nvSpPr>
          <p:cNvPr id="3" name="Rectangle 2">
            <a:extLst>
              <a:ext uri="{FF2B5EF4-FFF2-40B4-BE49-F238E27FC236}">
                <a16:creationId xmlns:a16="http://schemas.microsoft.com/office/drawing/2014/main" id="{CD20ED8C-92DF-3010-C37C-0328A5F9500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1573368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US" sz="2400" b="1" dirty="0"/>
              <a:t>Sparse Matrix  Simple Transpose</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11" name="Content Placeholder 10"/>
          <p:cNvGraphicFramePr>
            <a:graphicFrameLocks noGrp="1"/>
          </p:cNvGraphicFramePr>
          <p:nvPr>
            <p:ph idx="1"/>
          </p:nvPr>
        </p:nvGraphicFramePr>
        <p:xfrm>
          <a:off x="1511530" y="1285930"/>
          <a:ext cx="2282716" cy="185420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r>
                        <a:rPr lang="en-US" dirty="0">
                          <a:solidFill>
                            <a:schemeClr val="accent4"/>
                          </a:solidFill>
                        </a:rPr>
                        <a:t>0</a:t>
                      </a:r>
                    </a:p>
                  </a:txBody>
                  <a:tcPr/>
                </a:tc>
                <a:tc>
                  <a:txBody>
                    <a:bodyPr/>
                    <a:lstStyle/>
                    <a:p>
                      <a:r>
                        <a:rPr lang="en-US" dirty="0">
                          <a:solidFill>
                            <a:schemeClr val="accent4"/>
                          </a:solidFill>
                        </a:rPr>
                        <a:t>3</a:t>
                      </a:r>
                    </a:p>
                  </a:txBody>
                  <a:tcPr/>
                </a:tc>
                <a:tc>
                  <a:txBody>
                    <a:bodyPr/>
                    <a:lstStyle/>
                    <a:p>
                      <a:r>
                        <a:rPr lang="en-US" dirty="0">
                          <a:solidFill>
                            <a:schemeClr val="accent4"/>
                          </a:solidFill>
                        </a:rPr>
                        <a:t>3</a:t>
                      </a:r>
                    </a:p>
                  </a:txBody>
                  <a:tcPr/>
                </a:tc>
                <a:tc>
                  <a:txBody>
                    <a:bodyPr/>
                    <a:lstStyle/>
                    <a:p>
                      <a:r>
                        <a:rPr lang="en-US" dirty="0">
                          <a:solidFill>
                            <a:schemeClr val="accent4"/>
                          </a:solidFill>
                        </a:rPr>
                        <a:t>4</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1</a:t>
                      </a:r>
                    </a:p>
                  </a:txBody>
                  <a:tcPr/>
                </a:tc>
                <a:tc>
                  <a:txBody>
                    <a:bodyPr/>
                    <a:lstStyle/>
                    <a:p>
                      <a:r>
                        <a:rPr lang="en-US" dirty="0"/>
                        <a:t>2</a:t>
                      </a:r>
                    </a:p>
                  </a:txBody>
                  <a:tcPr/>
                </a:tc>
                <a:tc>
                  <a:txBody>
                    <a:bodyPr/>
                    <a:lstStyle/>
                    <a:p>
                      <a:r>
                        <a:rPr lang="en-US" dirty="0"/>
                        <a:t>5</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2</a:t>
                      </a:r>
                    </a:p>
                  </a:txBody>
                  <a:tcPr/>
                </a:tc>
                <a:tc>
                  <a:txBody>
                    <a:bodyPr/>
                    <a:lstStyle/>
                    <a:p>
                      <a:r>
                        <a:rPr lang="en-US" dirty="0"/>
                        <a:t>1</a:t>
                      </a:r>
                    </a:p>
                  </a:txBody>
                  <a:tcPr/>
                </a:tc>
                <a:tc>
                  <a:txBody>
                    <a:bodyPr/>
                    <a:lstStyle/>
                    <a:p>
                      <a:r>
                        <a:rPr lang="en-US" dirty="0"/>
                        <a:t>8</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2</a:t>
                      </a:r>
                    </a:p>
                  </a:txBody>
                  <a:tcPr/>
                </a:tc>
                <a:tc>
                  <a:txBody>
                    <a:bodyPr/>
                    <a:lstStyle/>
                    <a:p>
                      <a:r>
                        <a:rPr lang="en-US" dirty="0"/>
                        <a:t>3</a:t>
                      </a:r>
                    </a:p>
                  </a:txBody>
                  <a:tcPr/>
                </a:tc>
                <a:tc>
                  <a:txBody>
                    <a:bodyPr/>
                    <a:lstStyle/>
                    <a:p>
                      <a:r>
                        <a:rPr lang="en-US" dirty="0"/>
                        <a:t>1</a:t>
                      </a:r>
                    </a:p>
                  </a:txBody>
                  <a:tcPr/>
                </a:tc>
                <a:extLst>
                  <a:ext uri="{0D108BD9-81ED-4DB2-BD59-A6C34878D82A}">
                    <a16:rowId xmlns:a16="http://schemas.microsoft.com/office/drawing/2014/main" val="10003"/>
                  </a:ext>
                </a:extLst>
              </a:tr>
              <a:tr h="370840">
                <a:tc>
                  <a:txBody>
                    <a:bodyPr/>
                    <a:lstStyle/>
                    <a:p>
                      <a:r>
                        <a:rPr lang="en-US" dirty="0">
                          <a:solidFill>
                            <a:schemeClr val="accent4"/>
                          </a:solidFill>
                        </a:rPr>
                        <a:t>4</a:t>
                      </a:r>
                    </a:p>
                  </a:txBody>
                  <a:tcPr/>
                </a:tc>
                <a:tc>
                  <a:txBody>
                    <a:bodyPr/>
                    <a:lstStyle/>
                    <a:p>
                      <a:r>
                        <a:rPr lang="en-US" dirty="0"/>
                        <a:t>3</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4"/>
                  </a:ext>
                </a:extLst>
              </a:tr>
            </a:tbl>
          </a:graphicData>
        </a:graphic>
      </p:graphicFrame>
      <p:sp>
        <p:nvSpPr>
          <p:cNvPr id="15" name="TextBox 14"/>
          <p:cNvSpPr txBox="1"/>
          <p:nvPr/>
        </p:nvSpPr>
        <p:spPr>
          <a:xfrm>
            <a:off x="4472152" y="2107323"/>
            <a:ext cx="431528" cy="369332"/>
          </a:xfrm>
          <a:prstGeom prst="rect">
            <a:avLst/>
          </a:prstGeom>
          <a:noFill/>
        </p:spPr>
        <p:txBody>
          <a:bodyPr wrap="none" rtlCol="0">
            <a:spAutoFit/>
          </a:bodyPr>
          <a:lstStyle/>
          <a:p>
            <a:r>
              <a:rPr lang="en-US" sz="1800" b="1" dirty="0">
                <a:sym typeface="Wingdings" pitchFamily="2" charset="2"/>
              </a:rPr>
              <a:t></a:t>
            </a:r>
            <a:endParaRPr lang="en-US" sz="1800" b="1" dirty="0"/>
          </a:p>
        </p:txBody>
      </p:sp>
      <p:graphicFrame>
        <p:nvGraphicFramePr>
          <p:cNvPr id="9" name="Content Placeholder 10"/>
          <p:cNvGraphicFramePr>
            <a:graphicFrameLocks/>
          </p:cNvGraphicFramePr>
          <p:nvPr/>
        </p:nvGraphicFramePr>
        <p:xfrm>
          <a:off x="5426635" y="1270165"/>
          <a:ext cx="2282716" cy="185420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r>
                        <a:rPr lang="en-US" dirty="0">
                          <a:solidFill>
                            <a:schemeClr val="accent4"/>
                          </a:solidFill>
                        </a:rPr>
                        <a:t>0</a:t>
                      </a:r>
                    </a:p>
                  </a:txBody>
                  <a:tcPr/>
                </a:tc>
                <a:tc>
                  <a:txBody>
                    <a:bodyPr/>
                    <a:lstStyle/>
                    <a:p>
                      <a:r>
                        <a:rPr lang="en-US" dirty="0">
                          <a:solidFill>
                            <a:schemeClr val="accent4"/>
                          </a:solidFill>
                        </a:rPr>
                        <a:t>3</a:t>
                      </a:r>
                    </a:p>
                  </a:txBody>
                  <a:tcPr/>
                </a:tc>
                <a:tc>
                  <a:txBody>
                    <a:bodyPr/>
                    <a:lstStyle/>
                    <a:p>
                      <a:r>
                        <a:rPr lang="en-US" dirty="0">
                          <a:solidFill>
                            <a:schemeClr val="accent4"/>
                          </a:solidFill>
                        </a:rPr>
                        <a:t>3</a:t>
                      </a:r>
                    </a:p>
                  </a:txBody>
                  <a:tcPr/>
                </a:tc>
                <a:tc>
                  <a:txBody>
                    <a:bodyPr/>
                    <a:lstStyle/>
                    <a:p>
                      <a:r>
                        <a:rPr lang="en-US" dirty="0">
                          <a:solidFill>
                            <a:schemeClr val="accent4"/>
                          </a:solidFill>
                        </a:rPr>
                        <a:t>4</a:t>
                      </a:r>
                    </a:p>
                  </a:txBody>
                  <a:tcPr/>
                </a:tc>
                <a:extLst>
                  <a:ext uri="{0D108BD9-81ED-4DB2-BD59-A6C34878D82A}">
                    <a16:rowId xmlns:a16="http://schemas.microsoft.com/office/drawing/2014/main" val="10000"/>
                  </a:ext>
                </a:extLst>
              </a:tr>
              <a:tr h="370840">
                <a:tc>
                  <a:txBody>
                    <a:bodyPr/>
                    <a:lstStyle/>
                    <a:p>
                      <a:r>
                        <a:rPr lang="en-US" dirty="0">
                          <a:solidFill>
                            <a:schemeClr val="accent4"/>
                          </a:solidFill>
                        </a:rPr>
                        <a:t>1</a:t>
                      </a:r>
                    </a:p>
                  </a:txBody>
                  <a:tcPr/>
                </a:tc>
                <a:tc>
                  <a:txBody>
                    <a:bodyPr/>
                    <a:lstStyle/>
                    <a:p>
                      <a:r>
                        <a:rPr lang="en-US" dirty="0"/>
                        <a:t>1</a:t>
                      </a:r>
                    </a:p>
                  </a:txBody>
                  <a:tcPr/>
                </a:tc>
                <a:tc>
                  <a:txBody>
                    <a:bodyPr/>
                    <a:lstStyle/>
                    <a:p>
                      <a:r>
                        <a:rPr lang="en-US" dirty="0"/>
                        <a:t>2</a:t>
                      </a:r>
                    </a:p>
                  </a:txBody>
                  <a:tcPr/>
                </a:tc>
                <a:tc>
                  <a:txBody>
                    <a:bodyPr/>
                    <a:lstStyle/>
                    <a:p>
                      <a:r>
                        <a:rPr lang="en-US" dirty="0"/>
                        <a:t>8</a:t>
                      </a:r>
                    </a:p>
                  </a:txBody>
                  <a:tcPr/>
                </a:tc>
                <a:extLst>
                  <a:ext uri="{0D108BD9-81ED-4DB2-BD59-A6C34878D82A}">
                    <a16:rowId xmlns:a16="http://schemas.microsoft.com/office/drawing/2014/main" val="10001"/>
                  </a:ext>
                </a:extLst>
              </a:tr>
              <a:tr h="370840">
                <a:tc>
                  <a:txBody>
                    <a:bodyPr/>
                    <a:lstStyle/>
                    <a:p>
                      <a:r>
                        <a:rPr lang="en-US" dirty="0">
                          <a:solidFill>
                            <a:schemeClr val="accent4"/>
                          </a:solidFill>
                        </a:rPr>
                        <a:t>2</a:t>
                      </a:r>
                    </a:p>
                  </a:txBody>
                  <a:tcPr/>
                </a:tc>
                <a:tc>
                  <a:txBody>
                    <a:bodyPr/>
                    <a:lstStyle/>
                    <a:p>
                      <a:r>
                        <a:rPr lang="en-US" dirty="0"/>
                        <a:t>2</a:t>
                      </a:r>
                    </a:p>
                  </a:txBody>
                  <a:tcPr/>
                </a:tc>
                <a:tc>
                  <a:txBody>
                    <a:bodyPr/>
                    <a:lstStyle/>
                    <a:p>
                      <a:r>
                        <a:rPr lang="en-US" dirty="0"/>
                        <a:t>1</a:t>
                      </a:r>
                    </a:p>
                  </a:txBody>
                  <a:tcPr/>
                </a:tc>
                <a:tc>
                  <a:txBody>
                    <a:bodyPr/>
                    <a:lstStyle/>
                    <a:p>
                      <a:r>
                        <a:rPr lang="en-US" dirty="0"/>
                        <a:t>5</a:t>
                      </a:r>
                    </a:p>
                  </a:txBody>
                  <a:tcPr/>
                </a:tc>
                <a:extLst>
                  <a:ext uri="{0D108BD9-81ED-4DB2-BD59-A6C34878D82A}">
                    <a16:rowId xmlns:a16="http://schemas.microsoft.com/office/drawing/2014/main" val="10002"/>
                  </a:ext>
                </a:extLst>
              </a:tr>
              <a:tr h="370840">
                <a:tc>
                  <a:txBody>
                    <a:bodyPr/>
                    <a:lstStyle/>
                    <a:p>
                      <a:r>
                        <a:rPr lang="en-US" dirty="0">
                          <a:solidFill>
                            <a:schemeClr val="accent4"/>
                          </a:solidFill>
                        </a:rPr>
                        <a:t>3</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extLst>
                  <a:ext uri="{0D108BD9-81ED-4DB2-BD59-A6C34878D82A}">
                    <a16:rowId xmlns:a16="http://schemas.microsoft.com/office/drawing/2014/main" val="10003"/>
                  </a:ext>
                </a:extLst>
              </a:tr>
              <a:tr h="370840">
                <a:tc>
                  <a:txBody>
                    <a:bodyPr/>
                    <a:lstStyle/>
                    <a:p>
                      <a:r>
                        <a:rPr lang="en-US" dirty="0">
                          <a:solidFill>
                            <a:schemeClr val="accent4"/>
                          </a:solidFill>
                        </a:rPr>
                        <a:t>4</a:t>
                      </a:r>
                    </a:p>
                  </a:txBody>
                  <a:tcPr/>
                </a:tc>
                <a:tc>
                  <a:txBody>
                    <a:bodyPr/>
                    <a:lstStyle/>
                    <a:p>
                      <a:r>
                        <a:rPr lang="en-US" dirty="0"/>
                        <a:t>3</a:t>
                      </a:r>
                    </a:p>
                  </a:txBody>
                  <a:tcPr/>
                </a:tc>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CEFDFAA5-75BB-BE88-73CB-857F0BC6D59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450885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IN" sz="2700" b="1" dirty="0">
                <a:latin typeface="Times New Roman" pitchFamily="18" charset="0"/>
                <a:cs typeface="Times New Roman" pitchFamily="18" charset="0"/>
              </a:rPr>
              <a:t>Running Time Analysis of Simple Transpose </a:t>
            </a:r>
          </a:p>
        </p:txBody>
      </p:sp>
      <p:sp>
        <p:nvSpPr>
          <p:cNvPr id="21" name="Content Placeholder 20"/>
          <p:cNvSpPr>
            <a:spLocks noGrp="1"/>
          </p:cNvSpPr>
          <p:nvPr>
            <p:ph idx="1"/>
          </p:nvPr>
        </p:nvSpPr>
        <p:spPr>
          <a:xfrm>
            <a:off x="362311" y="1369219"/>
            <a:ext cx="8494609" cy="3263504"/>
          </a:xfrm>
        </p:spPr>
        <p:txBody>
          <a:bodyPr>
            <a:normAutofit/>
          </a:bodyPr>
          <a:lstStyle/>
          <a:p>
            <a:pPr algn="just"/>
            <a:r>
              <a:rPr lang="en-US" dirty="0">
                <a:latin typeface="Times New Roman" pitchFamily="18" charset="0"/>
                <a:cs typeface="Times New Roman" pitchFamily="18" charset="0"/>
              </a:rPr>
              <a:t>If there are n columns in m x n matrix and the number of non zero values are ‘t’, the total running time using simple transpose method is O(</a:t>
            </a:r>
            <a:r>
              <a:rPr lang="en-US" dirty="0" err="1">
                <a:latin typeface="Times New Roman" pitchFamily="18" charset="0"/>
                <a:cs typeface="Times New Roman" pitchFamily="18" charset="0"/>
              </a:rPr>
              <a:t>nt</a:t>
            </a:r>
            <a:r>
              <a:rPr lang="en-US" dirty="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a:p>
            <a:pPr marL="0" indent="0">
              <a:buNone/>
            </a:pPr>
            <a:endParaRPr lang="en-US" dirty="0"/>
          </a:p>
          <a:p>
            <a:pPr marL="0" indent="0">
              <a:buNone/>
            </a:pPr>
            <a:r>
              <a:rPr lang="en-US" dirty="0"/>
              <a:t>	</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7AA3CFD6-E841-ED8F-5387-53498FAAE0D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9814680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5795B-C692-4985-9805-950483DD625E}"/>
              </a:ext>
            </a:extLst>
          </p:cNvPr>
          <p:cNvSpPr>
            <a:spLocks noGrp="1"/>
          </p:cNvSpPr>
          <p:nvPr>
            <p:ph type="title"/>
          </p:nvPr>
        </p:nvSpPr>
        <p:spPr>
          <a:xfrm>
            <a:off x="628650" y="13692"/>
            <a:ext cx="7886700" cy="735413"/>
          </a:xfrm>
        </p:spPr>
        <p:txBody>
          <a:bodyPr>
            <a:normAutofit/>
          </a:bodyPr>
          <a:lstStyle/>
          <a:p>
            <a:pPr algn="ctr"/>
            <a:r>
              <a:rPr lang="en-US" sz="2400" b="1" dirty="0">
                <a:latin typeface="Times New Roman" pitchFamily="18" charset="0"/>
                <a:cs typeface="Times New Roman" pitchFamily="18" charset="0"/>
              </a:rPr>
              <a:t>Sparse Matrix  Fast Transpose</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11" name="Content Placeholder 10"/>
          <p:cNvGraphicFramePr>
            <a:graphicFrameLocks noGrp="1"/>
          </p:cNvGraphicFramePr>
          <p:nvPr>
            <p:ph idx="1"/>
          </p:nvPr>
        </p:nvGraphicFramePr>
        <p:xfrm>
          <a:off x="1196221" y="2673296"/>
          <a:ext cx="2282716" cy="185420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r>
                        <a:rPr lang="en-US" dirty="0">
                          <a:solidFill>
                            <a:schemeClr val="accent4"/>
                          </a:solidFill>
                          <a:latin typeface="Times New Roman" pitchFamily="18" charset="0"/>
                          <a:cs typeface="Times New Roman" pitchFamily="18" charset="0"/>
                        </a:rPr>
                        <a:t>0</a:t>
                      </a:r>
                    </a:p>
                  </a:txBody>
                  <a:tcPr/>
                </a:tc>
                <a:tc>
                  <a:txBody>
                    <a:bodyPr/>
                    <a:lstStyle/>
                    <a:p>
                      <a:r>
                        <a:rPr lang="en-US" dirty="0">
                          <a:solidFill>
                            <a:schemeClr val="accent4"/>
                          </a:solidFill>
                          <a:latin typeface="Times New Roman" pitchFamily="18" charset="0"/>
                          <a:cs typeface="Times New Roman" pitchFamily="18" charset="0"/>
                        </a:rPr>
                        <a:t>3</a:t>
                      </a:r>
                    </a:p>
                  </a:txBody>
                  <a:tcPr/>
                </a:tc>
                <a:tc>
                  <a:txBody>
                    <a:bodyPr/>
                    <a:lstStyle/>
                    <a:p>
                      <a:r>
                        <a:rPr lang="en-US" dirty="0">
                          <a:solidFill>
                            <a:schemeClr val="accent4"/>
                          </a:solidFill>
                          <a:latin typeface="Times New Roman" pitchFamily="18" charset="0"/>
                          <a:cs typeface="Times New Roman" pitchFamily="18" charset="0"/>
                        </a:rPr>
                        <a:t>3</a:t>
                      </a:r>
                    </a:p>
                  </a:txBody>
                  <a:tcPr/>
                </a:tc>
                <a:tc>
                  <a:txBody>
                    <a:bodyPr/>
                    <a:lstStyle/>
                    <a:p>
                      <a:r>
                        <a:rPr lang="en-US" dirty="0">
                          <a:solidFill>
                            <a:schemeClr val="accent4"/>
                          </a:solidFill>
                          <a:latin typeface="Times New Roman" pitchFamily="18" charset="0"/>
                          <a:cs typeface="Times New Roman" pitchFamily="18" charset="0"/>
                        </a:rPr>
                        <a:t>4</a:t>
                      </a:r>
                    </a:p>
                  </a:txBody>
                  <a:tcPr/>
                </a:tc>
                <a:extLst>
                  <a:ext uri="{0D108BD9-81ED-4DB2-BD59-A6C34878D82A}">
                    <a16:rowId xmlns:a16="http://schemas.microsoft.com/office/drawing/2014/main" val="10000"/>
                  </a:ext>
                </a:extLst>
              </a:tr>
              <a:tr h="370840">
                <a:tc>
                  <a:txBody>
                    <a:bodyPr/>
                    <a:lstStyle/>
                    <a:p>
                      <a:r>
                        <a:rPr lang="en-US" dirty="0">
                          <a:solidFill>
                            <a:schemeClr val="accent4"/>
                          </a:solidFill>
                          <a:latin typeface="Times New Roman" pitchFamily="18" charset="0"/>
                          <a:cs typeface="Times New Roman" pitchFamily="18" charset="0"/>
                        </a:rPr>
                        <a:t>1</a:t>
                      </a:r>
                    </a:p>
                  </a:txBody>
                  <a:tcPr/>
                </a:tc>
                <a:tc>
                  <a:txBody>
                    <a:bodyPr/>
                    <a:lstStyle/>
                    <a:p>
                      <a:r>
                        <a:rPr lang="en-US" dirty="0">
                          <a:latin typeface="Times New Roman" pitchFamily="18" charset="0"/>
                          <a:cs typeface="Times New Roman" pitchFamily="18" charset="0"/>
                        </a:rPr>
                        <a:t>1</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5</a:t>
                      </a:r>
                    </a:p>
                  </a:txBody>
                  <a:tcPr/>
                </a:tc>
                <a:extLst>
                  <a:ext uri="{0D108BD9-81ED-4DB2-BD59-A6C34878D82A}">
                    <a16:rowId xmlns:a16="http://schemas.microsoft.com/office/drawing/2014/main" val="10001"/>
                  </a:ext>
                </a:extLst>
              </a:tr>
              <a:tr h="370840">
                <a:tc>
                  <a:txBody>
                    <a:bodyPr/>
                    <a:lstStyle/>
                    <a:p>
                      <a:r>
                        <a:rPr lang="en-US" dirty="0">
                          <a:solidFill>
                            <a:schemeClr val="accent4"/>
                          </a:solidFill>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1</a:t>
                      </a:r>
                    </a:p>
                  </a:txBody>
                  <a:tcPr/>
                </a:tc>
                <a:tc>
                  <a:txBody>
                    <a:bodyPr/>
                    <a:lstStyle/>
                    <a:p>
                      <a:r>
                        <a:rPr lang="en-US" dirty="0">
                          <a:latin typeface="Times New Roman" pitchFamily="18" charset="0"/>
                          <a:cs typeface="Times New Roman" pitchFamily="18" charset="0"/>
                        </a:rPr>
                        <a:t>8</a:t>
                      </a:r>
                    </a:p>
                  </a:txBody>
                  <a:tcPr/>
                </a:tc>
                <a:extLst>
                  <a:ext uri="{0D108BD9-81ED-4DB2-BD59-A6C34878D82A}">
                    <a16:rowId xmlns:a16="http://schemas.microsoft.com/office/drawing/2014/main" val="10002"/>
                  </a:ext>
                </a:extLst>
              </a:tr>
              <a:tr h="370840">
                <a:tc>
                  <a:txBody>
                    <a:bodyPr/>
                    <a:lstStyle/>
                    <a:p>
                      <a:r>
                        <a:rPr lang="en-US" dirty="0">
                          <a:solidFill>
                            <a:schemeClr val="accent4"/>
                          </a:solidFill>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1</a:t>
                      </a:r>
                    </a:p>
                  </a:txBody>
                  <a:tcPr/>
                </a:tc>
                <a:extLst>
                  <a:ext uri="{0D108BD9-81ED-4DB2-BD59-A6C34878D82A}">
                    <a16:rowId xmlns:a16="http://schemas.microsoft.com/office/drawing/2014/main" val="10003"/>
                  </a:ext>
                </a:extLst>
              </a:tr>
              <a:tr h="370840">
                <a:tc>
                  <a:txBody>
                    <a:bodyPr/>
                    <a:lstStyle/>
                    <a:p>
                      <a:r>
                        <a:rPr lang="en-US" dirty="0">
                          <a:solidFill>
                            <a:schemeClr val="accent4"/>
                          </a:solidFill>
                          <a:latin typeface="Times New Roman" pitchFamily="18" charset="0"/>
                          <a:cs typeface="Times New Roman" pitchFamily="18" charset="0"/>
                        </a:rPr>
                        <a:t>4</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2</a:t>
                      </a:r>
                    </a:p>
                  </a:txBody>
                  <a:tcPr/>
                </a:tc>
                <a:extLst>
                  <a:ext uri="{0D108BD9-81ED-4DB2-BD59-A6C34878D82A}">
                    <a16:rowId xmlns:a16="http://schemas.microsoft.com/office/drawing/2014/main" val="10004"/>
                  </a:ext>
                </a:extLst>
              </a:tr>
            </a:tbl>
          </a:graphicData>
        </a:graphic>
      </p:graphicFrame>
      <p:sp>
        <p:nvSpPr>
          <p:cNvPr id="15" name="TextBox 14"/>
          <p:cNvSpPr txBox="1"/>
          <p:nvPr/>
        </p:nvSpPr>
        <p:spPr>
          <a:xfrm>
            <a:off x="4009697" y="3368565"/>
            <a:ext cx="431528" cy="369332"/>
          </a:xfrm>
          <a:prstGeom prst="rect">
            <a:avLst/>
          </a:prstGeom>
          <a:noFill/>
        </p:spPr>
        <p:txBody>
          <a:bodyPr wrap="none" rtlCol="0">
            <a:spAutoFit/>
          </a:bodyPr>
          <a:lstStyle/>
          <a:p>
            <a:r>
              <a:rPr lang="en-US" sz="1800" b="1" dirty="0">
                <a:sym typeface="Wingdings" pitchFamily="2" charset="2"/>
              </a:rPr>
              <a:t></a:t>
            </a:r>
            <a:endParaRPr lang="en-US" sz="1800" b="1" dirty="0"/>
          </a:p>
        </p:txBody>
      </p:sp>
      <p:graphicFrame>
        <p:nvGraphicFramePr>
          <p:cNvPr id="9" name="Content Placeholder 10"/>
          <p:cNvGraphicFramePr>
            <a:graphicFrameLocks/>
          </p:cNvGraphicFramePr>
          <p:nvPr/>
        </p:nvGraphicFramePr>
        <p:xfrm>
          <a:off x="4964179" y="2699572"/>
          <a:ext cx="2282716" cy="1854200"/>
        </p:xfrm>
        <a:graphic>
          <a:graphicData uri="http://schemas.openxmlformats.org/drawingml/2006/table">
            <a:tbl>
              <a:tblPr firstRow="1" bandRow="1">
                <a:tableStyleId>{5940675A-B579-460E-94D1-54222C63F5DA}</a:tableStyleId>
              </a:tblPr>
              <a:tblGrid>
                <a:gridCol w="570679">
                  <a:extLst>
                    <a:ext uri="{9D8B030D-6E8A-4147-A177-3AD203B41FA5}">
                      <a16:colId xmlns:a16="http://schemas.microsoft.com/office/drawing/2014/main" val="20000"/>
                    </a:ext>
                  </a:extLst>
                </a:gridCol>
                <a:gridCol w="570679">
                  <a:extLst>
                    <a:ext uri="{9D8B030D-6E8A-4147-A177-3AD203B41FA5}">
                      <a16:colId xmlns:a16="http://schemas.microsoft.com/office/drawing/2014/main" val="20001"/>
                    </a:ext>
                  </a:extLst>
                </a:gridCol>
                <a:gridCol w="570679">
                  <a:extLst>
                    <a:ext uri="{9D8B030D-6E8A-4147-A177-3AD203B41FA5}">
                      <a16:colId xmlns:a16="http://schemas.microsoft.com/office/drawing/2014/main" val="20002"/>
                    </a:ext>
                  </a:extLst>
                </a:gridCol>
                <a:gridCol w="570679">
                  <a:extLst>
                    <a:ext uri="{9D8B030D-6E8A-4147-A177-3AD203B41FA5}">
                      <a16:colId xmlns:a16="http://schemas.microsoft.com/office/drawing/2014/main" val="20003"/>
                    </a:ext>
                  </a:extLst>
                </a:gridCol>
              </a:tblGrid>
              <a:tr h="370840">
                <a:tc>
                  <a:txBody>
                    <a:bodyPr/>
                    <a:lstStyle/>
                    <a:p>
                      <a:r>
                        <a:rPr lang="en-US" dirty="0">
                          <a:solidFill>
                            <a:schemeClr val="accent4"/>
                          </a:solidFill>
                          <a:latin typeface="Times New Roman" pitchFamily="18" charset="0"/>
                          <a:cs typeface="Times New Roman" pitchFamily="18" charset="0"/>
                        </a:rPr>
                        <a:t>0</a:t>
                      </a:r>
                    </a:p>
                  </a:txBody>
                  <a:tcPr/>
                </a:tc>
                <a:tc>
                  <a:txBody>
                    <a:bodyPr/>
                    <a:lstStyle/>
                    <a:p>
                      <a:r>
                        <a:rPr lang="en-US" dirty="0">
                          <a:solidFill>
                            <a:schemeClr val="accent4"/>
                          </a:solidFill>
                          <a:latin typeface="Times New Roman" pitchFamily="18" charset="0"/>
                          <a:cs typeface="Times New Roman" pitchFamily="18" charset="0"/>
                        </a:rPr>
                        <a:t>3</a:t>
                      </a:r>
                    </a:p>
                  </a:txBody>
                  <a:tcPr/>
                </a:tc>
                <a:tc>
                  <a:txBody>
                    <a:bodyPr/>
                    <a:lstStyle/>
                    <a:p>
                      <a:r>
                        <a:rPr lang="en-US" dirty="0">
                          <a:solidFill>
                            <a:schemeClr val="accent4"/>
                          </a:solidFill>
                          <a:latin typeface="Times New Roman" pitchFamily="18" charset="0"/>
                          <a:cs typeface="Times New Roman" pitchFamily="18" charset="0"/>
                        </a:rPr>
                        <a:t>3</a:t>
                      </a:r>
                    </a:p>
                  </a:txBody>
                  <a:tcPr/>
                </a:tc>
                <a:tc>
                  <a:txBody>
                    <a:bodyPr/>
                    <a:lstStyle/>
                    <a:p>
                      <a:r>
                        <a:rPr lang="en-US" dirty="0">
                          <a:solidFill>
                            <a:schemeClr val="accent4"/>
                          </a:solidFill>
                          <a:latin typeface="Times New Roman" pitchFamily="18" charset="0"/>
                          <a:cs typeface="Times New Roman" pitchFamily="18" charset="0"/>
                        </a:rPr>
                        <a:t>4</a:t>
                      </a:r>
                    </a:p>
                  </a:txBody>
                  <a:tcPr/>
                </a:tc>
                <a:extLst>
                  <a:ext uri="{0D108BD9-81ED-4DB2-BD59-A6C34878D82A}">
                    <a16:rowId xmlns:a16="http://schemas.microsoft.com/office/drawing/2014/main" val="10000"/>
                  </a:ext>
                </a:extLst>
              </a:tr>
              <a:tr h="370840">
                <a:tc>
                  <a:txBody>
                    <a:bodyPr/>
                    <a:lstStyle/>
                    <a:p>
                      <a:r>
                        <a:rPr lang="en-US" dirty="0">
                          <a:solidFill>
                            <a:schemeClr val="accent4"/>
                          </a:solidFill>
                          <a:latin typeface="Times New Roman" pitchFamily="18" charset="0"/>
                          <a:cs typeface="Times New Roman" pitchFamily="18" charset="0"/>
                        </a:rPr>
                        <a:t>1</a:t>
                      </a:r>
                    </a:p>
                  </a:txBody>
                  <a:tcPr/>
                </a:tc>
                <a:tc>
                  <a:txBody>
                    <a:bodyPr/>
                    <a:lstStyle/>
                    <a:p>
                      <a:r>
                        <a:rPr lang="en-US" dirty="0">
                          <a:latin typeface="Times New Roman" pitchFamily="18" charset="0"/>
                          <a:cs typeface="Times New Roman" pitchFamily="18" charset="0"/>
                        </a:rPr>
                        <a:t>1</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8</a:t>
                      </a:r>
                    </a:p>
                  </a:txBody>
                  <a:tcPr/>
                </a:tc>
                <a:extLst>
                  <a:ext uri="{0D108BD9-81ED-4DB2-BD59-A6C34878D82A}">
                    <a16:rowId xmlns:a16="http://schemas.microsoft.com/office/drawing/2014/main" val="10001"/>
                  </a:ext>
                </a:extLst>
              </a:tr>
              <a:tr h="370840">
                <a:tc>
                  <a:txBody>
                    <a:bodyPr/>
                    <a:lstStyle/>
                    <a:p>
                      <a:r>
                        <a:rPr lang="en-US" dirty="0">
                          <a:solidFill>
                            <a:schemeClr val="accent4"/>
                          </a:solidFill>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1</a:t>
                      </a:r>
                    </a:p>
                  </a:txBody>
                  <a:tcPr/>
                </a:tc>
                <a:tc>
                  <a:txBody>
                    <a:bodyPr/>
                    <a:lstStyle/>
                    <a:p>
                      <a:r>
                        <a:rPr lang="en-US" dirty="0">
                          <a:latin typeface="Times New Roman" pitchFamily="18" charset="0"/>
                          <a:cs typeface="Times New Roman" pitchFamily="18" charset="0"/>
                        </a:rPr>
                        <a:t>5</a:t>
                      </a:r>
                    </a:p>
                  </a:txBody>
                  <a:tcPr/>
                </a:tc>
                <a:extLst>
                  <a:ext uri="{0D108BD9-81ED-4DB2-BD59-A6C34878D82A}">
                    <a16:rowId xmlns:a16="http://schemas.microsoft.com/office/drawing/2014/main" val="10002"/>
                  </a:ext>
                </a:extLst>
              </a:tr>
              <a:tr h="370840">
                <a:tc>
                  <a:txBody>
                    <a:bodyPr/>
                    <a:lstStyle/>
                    <a:p>
                      <a:r>
                        <a:rPr lang="en-US" dirty="0">
                          <a:solidFill>
                            <a:schemeClr val="accent4"/>
                          </a:solidFill>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2</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1</a:t>
                      </a:r>
                    </a:p>
                  </a:txBody>
                  <a:tcPr/>
                </a:tc>
                <a:extLst>
                  <a:ext uri="{0D108BD9-81ED-4DB2-BD59-A6C34878D82A}">
                    <a16:rowId xmlns:a16="http://schemas.microsoft.com/office/drawing/2014/main" val="10003"/>
                  </a:ext>
                </a:extLst>
              </a:tr>
              <a:tr h="370840">
                <a:tc>
                  <a:txBody>
                    <a:bodyPr/>
                    <a:lstStyle/>
                    <a:p>
                      <a:r>
                        <a:rPr lang="en-US" dirty="0">
                          <a:solidFill>
                            <a:schemeClr val="accent4"/>
                          </a:solidFill>
                          <a:latin typeface="Times New Roman" pitchFamily="18" charset="0"/>
                          <a:cs typeface="Times New Roman" pitchFamily="18" charset="0"/>
                        </a:rPr>
                        <a:t>4</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3</a:t>
                      </a:r>
                    </a:p>
                  </a:txBody>
                  <a:tcPr/>
                </a:tc>
                <a:tc>
                  <a:txBody>
                    <a:bodyPr/>
                    <a:lstStyle/>
                    <a:p>
                      <a:r>
                        <a:rPr lang="en-US" dirty="0">
                          <a:latin typeface="Times New Roman" pitchFamily="18" charset="0"/>
                          <a:cs typeface="Times New Roman" pitchFamily="18" charset="0"/>
                        </a:rPr>
                        <a:t>2</a:t>
                      </a:r>
                    </a:p>
                  </a:txBody>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nvGraphicFramePr>
        <p:xfrm>
          <a:off x="1313793" y="1212411"/>
          <a:ext cx="1781505" cy="634015"/>
        </p:xfrm>
        <a:graphic>
          <a:graphicData uri="http://schemas.openxmlformats.org/drawingml/2006/table">
            <a:tbl>
              <a:tblPr firstRow="1" bandRow="1">
                <a:tableStyleId>{5940675A-B579-460E-94D1-54222C63F5DA}</a:tableStyleId>
              </a:tblPr>
              <a:tblGrid>
                <a:gridCol w="593835">
                  <a:extLst>
                    <a:ext uri="{9D8B030D-6E8A-4147-A177-3AD203B41FA5}">
                      <a16:colId xmlns:a16="http://schemas.microsoft.com/office/drawing/2014/main" val="20000"/>
                    </a:ext>
                  </a:extLst>
                </a:gridCol>
                <a:gridCol w="593835">
                  <a:extLst>
                    <a:ext uri="{9D8B030D-6E8A-4147-A177-3AD203B41FA5}">
                      <a16:colId xmlns:a16="http://schemas.microsoft.com/office/drawing/2014/main" val="20001"/>
                    </a:ext>
                  </a:extLst>
                </a:gridCol>
                <a:gridCol w="593835">
                  <a:extLst>
                    <a:ext uri="{9D8B030D-6E8A-4147-A177-3AD203B41FA5}">
                      <a16:colId xmlns:a16="http://schemas.microsoft.com/office/drawing/2014/main" val="20002"/>
                    </a:ext>
                  </a:extLst>
                </a:gridCol>
              </a:tblGrid>
              <a:tr h="280058">
                <a:tc>
                  <a:txBody>
                    <a:bodyPr/>
                    <a:lstStyle/>
                    <a:p>
                      <a:pPr algn="ctr"/>
                      <a:r>
                        <a:rPr lang="en-US" dirty="0">
                          <a:solidFill>
                            <a:schemeClr val="accent4"/>
                          </a:solidFill>
                          <a:latin typeface="Times New Roman" pitchFamily="18" charset="0"/>
                          <a:cs typeface="Times New Roman" pitchFamily="18" charset="0"/>
                        </a:rPr>
                        <a:t>1</a:t>
                      </a:r>
                    </a:p>
                  </a:txBody>
                  <a:tcPr/>
                </a:tc>
                <a:tc>
                  <a:txBody>
                    <a:bodyPr/>
                    <a:lstStyle/>
                    <a:p>
                      <a:pPr algn="ctr"/>
                      <a:r>
                        <a:rPr lang="en-US" dirty="0">
                          <a:solidFill>
                            <a:schemeClr val="accent4"/>
                          </a:solidFill>
                          <a:latin typeface="Times New Roman" pitchFamily="18" charset="0"/>
                          <a:cs typeface="Times New Roman" pitchFamily="18" charset="0"/>
                        </a:rPr>
                        <a:t>2</a:t>
                      </a:r>
                    </a:p>
                  </a:txBody>
                  <a:tcPr/>
                </a:tc>
                <a:tc>
                  <a:txBody>
                    <a:bodyPr/>
                    <a:lstStyle/>
                    <a:p>
                      <a:pPr algn="ctr"/>
                      <a:r>
                        <a:rPr lang="en-US" dirty="0">
                          <a:solidFill>
                            <a:schemeClr val="accent4"/>
                          </a:solidFill>
                          <a:latin typeface="Times New Roman" pitchFamily="18" charset="0"/>
                          <a:cs typeface="Times New Roman" pitchFamily="18" charset="0"/>
                        </a:rPr>
                        <a:t>3</a:t>
                      </a:r>
                    </a:p>
                  </a:txBody>
                  <a:tcPr/>
                </a:tc>
                <a:extLst>
                  <a:ext uri="{0D108BD9-81ED-4DB2-BD59-A6C34878D82A}">
                    <a16:rowId xmlns:a16="http://schemas.microsoft.com/office/drawing/2014/main" val="10000"/>
                  </a:ext>
                </a:extLst>
              </a:tr>
              <a:tr h="329215">
                <a:tc>
                  <a:txBody>
                    <a:bodyPr/>
                    <a:lstStyle/>
                    <a:p>
                      <a:pPr algn="ctr"/>
                      <a:r>
                        <a:rPr lang="en-US" dirty="0">
                          <a:latin typeface="Times New Roman" pitchFamily="18" charset="0"/>
                          <a:cs typeface="Times New Roman" pitchFamily="18" charset="0"/>
                        </a:rPr>
                        <a:t>1</a:t>
                      </a:r>
                    </a:p>
                  </a:txBody>
                  <a:tcPr/>
                </a:tc>
                <a:tc>
                  <a:txBody>
                    <a:bodyPr/>
                    <a:lstStyle/>
                    <a:p>
                      <a:pPr algn="ctr"/>
                      <a:r>
                        <a:rPr lang="en-US" dirty="0">
                          <a:latin typeface="Times New Roman" pitchFamily="18" charset="0"/>
                          <a:cs typeface="Times New Roman" pitchFamily="18" charset="0"/>
                        </a:rPr>
                        <a:t>2</a:t>
                      </a:r>
                    </a:p>
                  </a:txBody>
                  <a:tcPr/>
                </a:tc>
                <a:tc>
                  <a:txBody>
                    <a:bodyPr/>
                    <a:lstStyle/>
                    <a:p>
                      <a:pPr algn="ctr"/>
                      <a:r>
                        <a:rPr lang="en-US" dirty="0">
                          <a:latin typeface="Times New Roman" pitchFamily="18" charset="0"/>
                          <a:cs typeface="Times New Roman" pitchFamily="18" charset="0"/>
                        </a:rPr>
                        <a:t>1</a:t>
                      </a:r>
                    </a:p>
                  </a:txBody>
                  <a:tcPr/>
                </a:tc>
                <a:extLst>
                  <a:ext uri="{0D108BD9-81ED-4DB2-BD59-A6C34878D82A}">
                    <a16:rowId xmlns:a16="http://schemas.microsoft.com/office/drawing/2014/main" val="10001"/>
                  </a:ext>
                </a:extLst>
              </a:tr>
            </a:tbl>
          </a:graphicData>
        </a:graphic>
      </p:graphicFrame>
      <p:sp>
        <p:nvSpPr>
          <p:cNvPr id="13" name="TextBox 12"/>
          <p:cNvSpPr txBox="1"/>
          <p:nvPr/>
        </p:nvSpPr>
        <p:spPr>
          <a:xfrm>
            <a:off x="935420" y="903890"/>
            <a:ext cx="3169522" cy="307777"/>
          </a:xfrm>
          <a:prstGeom prst="rect">
            <a:avLst/>
          </a:prstGeom>
          <a:noFill/>
        </p:spPr>
        <p:txBody>
          <a:bodyPr wrap="none" rtlCol="0">
            <a:spAutoFit/>
          </a:bodyPr>
          <a:lstStyle/>
          <a:p>
            <a:r>
              <a:rPr lang="en-US" dirty="0">
                <a:latin typeface="Times New Roman" pitchFamily="18" charset="0"/>
                <a:cs typeface="Times New Roman" pitchFamily="18" charset="0"/>
              </a:rPr>
              <a:t>Number of elements in each column of A</a:t>
            </a:r>
          </a:p>
        </p:txBody>
      </p:sp>
      <p:sp>
        <p:nvSpPr>
          <p:cNvPr id="14" name="TextBox 13"/>
          <p:cNvSpPr txBox="1"/>
          <p:nvPr/>
        </p:nvSpPr>
        <p:spPr>
          <a:xfrm>
            <a:off x="2154621" y="4561490"/>
            <a:ext cx="288862" cy="307777"/>
          </a:xfrm>
          <a:prstGeom prst="rect">
            <a:avLst/>
          </a:prstGeom>
          <a:noFill/>
        </p:spPr>
        <p:txBody>
          <a:bodyPr wrap="none" rtlCol="0">
            <a:spAutoFit/>
          </a:bodyPr>
          <a:lstStyle/>
          <a:p>
            <a:r>
              <a:rPr lang="en-US" dirty="0"/>
              <a:t>A</a:t>
            </a:r>
          </a:p>
        </p:txBody>
      </p:sp>
      <p:sp>
        <p:nvSpPr>
          <p:cNvPr id="16" name="TextBox 15"/>
          <p:cNvSpPr txBox="1"/>
          <p:nvPr/>
        </p:nvSpPr>
        <p:spPr>
          <a:xfrm>
            <a:off x="5943601" y="4582510"/>
            <a:ext cx="288862" cy="307777"/>
          </a:xfrm>
          <a:prstGeom prst="rect">
            <a:avLst/>
          </a:prstGeom>
          <a:noFill/>
        </p:spPr>
        <p:txBody>
          <a:bodyPr wrap="square" rtlCol="0">
            <a:spAutoFit/>
          </a:bodyPr>
          <a:lstStyle/>
          <a:p>
            <a:r>
              <a:rPr lang="en-US" dirty="0"/>
              <a:t>T</a:t>
            </a:r>
          </a:p>
        </p:txBody>
      </p:sp>
      <p:sp>
        <p:nvSpPr>
          <p:cNvPr id="17" name="TextBox 16"/>
          <p:cNvSpPr txBox="1"/>
          <p:nvPr/>
        </p:nvSpPr>
        <p:spPr>
          <a:xfrm>
            <a:off x="5039710" y="919658"/>
            <a:ext cx="2565061" cy="307777"/>
          </a:xfrm>
          <a:prstGeom prst="rect">
            <a:avLst/>
          </a:prstGeom>
          <a:noFill/>
        </p:spPr>
        <p:txBody>
          <a:bodyPr wrap="none" rtlCol="0">
            <a:spAutoFit/>
          </a:bodyPr>
          <a:lstStyle/>
          <a:p>
            <a:r>
              <a:rPr lang="en-US" dirty="0">
                <a:latin typeface="Times New Roman" pitchFamily="18" charset="0"/>
                <a:cs typeface="Times New Roman" pitchFamily="18" charset="0"/>
              </a:rPr>
              <a:t>Starting index  of each row in  T</a:t>
            </a:r>
          </a:p>
        </p:txBody>
      </p:sp>
      <p:graphicFrame>
        <p:nvGraphicFramePr>
          <p:cNvPr id="18" name="Table 17"/>
          <p:cNvGraphicFramePr>
            <a:graphicFrameLocks noGrp="1"/>
          </p:cNvGraphicFramePr>
          <p:nvPr/>
        </p:nvGraphicFramePr>
        <p:xfrm>
          <a:off x="5333999" y="1238691"/>
          <a:ext cx="1781505" cy="634015"/>
        </p:xfrm>
        <a:graphic>
          <a:graphicData uri="http://schemas.openxmlformats.org/drawingml/2006/table">
            <a:tbl>
              <a:tblPr firstRow="1" bandRow="1">
                <a:tableStyleId>{5940675A-B579-460E-94D1-54222C63F5DA}</a:tableStyleId>
              </a:tblPr>
              <a:tblGrid>
                <a:gridCol w="593835">
                  <a:extLst>
                    <a:ext uri="{9D8B030D-6E8A-4147-A177-3AD203B41FA5}">
                      <a16:colId xmlns:a16="http://schemas.microsoft.com/office/drawing/2014/main" val="20000"/>
                    </a:ext>
                  </a:extLst>
                </a:gridCol>
                <a:gridCol w="593835">
                  <a:extLst>
                    <a:ext uri="{9D8B030D-6E8A-4147-A177-3AD203B41FA5}">
                      <a16:colId xmlns:a16="http://schemas.microsoft.com/office/drawing/2014/main" val="20001"/>
                    </a:ext>
                  </a:extLst>
                </a:gridCol>
                <a:gridCol w="593835">
                  <a:extLst>
                    <a:ext uri="{9D8B030D-6E8A-4147-A177-3AD203B41FA5}">
                      <a16:colId xmlns:a16="http://schemas.microsoft.com/office/drawing/2014/main" val="20002"/>
                    </a:ext>
                  </a:extLst>
                </a:gridCol>
              </a:tblGrid>
              <a:tr h="280058">
                <a:tc>
                  <a:txBody>
                    <a:bodyPr/>
                    <a:lstStyle/>
                    <a:p>
                      <a:pPr algn="ctr"/>
                      <a:r>
                        <a:rPr lang="en-US" dirty="0">
                          <a:solidFill>
                            <a:schemeClr val="accent4"/>
                          </a:solidFill>
                          <a:latin typeface="Times New Roman" pitchFamily="18" charset="0"/>
                          <a:cs typeface="Times New Roman" pitchFamily="18" charset="0"/>
                        </a:rPr>
                        <a:t>1</a:t>
                      </a:r>
                    </a:p>
                  </a:txBody>
                  <a:tcPr/>
                </a:tc>
                <a:tc>
                  <a:txBody>
                    <a:bodyPr/>
                    <a:lstStyle/>
                    <a:p>
                      <a:pPr algn="ctr"/>
                      <a:r>
                        <a:rPr lang="en-US" dirty="0">
                          <a:solidFill>
                            <a:schemeClr val="accent4"/>
                          </a:solidFill>
                          <a:latin typeface="Times New Roman" pitchFamily="18" charset="0"/>
                          <a:cs typeface="Times New Roman" pitchFamily="18" charset="0"/>
                        </a:rPr>
                        <a:t>2</a:t>
                      </a:r>
                    </a:p>
                  </a:txBody>
                  <a:tcPr/>
                </a:tc>
                <a:tc>
                  <a:txBody>
                    <a:bodyPr/>
                    <a:lstStyle/>
                    <a:p>
                      <a:pPr algn="ctr"/>
                      <a:r>
                        <a:rPr lang="en-US" dirty="0">
                          <a:solidFill>
                            <a:schemeClr val="accent4"/>
                          </a:solidFill>
                          <a:latin typeface="Times New Roman" pitchFamily="18" charset="0"/>
                          <a:cs typeface="Times New Roman" pitchFamily="18" charset="0"/>
                        </a:rPr>
                        <a:t>3</a:t>
                      </a:r>
                    </a:p>
                  </a:txBody>
                  <a:tcPr/>
                </a:tc>
                <a:extLst>
                  <a:ext uri="{0D108BD9-81ED-4DB2-BD59-A6C34878D82A}">
                    <a16:rowId xmlns:a16="http://schemas.microsoft.com/office/drawing/2014/main" val="10000"/>
                  </a:ext>
                </a:extLst>
              </a:tr>
              <a:tr h="329215">
                <a:tc>
                  <a:txBody>
                    <a:bodyPr/>
                    <a:lstStyle/>
                    <a:p>
                      <a:pPr algn="ctr"/>
                      <a:r>
                        <a:rPr lang="en-US" dirty="0">
                          <a:latin typeface="Times New Roman" pitchFamily="18" charset="0"/>
                          <a:cs typeface="Times New Roman" pitchFamily="18" charset="0"/>
                        </a:rPr>
                        <a:t>1</a:t>
                      </a:r>
                    </a:p>
                  </a:txBody>
                  <a:tcPr/>
                </a:tc>
                <a:tc>
                  <a:txBody>
                    <a:bodyPr/>
                    <a:lstStyle/>
                    <a:p>
                      <a:pPr algn="ctr"/>
                      <a:r>
                        <a:rPr lang="en-US" dirty="0">
                          <a:latin typeface="Times New Roman" pitchFamily="18" charset="0"/>
                          <a:cs typeface="Times New Roman" pitchFamily="18" charset="0"/>
                        </a:rPr>
                        <a:t>2</a:t>
                      </a:r>
                    </a:p>
                  </a:txBody>
                  <a:tcPr/>
                </a:tc>
                <a:tc>
                  <a:txBody>
                    <a:bodyPr/>
                    <a:lstStyle/>
                    <a:p>
                      <a:pPr algn="ctr"/>
                      <a:r>
                        <a:rPr lang="en-US" dirty="0">
                          <a:latin typeface="Times New Roman" pitchFamily="18" charset="0"/>
                          <a:cs typeface="Times New Roman" pitchFamily="18" charset="0"/>
                        </a:rPr>
                        <a:t>4</a:t>
                      </a:r>
                    </a:p>
                  </a:txBody>
                  <a:tcPr/>
                </a:tc>
                <a:extLst>
                  <a:ext uri="{0D108BD9-81ED-4DB2-BD59-A6C34878D82A}">
                    <a16:rowId xmlns:a16="http://schemas.microsoft.com/office/drawing/2014/main" val="10001"/>
                  </a:ext>
                </a:extLst>
              </a:tr>
            </a:tbl>
          </a:graphicData>
        </a:graphic>
      </p:graphicFrame>
      <p:sp>
        <p:nvSpPr>
          <p:cNvPr id="3" name="Rectangle 2">
            <a:extLst>
              <a:ext uri="{FF2B5EF4-FFF2-40B4-BE49-F238E27FC236}">
                <a16:creationId xmlns:a16="http://schemas.microsoft.com/office/drawing/2014/main" id="{2E0B60A7-6060-9E07-BE3C-697FD3B9EDE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222147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IN" sz="2700" b="1" dirty="0">
                <a:latin typeface="Times New Roman" pitchFamily="18" charset="0"/>
                <a:cs typeface="Times New Roman" pitchFamily="18" charset="0"/>
              </a:rPr>
              <a:t>Fast Transpose Algorithm</a:t>
            </a:r>
          </a:p>
        </p:txBody>
      </p:sp>
      <p:sp>
        <p:nvSpPr>
          <p:cNvPr id="21" name="Content Placeholder 20"/>
          <p:cNvSpPr>
            <a:spLocks noGrp="1"/>
          </p:cNvSpPr>
          <p:nvPr>
            <p:ph idx="1"/>
          </p:nvPr>
        </p:nvSpPr>
        <p:spPr/>
        <p:txBody>
          <a:bodyPr>
            <a:normAutofit/>
          </a:bodyPr>
          <a:lstStyle/>
          <a:p>
            <a:pPr algn="just"/>
            <a:r>
              <a:rPr lang="en-US" dirty="0">
                <a:latin typeface="Times New Roman" pitchFamily="18" charset="0"/>
                <a:cs typeface="Times New Roman" pitchFamily="18" charset="0"/>
              </a:rPr>
              <a:t>Find the number of elements in column of A</a:t>
            </a:r>
          </a:p>
          <a:p>
            <a:pPr algn="just"/>
            <a:r>
              <a:rPr lang="en-US" dirty="0">
                <a:latin typeface="Times New Roman" pitchFamily="18" charset="0"/>
                <a:cs typeface="Times New Roman" pitchFamily="18" charset="0"/>
              </a:rPr>
              <a:t>This gives elements in each row of T</a:t>
            </a:r>
          </a:p>
          <a:p>
            <a:pPr algn="just"/>
            <a:r>
              <a:rPr lang="en-US" dirty="0">
                <a:latin typeface="Times New Roman" pitchFamily="18" charset="0"/>
                <a:cs typeface="Times New Roman" pitchFamily="18" charset="0"/>
              </a:rPr>
              <a:t>Using it, calculate starting position (index) of each row in T</a:t>
            </a:r>
          </a:p>
          <a:p>
            <a:pPr algn="just"/>
            <a:r>
              <a:rPr lang="en-US" dirty="0">
                <a:latin typeface="Times New Roman" pitchFamily="18" charset="0"/>
                <a:cs typeface="Times New Roman" pitchFamily="18" charset="0"/>
              </a:rPr>
              <a:t>Move each element of A one by one to its correct position in T</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EC74A420-F6CF-07F8-E777-E40E05CACAF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1685127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183368"/>
            <a:ext cx="7886700" cy="994172"/>
          </a:xfrm>
        </p:spPr>
        <p:txBody>
          <a:bodyPr>
            <a:noAutofit/>
          </a:bodyPr>
          <a:lstStyle/>
          <a:p>
            <a:pPr algn="ctr"/>
            <a:r>
              <a:rPr lang="en-IN" sz="2700" b="1" dirty="0"/>
              <a:t>Fast Transpose –Pseudo Code</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21" name="Content Placeholder 20"/>
          <p:cNvSpPr>
            <a:spLocks noGrp="1"/>
          </p:cNvSpPr>
          <p:nvPr>
            <p:ph idx="1"/>
          </p:nvPr>
        </p:nvSpPr>
        <p:spPr>
          <a:xfrm>
            <a:off x="685800" y="606056"/>
            <a:ext cx="7829549" cy="4199859"/>
          </a:xfrm>
        </p:spPr>
        <p:txBody>
          <a:bodyPr>
            <a:noAutofit/>
          </a:bodyPr>
          <a:lstStyle/>
          <a:p>
            <a:pPr>
              <a:buNone/>
            </a:pPr>
            <a:r>
              <a:rPr lang="en-US" sz="1400" dirty="0" err="1">
                <a:latin typeface="Times New Roman" pitchFamily="18" charset="0"/>
                <a:cs typeface="Times New Roman" pitchFamily="18" charset="0"/>
              </a:rPr>
              <a:t>int</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j ,m, n, pos[3]={0,0,0},count[3]={0,0,0}</a:t>
            </a:r>
          </a:p>
          <a:p>
            <a:pPr>
              <a:buNone/>
            </a:pPr>
            <a:r>
              <a:rPr lang="en-US" sz="1400" dirty="0">
                <a:latin typeface="Times New Roman" pitchFamily="18" charset="0"/>
                <a:cs typeface="Times New Roman" pitchFamily="18" charset="0"/>
              </a:rPr>
              <a:t>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=1 to  B[0][3]</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m = B[</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][2]    </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count[m]++</a:t>
            </a:r>
          </a:p>
          <a:p>
            <a:pPr>
              <a:buNone/>
            </a:pPr>
            <a:r>
              <a:rPr lang="en-US" sz="1400" dirty="0">
                <a:latin typeface="Times New Roman" pitchFamily="18" charset="0"/>
                <a:cs typeface="Times New Roman" pitchFamily="18" charset="0"/>
              </a:rPr>
              <a:t>pos[0] = 1;</a:t>
            </a:r>
          </a:p>
          <a:p>
            <a:pPr>
              <a:buNone/>
            </a:pPr>
            <a:r>
              <a:rPr lang="en-US" sz="1400" dirty="0">
                <a:latin typeface="Times New Roman" pitchFamily="18" charset="0"/>
                <a:cs typeface="Times New Roman" pitchFamily="18" charset="0"/>
              </a:rPr>
              <a:t>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=1  to B[0][2]</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pos[</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 = pos [i-1] + count[i-1];</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    </a:t>
            </a:r>
          </a:p>
          <a:p>
            <a:pPr>
              <a:buNone/>
            </a:pPr>
            <a:r>
              <a:rPr lang="en-US" sz="1400" dirty="0">
                <a:latin typeface="Times New Roman" pitchFamily="18" charset="0"/>
                <a:cs typeface="Times New Roman" pitchFamily="18" charset="0"/>
              </a:rPr>
              <a:t>for  </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=1 to B[0][3]</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m = B[</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][2];</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n= pos[m];</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pos[m]++;</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C[n][1] = B[</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][2];</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C[n][2] = B[</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][1];</a:t>
            </a:r>
            <a:br>
              <a:rPr lang="en-US" sz="1400" dirty="0">
                <a:latin typeface="Times New Roman" pitchFamily="18" charset="0"/>
                <a:cs typeface="Times New Roman" pitchFamily="18" charset="0"/>
              </a:rPr>
            </a:br>
            <a:r>
              <a:rPr lang="en-US" sz="1400" dirty="0">
                <a:latin typeface="Times New Roman" pitchFamily="18" charset="0"/>
                <a:cs typeface="Times New Roman" pitchFamily="18" charset="0"/>
              </a:rPr>
              <a:t>C[n][3] = B[</a:t>
            </a:r>
            <a:r>
              <a:rPr lang="en-US" sz="1400" dirty="0" err="1">
                <a:latin typeface="Times New Roman" pitchFamily="18" charset="0"/>
                <a:cs typeface="Times New Roman" pitchFamily="18" charset="0"/>
              </a:rPr>
              <a:t>i</a:t>
            </a:r>
            <a:r>
              <a:rPr lang="en-US" sz="1400" dirty="0">
                <a:latin typeface="Times New Roman" pitchFamily="18" charset="0"/>
                <a:cs typeface="Times New Roman" pitchFamily="18" charset="0"/>
              </a:rPr>
              <a:t>][3];</a:t>
            </a:r>
          </a:p>
          <a:p>
            <a:pPr>
              <a:buNone/>
            </a:pPr>
            <a:r>
              <a:rPr lang="en-US" sz="1400" dirty="0">
                <a:latin typeface="Times New Roman" pitchFamily="18" charset="0"/>
                <a:cs typeface="Times New Roman" pitchFamily="18" charset="0"/>
              </a:rPr>
              <a:t>C[0][0] = B[0][0];</a:t>
            </a:r>
          </a:p>
          <a:p>
            <a:pPr>
              <a:buNone/>
            </a:pPr>
            <a:r>
              <a:rPr lang="en-US" sz="1400" dirty="0">
                <a:latin typeface="Times New Roman" pitchFamily="18" charset="0"/>
                <a:cs typeface="Times New Roman" pitchFamily="18" charset="0"/>
              </a:rPr>
              <a:t>C[0][1] = B[0][1];</a:t>
            </a:r>
          </a:p>
          <a:p>
            <a:pPr>
              <a:buNone/>
            </a:pPr>
            <a:r>
              <a:rPr lang="en-US" sz="1400" dirty="0">
                <a:latin typeface="Times New Roman" pitchFamily="18" charset="0"/>
                <a:cs typeface="Times New Roman" pitchFamily="18" charset="0"/>
              </a:rPr>
              <a:t>C[0][2] = B[0][2]            ;</a:t>
            </a:r>
            <a:endParaRPr lang="en-US" sz="1200" dirty="0">
              <a:latin typeface="Times New Roman" pitchFamily="18" charset="0"/>
              <a:cs typeface="Times New Roman" pitchFamily="18" charset="0"/>
            </a:endParaRPr>
          </a:p>
          <a:p>
            <a:endParaRPr lang="en-US" sz="1200" dirty="0">
              <a:latin typeface="Times New Roman" pitchFamily="18" charset="0"/>
              <a:cs typeface="Times New Roman" pitchFamily="18" charset="0"/>
            </a:endParaRPr>
          </a:p>
        </p:txBody>
      </p:sp>
      <p:sp>
        <p:nvSpPr>
          <p:cNvPr id="3" name="Rectangle 2">
            <a:extLst>
              <a:ext uri="{FF2B5EF4-FFF2-40B4-BE49-F238E27FC236}">
                <a16:creationId xmlns:a16="http://schemas.microsoft.com/office/drawing/2014/main" id="{00FE5C73-6370-6E2B-96A1-97DAAA4A521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438001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IN" sz="2700" b="1" dirty="0">
                <a:latin typeface="Times New Roman" pitchFamily="18" charset="0"/>
                <a:cs typeface="Times New Roman" pitchFamily="18" charset="0"/>
              </a:rPr>
              <a:t>Running Time Analysis of Fast Transpose </a:t>
            </a:r>
          </a:p>
        </p:txBody>
      </p:sp>
      <p:sp>
        <p:nvSpPr>
          <p:cNvPr id="21" name="Content Placeholder 20"/>
          <p:cNvSpPr>
            <a:spLocks noGrp="1"/>
          </p:cNvSpPr>
          <p:nvPr>
            <p:ph idx="1"/>
          </p:nvPr>
        </p:nvSpPr>
        <p:spPr>
          <a:xfrm>
            <a:off x="628650" y="1158949"/>
            <a:ext cx="7886700" cy="3473774"/>
          </a:xfrm>
        </p:spPr>
        <p:txBody>
          <a:bodyPr>
            <a:normAutofit fontScale="92500" lnSpcReduction="10000"/>
          </a:bodyPr>
          <a:lstStyle/>
          <a:p>
            <a:pPr algn="just"/>
            <a:r>
              <a:rPr lang="en-US" dirty="0">
                <a:latin typeface="Times New Roman" pitchFamily="18" charset="0"/>
                <a:cs typeface="Times New Roman" pitchFamily="18" charset="0"/>
              </a:rPr>
              <a:t>Steps taken to find number of elements in each column of A = n (assuming m x n matrix)</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Steps taken to compute starting positions of each row in transposed matrix T = n</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Elements of original matrix are copied into T in t steps</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Total steps = </a:t>
            </a:r>
            <a:r>
              <a:rPr lang="en-US" dirty="0" err="1">
                <a:latin typeface="Times New Roman" pitchFamily="18" charset="0"/>
                <a:cs typeface="Times New Roman" pitchFamily="18" charset="0"/>
              </a:rPr>
              <a:t>n+n+t</a:t>
            </a:r>
            <a:r>
              <a:rPr lang="en-US" dirty="0">
                <a:latin typeface="Times New Roman" pitchFamily="18" charset="0"/>
                <a:cs typeface="Times New Roman" pitchFamily="18" charset="0"/>
              </a:rPr>
              <a:t> = O(2n+t) = O(</a:t>
            </a:r>
            <a:r>
              <a:rPr lang="en-US" dirty="0" err="1">
                <a:latin typeface="Times New Roman" pitchFamily="18" charset="0"/>
                <a:cs typeface="Times New Roman" pitchFamily="18" charset="0"/>
              </a:rPr>
              <a:t>n+t</a:t>
            </a:r>
            <a:r>
              <a:rPr lang="en-US" dirty="0">
                <a:latin typeface="Times New Roman" pitchFamily="18" charset="0"/>
                <a:cs typeface="Times New Roman" pitchFamily="18" charset="0"/>
              </a:rPr>
              <a:t>)</a:t>
            </a:r>
          </a:p>
          <a:p>
            <a:pPr algn="just"/>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If t is of order of nm, then running time for simple transpose becomes O(nm)</a:t>
            </a:r>
          </a:p>
          <a:p>
            <a:pPr algn="just"/>
            <a:endParaRPr lang="en-US" dirty="0">
              <a:latin typeface="Times New Roman" pitchFamily="18" charset="0"/>
              <a:cs typeface="Times New Roman" pitchFamily="18" charset="0"/>
            </a:endParaRPr>
          </a:p>
          <a:p>
            <a:pPr marL="0" indent="0">
              <a:buNone/>
            </a:pPr>
            <a:endParaRPr lang="en-US"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80BB6E57-21F9-CA9C-D3D4-90EBF9B0628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827766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IN" sz="2700" b="1" dirty="0">
                <a:latin typeface="Times New Roman" pitchFamily="18" charset="0"/>
                <a:cs typeface="Times New Roman" pitchFamily="18" charset="0"/>
              </a:rPr>
              <a:t>Polynomial representation using Array</a:t>
            </a:r>
          </a:p>
        </p:txBody>
      </p:sp>
      <p:sp>
        <p:nvSpPr>
          <p:cNvPr id="21" name="Content Placeholder 20"/>
          <p:cNvSpPr>
            <a:spLocks noGrp="1"/>
          </p:cNvSpPr>
          <p:nvPr>
            <p:ph idx="1"/>
          </p:nvPr>
        </p:nvSpPr>
        <p:spPr>
          <a:xfrm>
            <a:off x="628650" y="1220363"/>
            <a:ext cx="7886700" cy="2482691"/>
          </a:xfrm>
        </p:spPr>
        <p:txBody>
          <a:bodyPr>
            <a:normAutofit/>
          </a:bodyPr>
          <a:lstStyle/>
          <a:p>
            <a:pPr algn="just"/>
            <a:r>
              <a:rPr lang="en-US" dirty="0">
                <a:latin typeface="Times New Roman" pitchFamily="18" charset="0"/>
                <a:cs typeface="Times New Roman" pitchFamily="18" charset="0"/>
              </a:rPr>
              <a:t>Array representation assumes that the exponents of the given expression are arranged from 0 to the highest value (degree), which is represented by the subscript of the array beginning with 0. </a:t>
            </a:r>
          </a:p>
          <a:p>
            <a:pPr algn="just"/>
            <a:r>
              <a:rPr lang="en-US" dirty="0">
                <a:latin typeface="Times New Roman" pitchFamily="18" charset="0"/>
                <a:cs typeface="Times New Roman" pitchFamily="18" charset="0"/>
              </a:rPr>
              <a:t> The coefficients of the respective exponent are placed at an appropriate index in the array. </a:t>
            </a:r>
          </a:p>
          <a:p>
            <a:pPr algn="just"/>
            <a:r>
              <a:rPr lang="en-US" dirty="0">
                <a:latin typeface="Times New Roman" pitchFamily="18" charset="0"/>
                <a:cs typeface="Times New Roman" pitchFamily="18" charset="0"/>
              </a:rPr>
              <a:t> The array representation for the below polynomial expression P(x) = </a:t>
            </a:r>
            <a:r>
              <a:rPr lang="en-US" i="1" dirty="0">
                <a:latin typeface="Times New Roman" pitchFamily="18" charset="0"/>
                <a:cs typeface="Times New Roman" pitchFamily="18" charset="0"/>
              </a:rPr>
              <a:t>x</a:t>
            </a:r>
            <a:r>
              <a:rPr lang="en-US" baseline="30000" dirty="0">
                <a:latin typeface="Times New Roman" pitchFamily="18" charset="0"/>
                <a:cs typeface="Times New Roman" pitchFamily="18" charset="0"/>
              </a:rPr>
              <a:t>2</a:t>
            </a:r>
            <a:r>
              <a:rPr lang="en-US" dirty="0">
                <a:latin typeface="Times New Roman" pitchFamily="18" charset="0"/>
                <a:cs typeface="Times New Roman" pitchFamily="18" charset="0"/>
              </a:rPr>
              <a:t> − 4</a:t>
            </a:r>
            <a:r>
              <a:rPr lang="en-US" i="1" dirty="0">
                <a:latin typeface="Times New Roman" pitchFamily="18" charset="0"/>
                <a:cs typeface="Times New Roman" pitchFamily="18" charset="0"/>
              </a:rPr>
              <a:t>x</a:t>
            </a:r>
            <a:r>
              <a:rPr lang="en-US" dirty="0">
                <a:latin typeface="Times New Roman" pitchFamily="18" charset="0"/>
                <a:cs typeface="Times New Roman" pitchFamily="18" charset="0"/>
              </a:rPr>
              <a:t> + 7 is </a:t>
            </a:r>
          </a:p>
          <a:p>
            <a:pPr>
              <a:buNone/>
            </a:pPr>
            <a:endParaRPr lang="en-US" dirty="0">
              <a:latin typeface="Times New Roman" pitchFamily="18" charset="0"/>
              <a:cs typeface="Times New Roman"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7" name="Table 6"/>
          <p:cNvGraphicFramePr>
            <a:graphicFrameLocks noGrp="1"/>
          </p:cNvGraphicFramePr>
          <p:nvPr/>
        </p:nvGraphicFramePr>
        <p:xfrm>
          <a:off x="3142593" y="3475551"/>
          <a:ext cx="1781505" cy="634015"/>
        </p:xfrm>
        <a:graphic>
          <a:graphicData uri="http://schemas.openxmlformats.org/drawingml/2006/table">
            <a:tbl>
              <a:tblPr firstRow="1" bandRow="1">
                <a:tableStyleId>{5940675A-B579-460E-94D1-54222C63F5DA}</a:tableStyleId>
              </a:tblPr>
              <a:tblGrid>
                <a:gridCol w="593835">
                  <a:extLst>
                    <a:ext uri="{9D8B030D-6E8A-4147-A177-3AD203B41FA5}">
                      <a16:colId xmlns:a16="http://schemas.microsoft.com/office/drawing/2014/main" val="20000"/>
                    </a:ext>
                  </a:extLst>
                </a:gridCol>
                <a:gridCol w="593835">
                  <a:extLst>
                    <a:ext uri="{9D8B030D-6E8A-4147-A177-3AD203B41FA5}">
                      <a16:colId xmlns:a16="http://schemas.microsoft.com/office/drawing/2014/main" val="20001"/>
                    </a:ext>
                  </a:extLst>
                </a:gridCol>
                <a:gridCol w="593835">
                  <a:extLst>
                    <a:ext uri="{9D8B030D-6E8A-4147-A177-3AD203B41FA5}">
                      <a16:colId xmlns:a16="http://schemas.microsoft.com/office/drawing/2014/main" val="20002"/>
                    </a:ext>
                  </a:extLst>
                </a:gridCol>
              </a:tblGrid>
              <a:tr h="280058">
                <a:tc>
                  <a:txBody>
                    <a:bodyPr/>
                    <a:lstStyle/>
                    <a:p>
                      <a:pPr algn="ctr"/>
                      <a:r>
                        <a:rPr lang="en-US" dirty="0">
                          <a:solidFill>
                            <a:schemeClr val="accent4"/>
                          </a:solidFill>
                        </a:rPr>
                        <a:t>0</a:t>
                      </a:r>
                    </a:p>
                  </a:txBody>
                  <a:tcPr/>
                </a:tc>
                <a:tc>
                  <a:txBody>
                    <a:bodyPr/>
                    <a:lstStyle/>
                    <a:p>
                      <a:pPr algn="ctr"/>
                      <a:r>
                        <a:rPr lang="en-US" dirty="0">
                          <a:solidFill>
                            <a:schemeClr val="accent4"/>
                          </a:solidFill>
                        </a:rPr>
                        <a:t>1</a:t>
                      </a:r>
                    </a:p>
                  </a:txBody>
                  <a:tcPr/>
                </a:tc>
                <a:tc>
                  <a:txBody>
                    <a:bodyPr/>
                    <a:lstStyle/>
                    <a:p>
                      <a:pPr algn="ctr"/>
                      <a:r>
                        <a:rPr lang="en-US" dirty="0">
                          <a:solidFill>
                            <a:schemeClr val="accent4"/>
                          </a:solidFill>
                        </a:rPr>
                        <a:t>2</a:t>
                      </a:r>
                    </a:p>
                  </a:txBody>
                  <a:tcPr/>
                </a:tc>
                <a:extLst>
                  <a:ext uri="{0D108BD9-81ED-4DB2-BD59-A6C34878D82A}">
                    <a16:rowId xmlns:a16="http://schemas.microsoft.com/office/drawing/2014/main" val="10000"/>
                  </a:ext>
                </a:extLst>
              </a:tr>
              <a:tr h="329215">
                <a:tc>
                  <a:txBody>
                    <a:bodyPr/>
                    <a:lstStyle/>
                    <a:p>
                      <a:pPr algn="ctr"/>
                      <a:r>
                        <a:rPr lang="en-US" dirty="0"/>
                        <a:t>7</a:t>
                      </a:r>
                    </a:p>
                  </a:txBody>
                  <a:tcPr/>
                </a:tc>
                <a:tc>
                  <a:txBody>
                    <a:bodyPr/>
                    <a:lstStyle/>
                    <a:p>
                      <a:pPr algn="ctr"/>
                      <a:r>
                        <a:rPr lang="en-US" dirty="0"/>
                        <a:t>-4</a:t>
                      </a:r>
                    </a:p>
                  </a:txBody>
                  <a:tcPr/>
                </a:tc>
                <a:tc>
                  <a:txBody>
                    <a:bodyPr/>
                    <a:lstStyle/>
                    <a:p>
                      <a:pPr algn="ctr"/>
                      <a:r>
                        <a:rPr lang="en-US" dirty="0"/>
                        <a:t>1</a:t>
                      </a:r>
                    </a:p>
                  </a:txBody>
                  <a:tcPr/>
                </a:tc>
                <a:extLst>
                  <a:ext uri="{0D108BD9-81ED-4DB2-BD59-A6C34878D82A}">
                    <a16:rowId xmlns:a16="http://schemas.microsoft.com/office/drawing/2014/main" val="10001"/>
                  </a:ext>
                </a:extLst>
              </a:tr>
            </a:tbl>
          </a:graphicData>
        </a:graphic>
      </p:graphicFrame>
      <p:sp>
        <p:nvSpPr>
          <p:cNvPr id="3" name="Rectangle 2">
            <a:extLst>
              <a:ext uri="{FF2B5EF4-FFF2-40B4-BE49-F238E27FC236}">
                <a16:creationId xmlns:a16="http://schemas.microsoft.com/office/drawing/2014/main" id="{2AB9DFC8-2B07-C688-636A-12DD8D45AFD5}"/>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5485989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p:txBody>
          <a:bodyPr>
            <a:noAutofit/>
          </a:bodyPr>
          <a:lstStyle/>
          <a:p>
            <a:pPr algn="ctr"/>
            <a:r>
              <a:rPr lang="en-IN" sz="2700" b="1" dirty="0">
                <a:latin typeface="Times New Roman" pitchFamily="18" charset="0"/>
                <a:cs typeface="Times New Roman" pitchFamily="18" charset="0"/>
              </a:rPr>
              <a:t>Polynomial Addition using Array</a:t>
            </a:r>
          </a:p>
        </p:txBody>
      </p:sp>
      <p:sp>
        <p:nvSpPr>
          <p:cNvPr id="21" name="Content Placeholder 20"/>
          <p:cNvSpPr>
            <a:spLocks noGrp="1"/>
          </p:cNvSpPr>
          <p:nvPr>
            <p:ph idx="1"/>
          </p:nvPr>
        </p:nvSpPr>
        <p:spPr/>
        <p:txBody>
          <a:bodyPr>
            <a:normAutofit/>
          </a:bodyPr>
          <a:lstStyle/>
          <a:p>
            <a:pPr>
              <a:buNone/>
            </a:pPr>
            <a:r>
              <a:rPr lang="en-US" b="1" dirty="0">
                <a:latin typeface="Times New Roman" pitchFamily="18" charset="0"/>
                <a:cs typeface="Times New Roman" pitchFamily="18" charset="0"/>
              </a:rPr>
              <a:t>add(A[0..m-1], B[0..n01])</a:t>
            </a:r>
            <a:r>
              <a:rPr lang="en-US" dirty="0">
                <a:latin typeface="Times New Roman" pitchFamily="18" charset="0"/>
                <a:cs typeface="Times New Roman" pitchFamily="18" charset="0"/>
              </a:rPr>
              <a:t> </a:t>
            </a:r>
          </a:p>
          <a:p>
            <a:pPr marL="457200" indent="-457200">
              <a:buAutoNum type="arabicParenR"/>
            </a:pPr>
            <a:r>
              <a:rPr lang="en-US" dirty="0">
                <a:latin typeface="Times New Roman" pitchFamily="18" charset="0"/>
                <a:cs typeface="Times New Roman" pitchFamily="18" charset="0"/>
              </a:rPr>
              <a:t>Create a sum array sum[] of size equal to maximum of 'm' and 'n‘</a:t>
            </a:r>
          </a:p>
          <a:p>
            <a:pPr marL="457200" indent="-457200">
              <a:buAutoNum type="arabicParenR"/>
            </a:pPr>
            <a:r>
              <a:rPr lang="en-US" dirty="0">
                <a:latin typeface="Times New Roman" pitchFamily="18" charset="0"/>
                <a:cs typeface="Times New Roman" pitchFamily="18" charset="0"/>
              </a:rPr>
              <a:t>Copy A[] to sum[]. </a:t>
            </a:r>
          </a:p>
          <a:p>
            <a:pPr marL="457200" indent="-457200">
              <a:buAutoNum type="arabicParenR"/>
            </a:pPr>
            <a:r>
              <a:rPr lang="en-US" dirty="0">
                <a:latin typeface="Times New Roman" pitchFamily="18" charset="0"/>
                <a:cs typeface="Times New Roman" pitchFamily="18" charset="0"/>
              </a:rPr>
              <a:t>Traverse array B[] and do following for every element B[</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a:t>
            </a:r>
          </a:p>
          <a:p>
            <a:pPr marL="457200" indent="-457200">
              <a:buNone/>
            </a:pPr>
            <a:r>
              <a:rPr lang="en-US" dirty="0">
                <a:latin typeface="Times New Roman" pitchFamily="18" charset="0"/>
                <a:cs typeface="Times New Roman" pitchFamily="18" charset="0"/>
              </a:rPr>
              <a:t>	sum[</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 sum[</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 + B[</a:t>
            </a:r>
            <a:r>
              <a:rPr lang="en-US" dirty="0" err="1">
                <a:latin typeface="Times New Roman" pitchFamily="18" charset="0"/>
                <a:cs typeface="Times New Roman" pitchFamily="18" charset="0"/>
              </a:rPr>
              <a:t>i</a:t>
            </a:r>
            <a:r>
              <a:rPr lang="en-US" dirty="0">
                <a:latin typeface="Times New Roman" pitchFamily="18" charset="0"/>
                <a:cs typeface="Times New Roman" pitchFamily="18" charset="0"/>
              </a:rPr>
              <a:t>]</a:t>
            </a:r>
          </a:p>
          <a:p>
            <a:pPr marL="457200" indent="-457200">
              <a:buNone/>
            </a:pPr>
            <a:r>
              <a:rPr lang="en-US" dirty="0">
                <a:latin typeface="Times New Roman" pitchFamily="18" charset="0"/>
                <a:cs typeface="Times New Roman" pitchFamily="18" charset="0"/>
              </a:rPr>
              <a:t> 4) Return sum[].</a:t>
            </a: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1026" name="Picture 2"/>
          <p:cNvPicPr>
            <a:picLocks noChangeAspect="1" noChangeArrowheads="1"/>
          </p:cNvPicPr>
          <p:nvPr/>
        </p:nvPicPr>
        <p:blipFill>
          <a:blip r:embed="rId4"/>
          <a:srcRect/>
          <a:stretch>
            <a:fillRect/>
          </a:stretch>
        </p:blipFill>
        <p:spPr bwMode="auto">
          <a:xfrm>
            <a:off x="5048249" y="3019425"/>
            <a:ext cx="3886201" cy="1863030"/>
          </a:xfrm>
          <a:prstGeom prst="rect">
            <a:avLst/>
          </a:prstGeom>
          <a:noFill/>
          <a:ln w="9525">
            <a:noFill/>
            <a:miter lim="800000"/>
            <a:headEnd/>
            <a:tailEnd/>
          </a:ln>
          <a:effectLst/>
        </p:spPr>
      </p:pic>
      <p:sp>
        <p:nvSpPr>
          <p:cNvPr id="3" name="Rectangle 2">
            <a:extLst>
              <a:ext uri="{FF2B5EF4-FFF2-40B4-BE49-F238E27FC236}">
                <a16:creationId xmlns:a16="http://schemas.microsoft.com/office/drawing/2014/main" id="{167789C4-040B-249C-1711-DD04A20163A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2216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26"/>
                                        </p:tgtEl>
                                        <p:attrNameLst>
                                          <p:attrName>style.visibility</p:attrName>
                                        </p:attrNameLst>
                                      </p:cBhvr>
                                      <p:to>
                                        <p:strVal val="hidden"/>
                                      </p:to>
                                    </p:set>
                                  </p:childTnLst>
                                </p:cTn>
                              </p:par>
                            </p:childTnLst>
                          </p:cTn>
                        </p:par>
                        <p:par>
                          <p:cTn id="7" fill="hold">
                            <p:stCondLst>
                              <p:cond delay="0"/>
                            </p:stCondLst>
                            <p:childTnLst>
                              <p:par>
                                <p:cTn id="8" presetID="3" presetClass="entr" presetSubtype="10" fill="hold" grpId="0" nodeType="afterEffect">
                                  <p:stCondLst>
                                    <p:cond delay="0"/>
                                  </p:stCondLst>
                                  <p:childTnLst>
                                    <p:set>
                                      <p:cBhvr>
                                        <p:cTn id="9" dur="1" fill="hold">
                                          <p:stCondLst>
                                            <p:cond delay="0"/>
                                          </p:stCondLst>
                                        </p:cTn>
                                        <p:tgtEl>
                                          <p:spTgt spid="21">
                                            <p:txEl>
                                              <p:pRg st="0" end="0"/>
                                            </p:txEl>
                                          </p:spTgt>
                                        </p:tgtEl>
                                        <p:attrNameLst>
                                          <p:attrName>style.visibility</p:attrName>
                                        </p:attrNameLst>
                                      </p:cBhvr>
                                      <p:to>
                                        <p:strVal val="visible"/>
                                      </p:to>
                                    </p:set>
                                    <p:animEffect transition="in" filter="blinds(horizontal)">
                                      <p:cBhvr>
                                        <p:cTn id="10" dur="500"/>
                                        <p:tgtEl>
                                          <p:spTgt spid="21">
                                            <p:txEl>
                                              <p:pRg st="0" end="0"/>
                                            </p:txEl>
                                          </p:spTgt>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21">
                                            <p:txEl>
                                              <p:pRg st="1" end="1"/>
                                            </p:txEl>
                                          </p:spTgt>
                                        </p:tgtEl>
                                        <p:attrNameLst>
                                          <p:attrName>style.visibility</p:attrName>
                                        </p:attrNameLst>
                                      </p:cBhvr>
                                      <p:to>
                                        <p:strVal val="visible"/>
                                      </p:to>
                                    </p:set>
                                    <p:animEffect transition="in" filter="blinds(horizontal)">
                                      <p:cBhvr>
                                        <p:cTn id="14" dur="500"/>
                                        <p:tgtEl>
                                          <p:spTgt spid="21">
                                            <p:txEl>
                                              <p:pRg st="1" end="1"/>
                                            </p:txEl>
                                          </p:spTgt>
                                        </p:tgtEl>
                                      </p:cBhvr>
                                    </p:animEffect>
                                  </p:childTnLst>
                                </p:cTn>
                              </p:par>
                            </p:childTnLst>
                          </p:cTn>
                        </p:par>
                        <p:par>
                          <p:cTn id="15" fill="hold">
                            <p:stCondLst>
                              <p:cond delay="1000"/>
                            </p:stCondLst>
                            <p:childTnLst>
                              <p:par>
                                <p:cTn id="16" presetID="3" presetClass="entr" presetSubtype="10" fill="hold" grpId="0" nodeType="afterEffect">
                                  <p:stCondLst>
                                    <p:cond delay="0"/>
                                  </p:stCondLst>
                                  <p:childTnLst>
                                    <p:set>
                                      <p:cBhvr>
                                        <p:cTn id="17" dur="1" fill="hold">
                                          <p:stCondLst>
                                            <p:cond delay="0"/>
                                          </p:stCondLst>
                                        </p:cTn>
                                        <p:tgtEl>
                                          <p:spTgt spid="21">
                                            <p:txEl>
                                              <p:pRg st="2" end="2"/>
                                            </p:txEl>
                                          </p:spTgt>
                                        </p:tgtEl>
                                        <p:attrNameLst>
                                          <p:attrName>style.visibility</p:attrName>
                                        </p:attrNameLst>
                                      </p:cBhvr>
                                      <p:to>
                                        <p:strVal val="visible"/>
                                      </p:to>
                                    </p:set>
                                    <p:animEffect transition="in" filter="blinds(horizontal)">
                                      <p:cBhvr>
                                        <p:cTn id="18" dur="500"/>
                                        <p:tgtEl>
                                          <p:spTgt spid="21">
                                            <p:txEl>
                                              <p:pRg st="2" end="2"/>
                                            </p:txEl>
                                          </p:spTgt>
                                        </p:tgtEl>
                                      </p:cBhvr>
                                    </p:animEffect>
                                  </p:childTnLst>
                                </p:cTn>
                              </p:par>
                            </p:childTnLst>
                          </p:cTn>
                        </p:par>
                        <p:par>
                          <p:cTn id="19" fill="hold">
                            <p:stCondLst>
                              <p:cond delay="1500"/>
                            </p:stCondLst>
                            <p:childTnLst>
                              <p:par>
                                <p:cTn id="20" presetID="3" presetClass="entr" presetSubtype="10" fill="hold" grpId="0" nodeType="afterEffect">
                                  <p:stCondLst>
                                    <p:cond delay="0"/>
                                  </p:stCondLst>
                                  <p:childTnLst>
                                    <p:set>
                                      <p:cBhvr>
                                        <p:cTn id="21" dur="1" fill="hold">
                                          <p:stCondLst>
                                            <p:cond delay="0"/>
                                          </p:stCondLst>
                                        </p:cTn>
                                        <p:tgtEl>
                                          <p:spTgt spid="21">
                                            <p:txEl>
                                              <p:pRg st="3" end="3"/>
                                            </p:txEl>
                                          </p:spTgt>
                                        </p:tgtEl>
                                        <p:attrNameLst>
                                          <p:attrName>style.visibility</p:attrName>
                                        </p:attrNameLst>
                                      </p:cBhvr>
                                      <p:to>
                                        <p:strVal val="visible"/>
                                      </p:to>
                                    </p:set>
                                    <p:animEffect transition="in" filter="blinds(horizontal)">
                                      <p:cBhvr>
                                        <p:cTn id="22" dur="500"/>
                                        <p:tgtEl>
                                          <p:spTgt spid="21">
                                            <p:txEl>
                                              <p:pRg st="3" end="3"/>
                                            </p:txEl>
                                          </p:spTgt>
                                        </p:tgtEl>
                                      </p:cBhvr>
                                    </p:animEffect>
                                  </p:childTnLst>
                                </p:cTn>
                              </p:par>
                            </p:childTnLst>
                          </p:cTn>
                        </p:par>
                        <p:par>
                          <p:cTn id="23" fill="hold">
                            <p:stCondLst>
                              <p:cond delay="2000"/>
                            </p:stCondLst>
                            <p:childTnLst>
                              <p:par>
                                <p:cTn id="24" presetID="3" presetClass="entr" presetSubtype="10" fill="hold" grpId="0" nodeType="afterEffect">
                                  <p:stCondLst>
                                    <p:cond delay="0"/>
                                  </p:stCondLst>
                                  <p:childTnLst>
                                    <p:set>
                                      <p:cBhvr>
                                        <p:cTn id="25" dur="1" fill="hold">
                                          <p:stCondLst>
                                            <p:cond delay="0"/>
                                          </p:stCondLst>
                                        </p:cTn>
                                        <p:tgtEl>
                                          <p:spTgt spid="21">
                                            <p:txEl>
                                              <p:pRg st="4" end="4"/>
                                            </p:txEl>
                                          </p:spTgt>
                                        </p:tgtEl>
                                        <p:attrNameLst>
                                          <p:attrName>style.visibility</p:attrName>
                                        </p:attrNameLst>
                                      </p:cBhvr>
                                      <p:to>
                                        <p:strVal val="visible"/>
                                      </p:to>
                                    </p:set>
                                    <p:animEffect transition="in" filter="blinds(horizontal)">
                                      <p:cBhvr>
                                        <p:cTn id="26" dur="500"/>
                                        <p:tgtEl>
                                          <p:spTgt spid="21">
                                            <p:txEl>
                                              <p:pRg st="4" end="4"/>
                                            </p:txEl>
                                          </p:spTgt>
                                        </p:tgtEl>
                                      </p:cBhvr>
                                    </p:animEffect>
                                  </p:childTnLst>
                                </p:cTn>
                              </p:par>
                            </p:childTnLst>
                          </p:cTn>
                        </p:par>
                        <p:par>
                          <p:cTn id="27" fill="hold">
                            <p:stCondLst>
                              <p:cond delay="2500"/>
                            </p:stCondLst>
                            <p:childTnLst>
                              <p:par>
                                <p:cTn id="28" presetID="3" presetClass="entr" presetSubtype="10" fill="hold" grpId="0" nodeType="afterEffect">
                                  <p:stCondLst>
                                    <p:cond delay="0"/>
                                  </p:stCondLst>
                                  <p:childTnLst>
                                    <p:set>
                                      <p:cBhvr>
                                        <p:cTn id="29" dur="1" fill="hold">
                                          <p:stCondLst>
                                            <p:cond delay="0"/>
                                          </p:stCondLst>
                                        </p:cTn>
                                        <p:tgtEl>
                                          <p:spTgt spid="21">
                                            <p:txEl>
                                              <p:pRg st="5" end="5"/>
                                            </p:txEl>
                                          </p:spTgt>
                                        </p:tgtEl>
                                        <p:attrNameLst>
                                          <p:attrName>style.visibility</p:attrName>
                                        </p:attrNameLst>
                                      </p:cBhvr>
                                      <p:to>
                                        <p:strVal val="visible"/>
                                      </p:to>
                                    </p:set>
                                    <p:animEffect transition="in" filter="blinds(horizontal)">
                                      <p:cBhvr>
                                        <p:cTn id="30" dur="500"/>
                                        <p:tgtEl>
                                          <p:spTgt spid="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uiExpand="1"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Searching</a:t>
            </a:r>
            <a:endParaRPr lang="en-IN" sz="27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algn="just"/>
            <a:r>
              <a:rPr lang="en-US" b="0" i="0" dirty="0">
                <a:solidFill>
                  <a:srgbClr val="0D0D0D"/>
                </a:solidFill>
                <a:effectLst/>
                <a:latin typeface="Times New Roman" panose="02020603050405020304" pitchFamily="18" charset="0"/>
                <a:cs typeface="Times New Roman" panose="02020603050405020304" pitchFamily="18" charset="0"/>
              </a:rPr>
              <a:t>Searching is a fundamental operation in computer science and data structures. </a:t>
            </a:r>
          </a:p>
          <a:p>
            <a:pPr algn="just"/>
            <a:r>
              <a:rPr lang="en-US" b="0" i="0" dirty="0">
                <a:solidFill>
                  <a:srgbClr val="0D0D0D"/>
                </a:solidFill>
                <a:effectLst/>
                <a:latin typeface="Times New Roman" panose="02020603050405020304" pitchFamily="18" charset="0"/>
                <a:cs typeface="Times New Roman" panose="02020603050405020304" pitchFamily="18" charset="0"/>
              </a:rPr>
              <a:t>It involves finding a particular element within a collection of data. This could be locating a specific value in an array, a key in a dictionary, or an entry in a database. </a:t>
            </a:r>
          </a:p>
          <a:p>
            <a:pPr algn="just"/>
            <a:r>
              <a:rPr lang="en-US" b="0" i="0" dirty="0">
                <a:solidFill>
                  <a:srgbClr val="0D0D0D"/>
                </a:solidFill>
                <a:effectLst/>
                <a:latin typeface="Times New Roman" panose="02020603050405020304" pitchFamily="18" charset="0"/>
                <a:cs typeface="Times New Roman" panose="02020603050405020304" pitchFamily="18" charset="0"/>
              </a:rPr>
              <a:t>In the context of data structures, there are various algorithms and techniques designed to efficiently perform searches, depending on the structure of the data.</a:t>
            </a:r>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40557F81-25AA-BF18-13C5-B5339B4275C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892488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Searching Examples </a:t>
            </a:r>
            <a:endParaRPr lang="en-IN" sz="27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algn="just"/>
            <a:r>
              <a:rPr lang="en-US" b="1" i="0" dirty="0">
                <a:solidFill>
                  <a:srgbClr val="0D0D0D"/>
                </a:solidFill>
                <a:effectLst/>
                <a:latin typeface="Times New Roman" panose="02020603050405020304" pitchFamily="18" charset="0"/>
                <a:cs typeface="Times New Roman" panose="02020603050405020304" pitchFamily="18" charset="0"/>
              </a:rPr>
              <a:t>Problem</a:t>
            </a:r>
            <a:r>
              <a:rPr lang="en-US" b="0" i="0" dirty="0">
                <a:solidFill>
                  <a:srgbClr val="0D0D0D"/>
                </a:solidFill>
                <a:effectLst/>
                <a:latin typeface="Times New Roman" panose="02020603050405020304" pitchFamily="18" charset="0"/>
                <a:cs typeface="Times New Roman" panose="02020603050405020304" pitchFamily="18" charset="0"/>
              </a:rPr>
              <a:t>: Suppose you have a sorted array of integers and you want to find the index of a particular number within the array.</a:t>
            </a:r>
            <a:endParaRPr lang="en-US" dirty="0">
              <a:solidFill>
                <a:srgbClr val="0D0D0D"/>
              </a:solidFill>
              <a:latin typeface="Times New Roman" panose="02020603050405020304" pitchFamily="18" charset="0"/>
              <a:cs typeface="Times New Roman" panose="02020603050405020304" pitchFamily="18" charset="0"/>
            </a:endParaRPr>
          </a:p>
          <a:p>
            <a:pPr algn="l"/>
            <a:r>
              <a:rPr lang="en-US" b="1" i="0" dirty="0">
                <a:solidFill>
                  <a:srgbClr val="0D0D0D"/>
                </a:solidFill>
                <a:effectLst/>
                <a:latin typeface="Times New Roman" panose="02020603050405020304" pitchFamily="18" charset="0"/>
                <a:cs typeface="Times New Roman" panose="02020603050405020304" pitchFamily="18" charset="0"/>
              </a:rPr>
              <a:t>Example Array</a:t>
            </a:r>
            <a:r>
              <a:rPr lang="en-US" b="0" i="0" dirty="0">
                <a:solidFill>
                  <a:srgbClr val="0D0D0D"/>
                </a:solidFill>
                <a:effectLst/>
                <a:latin typeface="Times New Roman" panose="02020603050405020304" pitchFamily="18" charset="0"/>
                <a:cs typeface="Times New Roman" panose="02020603050405020304" pitchFamily="18" charset="0"/>
              </a:rPr>
              <a:t>: [2, 5, 8, 12, 16, 23, 38, 56, 72, 91]</a:t>
            </a:r>
          </a:p>
          <a:p>
            <a:pPr marL="0" indent="0" algn="l">
              <a:buNone/>
            </a:pPr>
            <a:r>
              <a:rPr lang="en-US" b="1" i="0" dirty="0">
                <a:solidFill>
                  <a:srgbClr val="0D0D0D"/>
                </a:solidFill>
                <a:effectLst/>
                <a:latin typeface="Times New Roman" panose="02020603050405020304" pitchFamily="18" charset="0"/>
                <a:cs typeface="Times New Roman" panose="02020603050405020304" pitchFamily="18" charset="0"/>
              </a:rPr>
              <a:t>			Number to Search for</a:t>
            </a:r>
            <a:r>
              <a:rPr lang="en-US" b="0" i="0" dirty="0">
                <a:solidFill>
                  <a:srgbClr val="0D0D0D"/>
                </a:solidFill>
                <a:effectLst/>
                <a:latin typeface="Times New Roman" panose="02020603050405020304" pitchFamily="18" charset="0"/>
                <a:cs typeface="Times New Roman" panose="02020603050405020304" pitchFamily="18" charset="0"/>
              </a:rPr>
              <a:t>: 23</a:t>
            </a:r>
          </a:p>
          <a:p>
            <a:pPr marL="0" indent="0" algn="l">
              <a:buNone/>
            </a:pPr>
            <a:endParaRPr lang="en-US" dirty="0">
              <a:solidFill>
                <a:srgbClr val="0D0D0D"/>
              </a:solidFill>
              <a:latin typeface="Times New Roman" panose="02020603050405020304" pitchFamily="18" charset="0"/>
              <a:cs typeface="Times New Roman" panose="02020603050405020304" pitchFamily="18" charset="0"/>
            </a:endParaRPr>
          </a:p>
          <a:p>
            <a:pPr marL="0" indent="0" algn="l">
              <a:buNone/>
            </a:pPr>
            <a:endParaRPr lang="en-US" b="0" i="0" dirty="0">
              <a:solidFill>
                <a:srgbClr val="0D0D0D"/>
              </a:solidFill>
              <a:effectLst/>
              <a:latin typeface="Times New Roman" panose="02020603050405020304" pitchFamily="18" charset="0"/>
              <a:cs typeface="Times New Roman" panose="02020603050405020304" pitchFamily="18" charset="0"/>
            </a:endParaRPr>
          </a:p>
          <a:p>
            <a:pPr marL="0" indent="0" algn="l">
              <a:buNone/>
            </a:pPr>
            <a:endParaRPr lang="en-US" b="0" i="0" dirty="0">
              <a:solidFill>
                <a:srgbClr val="0D0D0D"/>
              </a:solidFill>
              <a:effectLst/>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607DFA75-68DB-1EF8-1171-B7A6D9FC57A6}"/>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99099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Important of Searching</a:t>
            </a:r>
            <a:endParaRPr lang="en-IN" sz="27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fontScale="70000" lnSpcReduction="20000"/>
          </a:bodyPr>
          <a:lstStyle/>
          <a:p>
            <a:pPr marL="0" indent="0" algn="just">
              <a:buNone/>
            </a:pPr>
            <a:r>
              <a:rPr lang="en-US" b="0" i="0" dirty="0">
                <a:solidFill>
                  <a:srgbClr val="0D0D0D"/>
                </a:solidFill>
                <a:effectLst/>
                <a:latin typeface="Times New Roman" panose="02020603050405020304" pitchFamily="18" charset="0"/>
                <a:cs typeface="Times New Roman" panose="02020603050405020304" pitchFamily="18" charset="0"/>
              </a:rPr>
              <a:t>Searching is important </a:t>
            </a:r>
            <a:r>
              <a:rPr lang="en-US" b="0" i="0">
                <a:solidFill>
                  <a:srgbClr val="0D0D0D"/>
                </a:solidFill>
                <a:effectLst/>
                <a:latin typeface="Times New Roman" panose="02020603050405020304" pitchFamily="18" charset="0"/>
                <a:cs typeface="Times New Roman" panose="02020603050405020304" pitchFamily="18" charset="0"/>
              </a:rPr>
              <a:t>for various reasons</a:t>
            </a:r>
            <a:r>
              <a:rPr lang="en-US" b="0" i="0" dirty="0">
                <a:solidFill>
                  <a:srgbClr val="0D0D0D"/>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Data Retrieval</a:t>
            </a:r>
            <a:r>
              <a:rPr lang="en-US" b="0" i="0" dirty="0">
                <a:solidFill>
                  <a:srgbClr val="0D0D0D"/>
                </a:solidFill>
                <a:effectLst/>
                <a:latin typeface="Times New Roman" panose="02020603050405020304" pitchFamily="18" charset="0"/>
                <a:cs typeface="Times New Roman" panose="02020603050405020304" pitchFamily="18" charset="0"/>
              </a:rPr>
              <a:t>: Searching allows us to retrieve specific information or elements from a large collection of data efficiently. Whether it's finding a contact in an address book, a book in a library, or a record in a database, searching enables us to access the desired information quickly.</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Information Retrieval Systems</a:t>
            </a:r>
            <a:r>
              <a:rPr lang="en-US" b="0" i="0" dirty="0">
                <a:solidFill>
                  <a:srgbClr val="0D0D0D"/>
                </a:solidFill>
                <a:effectLst/>
                <a:latin typeface="Times New Roman" panose="02020603050405020304" pitchFamily="18" charset="0"/>
                <a:cs typeface="Times New Roman" panose="02020603050405020304" pitchFamily="18" charset="0"/>
              </a:rPr>
              <a:t>: In information retrieval systems such as search engines, searching plays a critical role in retrieving relevant documents or web pages based on user queries. Efficient searching algorithms are essential for providing timely and accurate search results, which is crucial for user satisfaction.</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Algorithm Design and Optimization</a:t>
            </a:r>
            <a:r>
              <a:rPr lang="en-US" b="0" i="0" dirty="0">
                <a:solidFill>
                  <a:srgbClr val="0D0D0D"/>
                </a:solidFill>
                <a:effectLst/>
                <a:latin typeface="Times New Roman" panose="02020603050405020304" pitchFamily="18" charset="0"/>
                <a:cs typeface="Times New Roman" panose="02020603050405020304" pitchFamily="18" charset="0"/>
              </a:rPr>
              <a:t>: Searching algorithms are fundamental components of many other algorithms and data structures. Understanding and implementing efficient searching techniques are essential for designing optimized algorithms and systems across various domains, including computer science, engineering, and data analysis.</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Database Operations</a:t>
            </a:r>
            <a:r>
              <a:rPr lang="en-US" b="0" i="0" dirty="0">
                <a:solidFill>
                  <a:srgbClr val="0D0D0D"/>
                </a:solidFill>
                <a:effectLst/>
                <a:latin typeface="Times New Roman" panose="02020603050405020304" pitchFamily="18" charset="0"/>
                <a:cs typeface="Times New Roman" panose="02020603050405020304" pitchFamily="18" charset="0"/>
              </a:rPr>
              <a:t>: In databases, searching is essential for querying and retrieving data based on specific criteria. Efficient indexing and searching algorithms improve the performance of database operations, enabling faster data retrieval and processing.</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Problem Solving</a:t>
            </a:r>
            <a:r>
              <a:rPr lang="en-US" b="0" i="0" dirty="0">
                <a:solidFill>
                  <a:srgbClr val="0D0D0D"/>
                </a:solidFill>
                <a:effectLst/>
                <a:latin typeface="Times New Roman" panose="02020603050405020304" pitchFamily="18" charset="0"/>
                <a:cs typeface="Times New Roman" panose="02020603050405020304" pitchFamily="18" charset="0"/>
              </a:rPr>
              <a:t>: Searching algorithms are commonly encountered in problem-solving scenarios, such as pathfinding in graphs, scheduling tasks, and optimizing resource allocation. Efficient searching techniques contribute to solving complex problems effectively and finding optimal solutions.</a:t>
            </a:r>
          </a:p>
          <a:p>
            <a:pPr algn="just"/>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3F68DF25-28BA-E67F-D818-8DA8B6F3145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984853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Application of Searching</a:t>
            </a:r>
            <a:endParaRPr lang="en-IN" sz="27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643466"/>
            <a:ext cx="8301800" cy="4309229"/>
          </a:xfrm>
        </p:spPr>
        <p:txBody>
          <a:bodyPr>
            <a:normAutofit fontScale="85000" lnSpcReduction="20000"/>
          </a:bodyPr>
          <a:lstStyle/>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Web Search Engines</a:t>
            </a:r>
            <a:r>
              <a:rPr lang="en-US" sz="1400" b="0" i="0" dirty="0">
                <a:solidFill>
                  <a:srgbClr val="0D0D0D"/>
                </a:solidFill>
                <a:effectLst/>
                <a:latin typeface="Times New Roman" panose="02020603050405020304" pitchFamily="18" charset="0"/>
                <a:cs typeface="Times New Roman" panose="02020603050405020304" pitchFamily="18" charset="0"/>
              </a:rPr>
              <a:t>: Search engines like Google, Bing, and Yahoo use sophisticated algorithms to retrieve relevant web pages in response to user queries These systems crawl the web, index web pages, and use complex ranking algorithms to present search results based on relevance, authority, and user preferences.</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E-commerce Platforms</a:t>
            </a:r>
            <a:r>
              <a:rPr lang="en-US" sz="1400" b="0" i="0" dirty="0">
                <a:solidFill>
                  <a:srgbClr val="0D0D0D"/>
                </a:solidFill>
                <a:effectLst/>
                <a:latin typeface="Times New Roman" panose="02020603050405020304" pitchFamily="18" charset="0"/>
                <a:cs typeface="Times New Roman" panose="02020603050405020304" pitchFamily="18" charset="0"/>
              </a:rPr>
              <a:t>: E-commerce websites like Amazon, eBay, and Alibaba rely heavily on searching to enable users to find products quickly Users can search for products by entering keywords, and the platform returns relevant results from a vast catalog of items. Advanced filtering and recommendation systems further enhance the searching experience by suggesting relevant products based on user preferences and browsing history.</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Social Media Platforms</a:t>
            </a:r>
            <a:r>
              <a:rPr lang="en-US" sz="1400" b="0" i="0" dirty="0">
                <a:solidFill>
                  <a:srgbClr val="0D0D0D"/>
                </a:solidFill>
                <a:effectLst/>
                <a:latin typeface="Times New Roman" panose="02020603050405020304" pitchFamily="18" charset="0"/>
                <a:cs typeface="Times New Roman" panose="02020603050405020304" pitchFamily="18" charset="0"/>
              </a:rPr>
              <a:t>: Social media platforms such as Facebook, Twitter, and LinkedIn use searching to help users find other users, posts, or topics of interest. Users can search for specific profiles, posts, hashtags, or topics, and the platform retrieves relevant content based on the search query.</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Navigation and Maps</a:t>
            </a:r>
            <a:r>
              <a:rPr lang="en-US" sz="1400" b="0" i="0" dirty="0">
                <a:solidFill>
                  <a:srgbClr val="0D0D0D"/>
                </a:solidFill>
                <a:effectLst/>
                <a:latin typeface="Times New Roman" panose="02020603050405020304" pitchFamily="18" charset="0"/>
                <a:cs typeface="Times New Roman" panose="02020603050405020304" pitchFamily="18" charset="0"/>
              </a:rPr>
              <a:t>: Navigation applications like Google Maps, Waze, and Apple Maps utilize searching to help users find locations, addresses, points of interest, and directions. Users can search for specific destinations, landmarks, businesses, or services, and the application provides navigation instructions and route suggestions.</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Healthcare Systems: </a:t>
            </a:r>
            <a:r>
              <a:rPr lang="en-US" sz="1400" b="0" i="0" dirty="0">
                <a:solidFill>
                  <a:srgbClr val="0D0D0D"/>
                </a:solidFill>
                <a:effectLst/>
                <a:latin typeface="Times New Roman" panose="02020603050405020304" pitchFamily="18" charset="0"/>
                <a:cs typeface="Times New Roman" panose="02020603050405020304" pitchFamily="18" charset="0"/>
              </a:rPr>
              <a:t>Healthcare systems and electronic health records (EHRs) use searching to retrieve patient records, medical histories, diagnostic reports, and treatment plans. Healthcare providers can search for specific patient information, lab results, medications, or medical images to aid diagnosis and treatment decisions.</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Enterprise Search</a:t>
            </a:r>
            <a:r>
              <a:rPr lang="en-US" sz="1400" b="0" i="0" dirty="0">
                <a:solidFill>
                  <a:srgbClr val="0D0D0D"/>
                </a:solidFill>
                <a:effectLst/>
                <a:latin typeface="Times New Roman" panose="02020603050405020304" pitchFamily="18" charset="0"/>
                <a:cs typeface="Times New Roman" panose="02020603050405020304" pitchFamily="18" charset="0"/>
              </a:rPr>
              <a:t>: Large organizations use enterprise search solutions to index and search internal documents, emails, presentations, and other digital assets. Employees can search for documents, files, or information stored across various systems and repositories, improving productivity and knowledge management.</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Legal and Research Databases</a:t>
            </a:r>
            <a:r>
              <a:rPr lang="en-US" sz="1400" b="0" i="0" dirty="0">
                <a:solidFill>
                  <a:srgbClr val="0D0D0D"/>
                </a:solidFill>
                <a:effectLst/>
                <a:latin typeface="Times New Roman" panose="02020603050405020304" pitchFamily="18" charset="0"/>
                <a:cs typeface="Times New Roman" panose="02020603050405020304" pitchFamily="18" charset="0"/>
              </a:rPr>
              <a:t>: Legal professionals and researchers use specialized search platforms to search for case law, statutes, regulations, scholarly articles, and other legal or academic documents. These platforms provide advanced search capabilities, including </a:t>
            </a:r>
            <a:r>
              <a:rPr lang="en-US" sz="1400" b="0" i="0" dirty="0" err="1">
                <a:solidFill>
                  <a:srgbClr val="0D0D0D"/>
                </a:solidFill>
                <a:effectLst/>
                <a:latin typeface="Times New Roman" panose="02020603050405020304" pitchFamily="18" charset="0"/>
                <a:cs typeface="Times New Roman" panose="02020603050405020304" pitchFamily="18" charset="0"/>
              </a:rPr>
              <a:t>boolean</a:t>
            </a:r>
            <a:r>
              <a:rPr lang="en-US" sz="1400" b="0" i="0" dirty="0">
                <a:solidFill>
                  <a:srgbClr val="0D0D0D"/>
                </a:solidFill>
                <a:effectLst/>
                <a:latin typeface="Times New Roman" panose="02020603050405020304" pitchFamily="18" charset="0"/>
                <a:cs typeface="Times New Roman" panose="02020603050405020304" pitchFamily="18" charset="0"/>
              </a:rPr>
              <a:t> operators, filters, and citation indexing, to facilitate precise and comprehensive searching.</a:t>
            </a:r>
          </a:p>
          <a:p>
            <a:pPr algn="just">
              <a:buFont typeface="+mj-lt"/>
              <a:buAutoNum type="arabicPeriod"/>
            </a:pPr>
            <a:r>
              <a:rPr lang="en-US" sz="1400" b="1" i="0" dirty="0">
                <a:solidFill>
                  <a:srgbClr val="0D0D0D"/>
                </a:solidFill>
                <a:effectLst/>
                <a:latin typeface="Times New Roman" panose="02020603050405020304" pitchFamily="18" charset="0"/>
                <a:cs typeface="Times New Roman" panose="02020603050405020304" pitchFamily="18" charset="0"/>
              </a:rPr>
              <a:t>Customer Support Systems</a:t>
            </a:r>
            <a:r>
              <a:rPr lang="en-US" sz="1400" b="0" i="0" dirty="0">
                <a:solidFill>
                  <a:srgbClr val="0D0D0D"/>
                </a:solidFill>
                <a:effectLst/>
                <a:latin typeface="Times New Roman" panose="02020603050405020304" pitchFamily="18" charset="0"/>
                <a:cs typeface="Times New Roman" panose="02020603050405020304" pitchFamily="18" charset="0"/>
              </a:rPr>
              <a:t>: Customer support platforms use searching to help agents quickly find relevant information, FAQs, knowledge base articles, or previous support tickets related to customer inquiries. Searching enables efficient resolution of customer issues, reduces response times, and improves customer satisfaction.</a:t>
            </a:r>
          </a:p>
          <a:p>
            <a:pPr algn="just"/>
            <a:endParaRPr lang="en-IN" sz="900"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597F6C03-AA33-57F5-FB8D-3A25C4B9E0E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981891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700" b="1" dirty="0">
                <a:latin typeface="Times New Roman" pitchFamily="18" charset="0"/>
                <a:cs typeface="Times New Roman" pitchFamily="18" charset="0"/>
              </a:rPr>
              <a:t>How to Find Out</a:t>
            </a:r>
            <a:endParaRPr lang="en-IN" sz="2700" b="1" dirty="0">
              <a:latin typeface="Times New Roman"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marL="0" indent="0" algn="just">
              <a:buNone/>
            </a:pPr>
            <a:r>
              <a:rPr lang="en-US" b="0" i="0" dirty="0">
                <a:solidFill>
                  <a:srgbClr val="0D0D0D"/>
                </a:solidFill>
                <a:effectLst/>
                <a:latin typeface="Times New Roman" panose="02020603050405020304" pitchFamily="18" charset="0"/>
                <a:cs typeface="Times New Roman" panose="02020603050405020304" pitchFamily="18" charset="0"/>
              </a:rPr>
              <a:t>There are several techniques for searching data efficiently, each suited for different scenarios based on factors like data structure, size of the dataset, and the nature of the search. Here are some commonly used searching techniques</a:t>
            </a:r>
            <a:endParaRPr lang="en-US" dirty="0">
              <a:solidFill>
                <a:srgbClr val="0D0D0D"/>
              </a:solidFill>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dirty="0">
                <a:solidFill>
                  <a:srgbClr val="0D0D0D"/>
                </a:solidFill>
                <a:latin typeface="Times New Roman" panose="02020603050405020304" pitchFamily="18" charset="0"/>
                <a:cs typeface="Times New Roman" panose="02020603050405020304" pitchFamily="18" charset="0"/>
              </a:rPr>
              <a:t>Linear Search </a:t>
            </a:r>
          </a:p>
          <a:p>
            <a:pPr marL="457200" indent="-457200" algn="just">
              <a:buFont typeface="+mj-lt"/>
              <a:buAutoNum type="arabicPeriod"/>
            </a:pPr>
            <a:r>
              <a:rPr lang="en-US" dirty="0">
                <a:solidFill>
                  <a:srgbClr val="0D0D0D"/>
                </a:solidFill>
                <a:latin typeface="Times New Roman" panose="02020603050405020304" pitchFamily="18" charset="0"/>
                <a:cs typeface="Times New Roman" panose="02020603050405020304" pitchFamily="18" charset="0"/>
              </a:rPr>
              <a:t>Binary Search </a:t>
            </a:r>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5518D36F-0B85-6BEA-C3ED-F363ED9E9CEB}"/>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7110435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IN" sz="2800" b="1" i="0" dirty="0">
                <a:solidFill>
                  <a:srgbClr val="0D0D0D"/>
                </a:solidFill>
                <a:effectLst/>
                <a:latin typeface="Times New Roman" panose="02020603050405020304" pitchFamily="18" charset="0"/>
                <a:cs typeface="Times New Roman" panose="02020603050405020304" pitchFamily="18" charset="0"/>
              </a:rPr>
              <a:t>Linear Search</a:t>
            </a:r>
            <a:endParaRPr lang="en-IN" sz="4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algn="just"/>
            <a:r>
              <a:rPr lang="en-US" b="0" i="0" dirty="0">
                <a:solidFill>
                  <a:srgbClr val="0D0D0D"/>
                </a:solidFill>
                <a:effectLst/>
                <a:latin typeface="Times New Roman" panose="02020603050405020304" pitchFamily="18" charset="0"/>
                <a:cs typeface="Times New Roman" panose="02020603050405020304" pitchFamily="18" charset="0"/>
              </a:rPr>
              <a:t>Linear search is a straightforward searching algorithm that iterates through each element of a collection (such as an array or a list) sequentially until the desired element is found or the end of the collection is reached. It is the simplest searching algorithm and is suitable for small datasets or unsorted collections.</a:t>
            </a:r>
          </a:p>
          <a:p>
            <a:pPr algn="just"/>
            <a:r>
              <a:rPr lang="en-US" dirty="0">
                <a:solidFill>
                  <a:srgbClr val="0D0D0D"/>
                </a:solidFill>
                <a:latin typeface="Times New Roman" panose="02020603050405020304" pitchFamily="18" charset="0"/>
                <a:cs typeface="Times New Roman" panose="02020603050405020304" pitchFamily="18" charset="0"/>
              </a:rPr>
              <a:t>Problem: Given an array of integers and a target element , If such a  element exists, return their indices; otherwise, return -1.</a:t>
            </a:r>
          </a:p>
          <a:p>
            <a:pPr marL="0" indent="0" algn="just">
              <a:buNone/>
            </a:pPr>
            <a:r>
              <a:rPr lang="en-US" dirty="0">
                <a:solidFill>
                  <a:srgbClr val="0D0D0D"/>
                </a:solidFill>
                <a:latin typeface="Times New Roman" panose="02020603050405020304" pitchFamily="18" charset="0"/>
                <a:cs typeface="Times New Roman" panose="02020603050405020304" pitchFamily="18" charset="0"/>
              </a:rPr>
              <a:t>Example:</a:t>
            </a:r>
          </a:p>
          <a:p>
            <a:pPr algn="just">
              <a:buFont typeface="Arial" panose="020B0604020202020204" pitchFamily="34" charset="0"/>
              <a:buChar char="•"/>
            </a:pPr>
            <a:r>
              <a:rPr lang="en-US" dirty="0">
                <a:solidFill>
                  <a:srgbClr val="0D0D0D"/>
                </a:solidFill>
                <a:latin typeface="Times New Roman" panose="02020603050405020304" pitchFamily="18" charset="0"/>
                <a:cs typeface="Times New Roman" panose="02020603050405020304" pitchFamily="18" charset="0"/>
              </a:rPr>
              <a:t>Array: [5, 8, 12, 6, 3, 7]</a:t>
            </a:r>
          </a:p>
          <a:p>
            <a:pPr algn="just">
              <a:buFont typeface="Arial" panose="020B0604020202020204" pitchFamily="34" charset="0"/>
              <a:buChar char="•"/>
            </a:pPr>
            <a:r>
              <a:rPr lang="en-US" dirty="0">
                <a:solidFill>
                  <a:srgbClr val="0D0D0D"/>
                </a:solidFill>
                <a:latin typeface="Times New Roman" panose="02020603050405020304" pitchFamily="18" charset="0"/>
                <a:cs typeface="Times New Roman" panose="02020603050405020304" pitchFamily="18" charset="0"/>
              </a:rPr>
              <a:t>Target Sum: 13</a:t>
            </a:r>
          </a:p>
          <a:p>
            <a:pPr algn="just">
              <a:buFont typeface="Arial" panose="020B0604020202020204" pitchFamily="34" charset="0"/>
              <a:buChar char="•"/>
            </a:pPr>
            <a:r>
              <a:rPr lang="en-US" dirty="0">
                <a:solidFill>
                  <a:srgbClr val="0D0D0D"/>
                </a:solidFill>
                <a:latin typeface="Times New Roman" panose="02020603050405020304" pitchFamily="18" charset="0"/>
                <a:cs typeface="Times New Roman" panose="02020603050405020304" pitchFamily="18" charset="0"/>
              </a:rPr>
              <a:t>Expected Output: -1</a:t>
            </a:r>
          </a:p>
          <a:p>
            <a:pPr algn="just"/>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48D37822-3DDC-3535-F81D-E86EA83C761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822214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IN" sz="2800" b="1" i="0" dirty="0">
                <a:solidFill>
                  <a:srgbClr val="0D0D0D"/>
                </a:solidFill>
                <a:effectLst/>
                <a:latin typeface="Times New Roman" panose="02020603050405020304" pitchFamily="18" charset="0"/>
                <a:cs typeface="Times New Roman" panose="02020603050405020304" pitchFamily="18" charset="0"/>
              </a:rPr>
              <a:t>Linear Search Algorithms </a:t>
            </a:r>
            <a:endParaRPr lang="en-IN" sz="4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algn="just"/>
            <a:r>
              <a:rPr lang="en-US" b="1" i="0" dirty="0">
                <a:solidFill>
                  <a:srgbClr val="0D0D0D"/>
                </a:solidFill>
                <a:effectLst/>
                <a:latin typeface="Times New Roman" panose="02020603050405020304" pitchFamily="18" charset="0"/>
                <a:cs typeface="Times New Roman" panose="02020603050405020304" pitchFamily="18" charset="0"/>
              </a:rPr>
              <a:t>Algorithm</a:t>
            </a:r>
            <a:r>
              <a:rPr lang="en-US" b="0" i="0" dirty="0">
                <a:solidFill>
                  <a:srgbClr val="0D0D0D"/>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Start from the first element of the collection.</a:t>
            </a: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Compare each element with the target element.</a:t>
            </a: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If the element matches the target, return its index.</a:t>
            </a: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If the element does not match, move to the next element.</a:t>
            </a: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Repeat steps 2-4 until the target is found or the end of the collection is reached.</a:t>
            </a:r>
          </a:p>
          <a:p>
            <a:pPr algn="just">
              <a:buFont typeface="+mj-lt"/>
              <a:buAutoNum type="arabicPeriod"/>
            </a:pPr>
            <a:r>
              <a:rPr lang="en-US" b="0" i="0" dirty="0">
                <a:solidFill>
                  <a:srgbClr val="0D0D0D"/>
                </a:solidFill>
                <a:effectLst/>
                <a:latin typeface="Times New Roman" panose="02020603050405020304" pitchFamily="18" charset="0"/>
                <a:cs typeface="Times New Roman" panose="02020603050405020304" pitchFamily="18" charset="0"/>
              </a:rPr>
              <a:t>If the target is not found after iterating through all elements, return -1 or an indication that the target is not present.</a:t>
            </a:r>
          </a:p>
          <a:p>
            <a:pPr algn="just"/>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8F5D0A75-301C-E62A-547C-DA71B7884AC9}"/>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73560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IN" sz="2800" b="1" i="0" dirty="0">
                <a:solidFill>
                  <a:srgbClr val="0D0D0D"/>
                </a:solidFill>
                <a:effectLst/>
                <a:latin typeface="Times New Roman" panose="02020603050405020304" pitchFamily="18" charset="0"/>
                <a:cs typeface="Times New Roman" panose="02020603050405020304" pitchFamily="18" charset="0"/>
              </a:rPr>
              <a:t>Linear Search Code </a:t>
            </a:r>
            <a:endParaRPr lang="en-IN" sz="4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7" name="Picture 6">
            <a:extLst>
              <a:ext uri="{FF2B5EF4-FFF2-40B4-BE49-F238E27FC236}">
                <a16:creationId xmlns:a16="http://schemas.microsoft.com/office/drawing/2014/main" id="{D3F86206-D482-F5D7-1708-C0B09FA3B46E}"/>
              </a:ext>
            </a:extLst>
          </p:cNvPr>
          <p:cNvPicPr>
            <a:picLocks noChangeAspect="1"/>
          </p:cNvPicPr>
          <p:nvPr/>
        </p:nvPicPr>
        <p:blipFill>
          <a:blip r:embed="rId3"/>
          <a:stretch>
            <a:fillRect/>
          </a:stretch>
        </p:blipFill>
        <p:spPr>
          <a:xfrm>
            <a:off x="129645" y="819345"/>
            <a:ext cx="4752975" cy="3905250"/>
          </a:xfrm>
          <a:prstGeom prst="rect">
            <a:avLst/>
          </a:prstGeom>
        </p:spPr>
      </p:pic>
      <p:pic>
        <p:nvPicPr>
          <p:cNvPr id="9" name="Picture 8">
            <a:extLst>
              <a:ext uri="{FF2B5EF4-FFF2-40B4-BE49-F238E27FC236}">
                <a16:creationId xmlns:a16="http://schemas.microsoft.com/office/drawing/2014/main" id="{EC6E9CB1-0482-B82E-6B0A-6950462BCA37}"/>
              </a:ext>
            </a:extLst>
          </p:cNvPr>
          <p:cNvPicPr>
            <a:picLocks noChangeAspect="1"/>
          </p:cNvPicPr>
          <p:nvPr/>
        </p:nvPicPr>
        <p:blipFill>
          <a:blip r:embed="rId4"/>
          <a:stretch>
            <a:fillRect/>
          </a:stretch>
        </p:blipFill>
        <p:spPr>
          <a:xfrm>
            <a:off x="5147734" y="843160"/>
            <a:ext cx="3623733" cy="2938618"/>
          </a:xfrm>
          <a:prstGeom prst="rect">
            <a:avLst/>
          </a:prstGeom>
        </p:spPr>
      </p:pic>
      <p:sp>
        <p:nvSpPr>
          <p:cNvPr id="3" name="Rectangle 2">
            <a:extLst>
              <a:ext uri="{FF2B5EF4-FFF2-40B4-BE49-F238E27FC236}">
                <a16:creationId xmlns:a16="http://schemas.microsoft.com/office/drawing/2014/main" id="{D0677959-10FA-2F29-C19C-3B08DD93DA8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598523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400" b="1" dirty="0">
                <a:latin typeface="Times New Roman" panose="02020603050405020304" pitchFamily="18" charset="0"/>
                <a:cs typeface="Times New Roman" pitchFamily="18" charset="0"/>
              </a:rPr>
              <a:t>Time Complexity Linear Search </a:t>
            </a:r>
            <a:endParaRPr lang="en-IN" sz="2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algn="just"/>
            <a:r>
              <a:rPr lang="en-US" b="0" i="0" dirty="0">
                <a:solidFill>
                  <a:srgbClr val="0D0D0D"/>
                </a:solidFill>
                <a:effectLst/>
                <a:latin typeface="Times New Roman" panose="02020603050405020304" pitchFamily="18" charset="0"/>
                <a:cs typeface="Times New Roman" panose="02020603050405020304" pitchFamily="18" charset="0"/>
              </a:rPr>
              <a:t>The time complexity of linear search is </a:t>
            </a:r>
            <a:r>
              <a:rPr lang="en-US" b="0" i="1" dirty="0">
                <a:solidFill>
                  <a:srgbClr val="0D0D0D"/>
                </a:solidFill>
                <a:effectLst/>
                <a:latin typeface="Times New Roman" panose="02020603050405020304" pitchFamily="18" charset="0"/>
                <a:cs typeface="Times New Roman" panose="02020603050405020304" pitchFamily="18" charset="0"/>
              </a:rPr>
              <a:t>O</a:t>
            </a:r>
            <a:r>
              <a:rPr lang="en-US" b="0" i="0" dirty="0">
                <a:solidFill>
                  <a:srgbClr val="0D0D0D"/>
                </a:solidFill>
                <a:effectLst/>
                <a:latin typeface="Times New Roman" panose="02020603050405020304" pitchFamily="18" charset="0"/>
                <a:cs typeface="Times New Roman" panose="02020603050405020304" pitchFamily="18" charset="0"/>
              </a:rPr>
              <a:t>(</a:t>
            </a:r>
            <a:r>
              <a:rPr lang="en-US" b="0" i="1" dirty="0">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 where </a:t>
            </a:r>
            <a:r>
              <a:rPr lang="en-US" b="0" i="1" dirty="0">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 is the number of elements in the array.</a:t>
            </a:r>
          </a:p>
          <a:p>
            <a:pPr algn="just"/>
            <a:endParaRPr lang="en-US" dirty="0">
              <a:solidFill>
                <a:srgbClr val="0D0D0D"/>
              </a:solidFill>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585FBABA-4C19-96A4-C7E9-2A785BEDE42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088193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2400" b="1" dirty="0">
                <a:latin typeface="Times New Roman" panose="02020603050405020304" pitchFamily="18" charset="0"/>
                <a:cs typeface="Times New Roman" pitchFamily="18" charset="0"/>
              </a:rPr>
              <a:t>Disadvantages of Linear Search</a:t>
            </a:r>
            <a:endParaRPr lang="en-IN" sz="2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fontScale="70000" lnSpcReduction="20000"/>
          </a:bodyPr>
          <a:lstStyle/>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Time Complexity</a:t>
            </a:r>
            <a:r>
              <a:rPr lang="en-US" b="0" i="0" dirty="0">
                <a:solidFill>
                  <a:srgbClr val="0D0D0D"/>
                </a:solidFill>
                <a:effectLst/>
                <a:latin typeface="Times New Roman" panose="02020603050405020304" pitchFamily="18" charset="0"/>
                <a:cs typeface="Times New Roman" panose="02020603050405020304" pitchFamily="18" charset="0"/>
              </a:rPr>
              <a:t>: The time complexity of linear search is </a:t>
            </a:r>
            <a:r>
              <a:rPr lang="en-US" b="0" i="1" dirty="0">
                <a:solidFill>
                  <a:srgbClr val="0D0D0D"/>
                </a:solidFill>
                <a:effectLst/>
                <a:latin typeface="Times New Roman" panose="02020603050405020304" pitchFamily="18" charset="0"/>
                <a:cs typeface="Times New Roman" panose="02020603050405020304" pitchFamily="18" charset="0"/>
              </a:rPr>
              <a:t>O</a:t>
            </a:r>
            <a:r>
              <a:rPr lang="en-US" b="0" i="0" dirty="0">
                <a:solidFill>
                  <a:srgbClr val="0D0D0D"/>
                </a:solidFill>
                <a:effectLst/>
                <a:latin typeface="Times New Roman" panose="02020603050405020304" pitchFamily="18" charset="0"/>
                <a:cs typeface="Times New Roman" panose="02020603050405020304" pitchFamily="18" charset="0"/>
              </a:rPr>
              <a:t>(</a:t>
            </a:r>
            <a:r>
              <a:rPr lang="en-US" b="0" i="1" dirty="0">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 where </a:t>
            </a:r>
            <a:r>
              <a:rPr lang="en-US" b="0" i="1" dirty="0">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 is the number of elements in the array. This means that as the size of the array increases, the time taken by linear search also increases linearly. For large datasets, linear search may not be efficient compared to algorithms with better time complexities like binary search </a:t>
            </a:r>
            <a:r>
              <a:rPr lang="en-US" b="0" i="1" dirty="0">
                <a:solidFill>
                  <a:srgbClr val="0D0D0D"/>
                </a:solidFill>
                <a:effectLst/>
                <a:latin typeface="Times New Roman" panose="02020603050405020304" pitchFamily="18" charset="0"/>
                <a:cs typeface="Times New Roman" panose="02020603050405020304" pitchFamily="18" charset="0"/>
              </a:rPr>
              <a:t>O</a:t>
            </a:r>
            <a:r>
              <a:rPr lang="en-US" b="0" i="0" dirty="0">
                <a:solidFill>
                  <a:srgbClr val="0D0D0D"/>
                </a:solidFill>
                <a:effectLst/>
                <a:latin typeface="Times New Roman" panose="02020603050405020304" pitchFamily="18" charset="0"/>
                <a:cs typeface="Times New Roman" panose="02020603050405020304" pitchFamily="18" charset="0"/>
              </a:rPr>
              <a:t>(</a:t>
            </a:r>
            <a:r>
              <a:rPr lang="en-US" b="0" i="0" dirty="0" err="1">
                <a:solidFill>
                  <a:srgbClr val="0D0D0D"/>
                </a:solidFill>
                <a:effectLst/>
                <a:latin typeface="Times New Roman" panose="02020603050405020304" pitchFamily="18" charset="0"/>
                <a:cs typeface="Times New Roman" panose="02020603050405020304" pitchFamily="18" charset="0"/>
              </a:rPr>
              <a:t>log</a:t>
            </a:r>
            <a:r>
              <a:rPr lang="en-US" b="0" i="1" dirty="0" err="1">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Performance</a:t>
            </a:r>
            <a:r>
              <a:rPr lang="en-US" b="0" i="0" dirty="0">
                <a:solidFill>
                  <a:srgbClr val="0D0D0D"/>
                </a:solidFill>
                <a:effectLst/>
                <a:latin typeface="Times New Roman" panose="02020603050405020304" pitchFamily="18" charset="0"/>
                <a:cs typeface="Times New Roman" panose="02020603050405020304" pitchFamily="18" charset="0"/>
              </a:rPr>
              <a:t>: Linear search may be slow for large datasets or when the target element is located towards the end of the array. This is because linear search needs to traverse the entire array sequentially, making </a:t>
            </a:r>
            <a:r>
              <a:rPr lang="en-US" b="0" i="1" dirty="0">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 comparisons in the worst-case scenario.</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Not Suitable for Sorted Data</a:t>
            </a:r>
            <a:r>
              <a:rPr lang="en-US" b="0" i="0" dirty="0">
                <a:solidFill>
                  <a:srgbClr val="0D0D0D"/>
                </a:solidFill>
                <a:effectLst/>
                <a:latin typeface="Times New Roman" panose="02020603050405020304" pitchFamily="18" charset="0"/>
                <a:cs typeface="Times New Roman" panose="02020603050405020304" pitchFamily="18" charset="0"/>
              </a:rPr>
              <a:t>: Linear search does not require the data to be sorted beforehand. While this can be an advantage in some cases, it also means that linear search cannot take advantage of sorted data to improve efficiency. Algorithms like binary search are more suitable for sorted arrays due to their logarithmic time complexity.</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Inefficient for Unsorted Data</a:t>
            </a:r>
            <a:r>
              <a:rPr lang="en-US" b="0" i="0" dirty="0">
                <a:solidFill>
                  <a:srgbClr val="0D0D0D"/>
                </a:solidFill>
                <a:effectLst/>
                <a:latin typeface="Times New Roman" panose="02020603050405020304" pitchFamily="18" charset="0"/>
                <a:cs typeface="Times New Roman" panose="02020603050405020304" pitchFamily="18" charset="0"/>
              </a:rPr>
              <a:t>: Even though linear search can work on unsorted arrays, its performance is not optimized for such data. In scenarios where the data is unsorted, other searching algorithms may provide better performance.</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No Early Termination</a:t>
            </a:r>
            <a:r>
              <a:rPr lang="en-US" b="0" i="0" dirty="0">
                <a:solidFill>
                  <a:srgbClr val="0D0D0D"/>
                </a:solidFill>
                <a:effectLst/>
                <a:latin typeface="Times New Roman" panose="02020603050405020304" pitchFamily="18" charset="0"/>
                <a:cs typeface="Times New Roman" panose="02020603050405020304" pitchFamily="18" charset="0"/>
              </a:rPr>
              <a:t>: Linear search always needs to iterate through all elements of the array, even if the target element is found early in the search process. This lack of early termination can result in unnecessary comparisons, especially when the target element is located near the beginning of the array.</a:t>
            </a:r>
          </a:p>
          <a:p>
            <a:pPr algn="just">
              <a:buFont typeface="+mj-lt"/>
              <a:buAutoNum type="arabicPeriod"/>
            </a:pPr>
            <a:r>
              <a:rPr lang="en-US" b="1" i="0" dirty="0">
                <a:solidFill>
                  <a:srgbClr val="0D0D0D"/>
                </a:solidFill>
                <a:effectLst/>
                <a:latin typeface="Times New Roman" panose="02020603050405020304" pitchFamily="18" charset="0"/>
                <a:cs typeface="Times New Roman" panose="02020603050405020304" pitchFamily="18" charset="0"/>
              </a:rPr>
              <a:t>Not Suitable for Large Datasets</a:t>
            </a:r>
            <a:r>
              <a:rPr lang="en-US" b="0" i="0" dirty="0">
                <a:solidFill>
                  <a:srgbClr val="0D0D0D"/>
                </a:solidFill>
                <a:effectLst/>
                <a:latin typeface="Times New Roman" panose="02020603050405020304" pitchFamily="18" charset="0"/>
                <a:cs typeface="Times New Roman" panose="02020603050405020304" pitchFamily="18" charset="0"/>
              </a:rPr>
              <a:t>: In applications where efficiency is critical, such as searching in large databases or real-time systems, linear search may not scale well due to its </a:t>
            </a:r>
            <a:r>
              <a:rPr lang="en-US" b="0" i="1" dirty="0">
                <a:solidFill>
                  <a:srgbClr val="0D0D0D"/>
                </a:solidFill>
                <a:effectLst/>
                <a:latin typeface="Times New Roman" panose="02020603050405020304" pitchFamily="18" charset="0"/>
                <a:cs typeface="Times New Roman" panose="02020603050405020304" pitchFamily="18" charset="0"/>
              </a:rPr>
              <a:t>O</a:t>
            </a:r>
            <a:r>
              <a:rPr lang="en-US" b="0" i="0" dirty="0">
                <a:solidFill>
                  <a:srgbClr val="0D0D0D"/>
                </a:solidFill>
                <a:effectLst/>
                <a:latin typeface="Times New Roman" panose="02020603050405020304" pitchFamily="18" charset="0"/>
                <a:cs typeface="Times New Roman" panose="02020603050405020304" pitchFamily="18" charset="0"/>
              </a:rPr>
              <a:t>(</a:t>
            </a:r>
            <a:r>
              <a:rPr lang="en-US" b="0" i="1" dirty="0">
                <a:solidFill>
                  <a:srgbClr val="0D0D0D"/>
                </a:solidFill>
                <a:effectLst/>
                <a:latin typeface="Times New Roman" panose="02020603050405020304" pitchFamily="18" charset="0"/>
                <a:cs typeface="Times New Roman" panose="02020603050405020304" pitchFamily="18" charset="0"/>
              </a:rPr>
              <a:t>n</a:t>
            </a:r>
            <a:r>
              <a:rPr lang="en-US" b="0" i="0" dirty="0">
                <a:solidFill>
                  <a:srgbClr val="0D0D0D"/>
                </a:solidFill>
                <a:effectLst/>
                <a:latin typeface="Times New Roman" panose="02020603050405020304" pitchFamily="18" charset="0"/>
                <a:cs typeface="Times New Roman" panose="02020603050405020304" pitchFamily="18" charset="0"/>
              </a:rPr>
              <a:t>) time complexity. More efficient searching algorithms are preferred in such cases.</a:t>
            </a:r>
          </a:p>
          <a:p>
            <a:pPr algn="just"/>
            <a:endParaRPr lang="en-US" dirty="0">
              <a:solidFill>
                <a:srgbClr val="0D0D0D"/>
              </a:solidFill>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AA3F48EC-00FB-51EA-472C-2182CB62B4A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6563988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IN" sz="2800" b="1" i="0" dirty="0">
                <a:solidFill>
                  <a:srgbClr val="0D0D0D"/>
                </a:solidFill>
                <a:effectLst/>
                <a:latin typeface="Times New Roman" panose="02020603050405020304" pitchFamily="18" charset="0"/>
                <a:cs typeface="Times New Roman" panose="02020603050405020304" pitchFamily="18" charset="0"/>
              </a:rPr>
              <a:t>Binary Search Algorithms </a:t>
            </a:r>
            <a:endParaRPr lang="en-IN" sz="4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marL="0" indent="0" algn="just">
              <a:buNone/>
            </a:pPr>
            <a:r>
              <a:rPr lang="en-US" b="1" dirty="0">
                <a:solidFill>
                  <a:srgbClr val="273239"/>
                </a:solidFill>
                <a:effectLst/>
                <a:latin typeface="Times New Roman" panose="02020603050405020304" pitchFamily="18" charset="0"/>
                <a:cs typeface="Times New Roman" panose="02020603050405020304" pitchFamily="18" charset="0"/>
              </a:rPr>
              <a:t>Binary Search</a:t>
            </a:r>
            <a:r>
              <a:rPr lang="en-US" b="0" dirty="0">
                <a:solidFill>
                  <a:srgbClr val="273239"/>
                </a:solidFill>
                <a:effectLst/>
                <a:latin typeface="Times New Roman" panose="02020603050405020304" pitchFamily="18" charset="0"/>
                <a:cs typeface="Times New Roman" panose="02020603050405020304" pitchFamily="18" charset="0"/>
              </a:rPr>
              <a:t> is defined as a </a:t>
            </a:r>
            <a:r>
              <a:rPr lang="en-US" b="0" u="sng" dirty="0">
                <a:effectLst/>
                <a:latin typeface="Times New Roman" panose="02020603050405020304" pitchFamily="18" charset="0"/>
                <a:cs typeface="Times New Roman" panose="02020603050405020304" pitchFamily="18" charset="0"/>
                <a:hlinkClick r:id="rId2"/>
              </a:rPr>
              <a:t>searching algorithm</a:t>
            </a:r>
            <a:r>
              <a:rPr lang="en-US" b="0" dirty="0">
                <a:solidFill>
                  <a:srgbClr val="273239"/>
                </a:solidFill>
                <a:effectLst/>
                <a:latin typeface="Times New Roman" panose="02020603050405020304" pitchFamily="18" charset="0"/>
                <a:cs typeface="Times New Roman" panose="02020603050405020304" pitchFamily="18" charset="0"/>
              </a:rPr>
              <a:t> used in a sorted array by </a:t>
            </a:r>
            <a:r>
              <a:rPr lang="en-US" b="1" dirty="0">
                <a:solidFill>
                  <a:srgbClr val="273239"/>
                </a:solidFill>
                <a:effectLst/>
                <a:latin typeface="Times New Roman" panose="02020603050405020304" pitchFamily="18" charset="0"/>
                <a:cs typeface="Times New Roman" panose="02020603050405020304" pitchFamily="18" charset="0"/>
              </a:rPr>
              <a:t>repeatedly dividing the search interval in half</a:t>
            </a:r>
            <a:r>
              <a:rPr lang="en-US" b="0" dirty="0">
                <a:solidFill>
                  <a:srgbClr val="273239"/>
                </a:solidFill>
                <a:effectLst/>
                <a:latin typeface="Times New Roman" panose="02020603050405020304" pitchFamily="18" charset="0"/>
                <a:cs typeface="Times New Roman" panose="02020603050405020304" pitchFamily="18" charset="0"/>
              </a:rPr>
              <a:t>. The idea of binary search is to use the information that the array is sorted and reduce the time complexity to O(log N). </a:t>
            </a:r>
          </a:p>
          <a:p>
            <a:pPr marL="0" indent="0" algn="just">
              <a:buNone/>
            </a:pPr>
            <a:endParaRPr lang="en-US" dirty="0">
              <a:solidFill>
                <a:srgbClr val="273239"/>
              </a:solidFill>
              <a:latin typeface="Times New Roman" panose="02020603050405020304" pitchFamily="18" charset="0"/>
              <a:cs typeface="Times New Roman" panose="02020603050405020304" pitchFamily="18" charset="0"/>
            </a:endParaRPr>
          </a:p>
          <a:p>
            <a:pPr marL="0" indent="0" algn="just">
              <a:buNone/>
            </a:pPr>
            <a:endParaRPr lang="en-US"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endParaRPr lang="en-US" b="0" dirty="0">
              <a:solidFill>
                <a:srgbClr val="273239"/>
              </a:solidFill>
              <a:effectLst/>
              <a:latin typeface="Times New Roman" panose="02020603050405020304" pitchFamily="18" charset="0"/>
              <a:cs typeface="Times New Roman" panose="02020603050405020304" pitchFamily="18" charset="0"/>
            </a:endParaRPr>
          </a:p>
          <a:p>
            <a:pPr marL="0" indent="0" algn="just">
              <a:buNone/>
            </a:pPr>
            <a:endParaRPr lang="en-US" dirty="0">
              <a:solidFill>
                <a:srgbClr val="273239"/>
              </a:solidFill>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Rectangle 4">
            <a:extLst>
              <a:ext uri="{FF2B5EF4-FFF2-40B4-BE49-F238E27FC236}">
                <a16:creationId xmlns:a16="http://schemas.microsoft.com/office/drawing/2014/main" id="{7B112C98-B6B8-9D9B-E0C8-F0E04D9AA0AE}"/>
              </a:ext>
            </a:extLst>
          </p:cNvPr>
          <p:cNvSpPr/>
          <p:nvPr/>
        </p:nvSpPr>
        <p:spPr>
          <a:xfrm>
            <a:off x="0" y="488171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987596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3600" b="1" dirty="0">
                <a:latin typeface="Times New Roman" panose="02020603050405020304" pitchFamily="18" charset="0"/>
                <a:cs typeface="Times New Roman" pitchFamily="18" charset="0"/>
              </a:rPr>
              <a:t>Steps of Binary Search</a:t>
            </a:r>
            <a:endParaRPr lang="en-IN" sz="36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TextBox 7">
            <a:extLst>
              <a:ext uri="{FF2B5EF4-FFF2-40B4-BE49-F238E27FC236}">
                <a16:creationId xmlns:a16="http://schemas.microsoft.com/office/drawing/2014/main" id="{8933C5B4-DD42-C9F9-2D68-4F114B5F65AD}"/>
              </a:ext>
            </a:extLst>
          </p:cNvPr>
          <p:cNvSpPr txBox="1"/>
          <p:nvPr/>
        </p:nvSpPr>
        <p:spPr>
          <a:xfrm>
            <a:off x="418641" y="1013551"/>
            <a:ext cx="8494005" cy="3539430"/>
          </a:xfrm>
          <a:prstGeom prst="rect">
            <a:avLst/>
          </a:prstGeom>
          <a:noFill/>
        </p:spPr>
        <p:txBody>
          <a:bodyPr wrap="square">
            <a:spAutoFit/>
          </a:bodyPr>
          <a:lstStyle/>
          <a:p>
            <a:pPr marL="342900" indent="-342900" algn="just">
              <a:buFont typeface="+mj-lt"/>
              <a:buAutoNum type="arabicPeriod"/>
            </a:pPr>
            <a:r>
              <a:rPr lang="en-US" b="1" i="0" dirty="0">
                <a:solidFill>
                  <a:srgbClr val="0D0D0D"/>
                </a:solidFill>
                <a:effectLst/>
                <a:latin typeface="Amasis MT Pro" panose="02040504050005020304" pitchFamily="18" charset="0"/>
              </a:rPr>
              <a:t>Sort the Array</a:t>
            </a:r>
            <a:r>
              <a:rPr lang="en-US" b="0" i="0" dirty="0">
                <a:solidFill>
                  <a:srgbClr val="0D0D0D"/>
                </a:solidFill>
                <a:effectLst/>
                <a:latin typeface="Amasis MT Pro" panose="02040504050005020304" pitchFamily="18" charset="0"/>
              </a:rPr>
              <a:t>: Ensure that the array is sorted in ascending order. Binary search only works on sorted arrays</a:t>
            </a:r>
            <a:endParaRPr lang="en-US" dirty="0">
              <a:solidFill>
                <a:srgbClr val="0D0D0D"/>
              </a:solidFill>
              <a:latin typeface="Amasis MT Pro" panose="02040504050005020304" pitchFamily="18" charset="0"/>
            </a:endParaRPr>
          </a:p>
          <a:p>
            <a:pPr marL="342900" indent="-342900" algn="just">
              <a:buFont typeface="+mj-lt"/>
              <a:buAutoNum type="arabicPeriod"/>
            </a:pPr>
            <a:r>
              <a:rPr kumimoji="0" lang="en-US" altLang="en-US" sz="1400" b="1" i="0" u="none" strike="noStrike" cap="none" normalizeH="0" baseline="0" dirty="0">
                <a:ln>
                  <a:noFill/>
                </a:ln>
                <a:solidFill>
                  <a:srgbClr val="0D0D0D"/>
                </a:solidFill>
                <a:effectLst/>
                <a:latin typeface="Amasis MT Pro" panose="02040504050005020304" pitchFamily="18" charset="0"/>
              </a:rPr>
              <a:t>Initialize Pointers</a:t>
            </a:r>
            <a:r>
              <a:rPr kumimoji="0" lang="en-US" altLang="en-US" sz="1400" b="0" i="0" u="none" strike="noStrike" cap="none" normalizeH="0" baseline="0" dirty="0">
                <a:ln>
                  <a:noFill/>
                </a:ln>
                <a:solidFill>
                  <a:srgbClr val="0D0D0D"/>
                </a:solidFill>
                <a:effectLst/>
                <a:latin typeface="Amasis MT Pro" panose="02040504050005020304" pitchFamily="18" charset="0"/>
              </a:rPr>
              <a:t>: Set two pointers, </a:t>
            </a:r>
            <a:r>
              <a:rPr kumimoji="0" lang="en-US" altLang="en-US" b="1" i="0" u="none" strike="noStrike" cap="none" normalizeH="0" baseline="0" dirty="0">
                <a:ln>
                  <a:noFill/>
                </a:ln>
                <a:solidFill>
                  <a:srgbClr val="0D0D0D"/>
                </a:solidFill>
                <a:effectLst/>
                <a:latin typeface="Amasis MT Pro" panose="02040504050005020304" pitchFamily="18" charset="0"/>
              </a:rPr>
              <a:t>low</a:t>
            </a:r>
            <a:r>
              <a:rPr kumimoji="0" lang="en-US" altLang="en-US" sz="1400" b="0" i="0" u="none" strike="noStrike" cap="none" normalizeH="0" baseline="0" dirty="0">
                <a:ln>
                  <a:noFill/>
                </a:ln>
                <a:solidFill>
                  <a:srgbClr val="0D0D0D"/>
                </a:solidFill>
                <a:effectLst/>
                <a:latin typeface="Amasis MT Pro" panose="02040504050005020304" pitchFamily="18" charset="0"/>
              </a:rPr>
              <a:t> and </a:t>
            </a:r>
            <a:r>
              <a:rPr kumimoji="0" lang="en-US" altLang="en-US" b="1" i="0" u="none" strike="noStrike" cap="none" normalizeH="0" baseline="0" dirty="0">
                <a:ln>
                  <a:noFill/>
                </a:ln>
                <a:solidFill>
                  <a:srgbClr val="0D0D0D"/>
                </a:solidFill>
                <a:effectLst/>
                <a:latin typeface="Amasis MT Pro" panose="02040504050005020304" pitchFamily="18" charset="0"/>
              </a:rPr>
              <a:t>high</a:t>
            </a:r>
            <a:r>
              <a:rPr kumimoji="0" lang="en-US" altLang="en-US" sz="1400" b="0" i="0" u="none" strike="noStrike" cap="none" normalizeH="0" baseline="0" dirty="0">
                <a:ln>
                  <a:noFill/>
                </a:ln>
                <a:solidFill>
                  <a:srgbClr val="0D0D0D"/>
                </a:solidFill>
                <a:effectLst/>
                <a:latin typeface="Amasis MT Pro" panose="02040504050005020304" pitchFamily="18" charset="0"/>
              </a:rPr>
              <a:t>, initially pointing to the start and end of the array, respectively.</a:t>
            </a:r>
            <a:endParaRPr lang="en-US" altLang="en-US" dirty="0">
              <a:solidFill>
                <a:srgbClr val="0D0D0D"/>
              </a:solidFill>
              <a:latin typeface="Amasis MT Pro" panose="02040504050005020304" pitchFamily="18" charset="0"/>
            </a:endParaRPr>
          </a:p>
          <a:p>
            <a:pPr marL="342900" indent="-342900" algn="just">
              <a:buFont typeface="+mj-lt"/>
              <a:buAutoNum type="arabicPeriod"/>
            </a:pPr>
            <a:r>
              <a:rPr lang="en-US" altLang="en-US" b="1" dirty="0">
                <a:solidFill>
                  <a:srgbClr val="0D0D0D"/>
                </a:solidFill>
                <a:latin typeface="Amasis MT Pro" panose="02040504050005020304" pitchFamily="18" charset="0"/>
              </a:rPr>
              <a:t>Find the Midpoint: </a:t>
            </a:r>
            <a:r>
              <a:rPr lang="en-US" altLang="en-US" dirty="0">
                <a:solidFill>
                  <a:srgbClr val="0D0D0D"/>
                </a:solidFill>
                <a:latin typeface="Amasis MT Pro" panose="02040504050005020304" pitchFamily="18" charset="0"/>
              </a:rPr>
              <a:t>Calculate the midpoint of the array by averaging the low and high indices (using integer division). </a:t>
            </a:r>
          </a:p>
          <a:p>
            <a:pPr marL="342900" indent="-342900" algn="just">
              <a:buFont typeface="+mj-lt"/>
              <a:buAutoNum type="arabicPeriod"/>
            </a:pPr>
            <a:r>
              <a:rPr lang="en-US" b="1" dirty="0">
                <a:solidFill>
                  <a:srgbClr val="0D0D0D"/>
                </a:solidFill>
                <a:latin typeface="Amasis MT Pro" panose="02040504050005020304" pitchFamily="18" charset="0"/>
              </a:rPr>
              <a:t>Compare with the Target: </a:t>
            </a:r>
            <a:r>
              <a:rPr lang="en-US" dirty="0">
                <a:solidFill>
                  <a:srgbClr val="0D0D0D"/>
                </a:solidFill>
                <a:latin typeface="Amasis MT Pro" panose="02040504050005020304" pitchFamily="18" charset="0"/>
              </a:rPr>
              <a:t>Compare the value at the midpoint with the target value.</a:t>
            </a:r>
          </a:p>
          <a:p>
            <a:pPr marL="285750" indent="-285750" algn="just">
              <a:buFont typeface="Courier New" panose="02070309020205020404" pitchFamily="49" charset="0"/>
              <a:buChar char="o"/>
            </a:pPr>
            <a:r>
              <a:rPr lang="en-US" dirty="0">
                <a:solidFill>
                  <a:srgbClr val="0D0D0D"/>
                </a:solidFill>
                <a:latin typeface="Amasis MT Pro" panose="02040504050005020304" pitchFamily="18" charset="0"/>
              </a:rPr>
              <a:t>     If the value at the midpoint is equal to the target, the search is successful. Return the index of the midpoint.</a:t>
            </a:r>
          </a:p>
          <a:p>
            <a:pPr marL="285750" indent="-285750" algn="just">
              <a:buFont typeface="Courier New" panose="02070309020205020404" pitchFamily="49" charset="0"/>
              <a:buChar char="o"/>
            </a:pPr>
            <a:r>
              <a:rPr lang="en-US" dirty="0">
                <a:solidFill>
                  <a:srgbClr val="0D0D0D"/>
                </a:solidFill>
                <a:latin typeface="Amasis MT Pro" panose="02040504050005020304" pitchFamily="18" charset="0"/>
              </a:rPr>
              <a:t>If the value at the midpoint is greater than the target, update the high pointer to just before the midpoint and repeat step 3</a:t>
            </a:r>
          </a:p>
          <a:p>
            <a:pPr marL="285750" indent="-285750" algn="just">
              <a:buFont typeface="Courier New" panose="02070309020205020404" pitchFamily="49" charset="0"/>
              <a:buChar char="o"/>
            </a:pPr>
            <a:r>
              <a:rPr lang="en-US" dirty="0">
                <a:solidFill>
                  <a:srgbClr val="0D0D0D"/>
                </a:solidFill>
                <a:latin typeface="Amasis MT Pro" panose="02040504050005020304" pitchFamily="18" charset="0"/>
              </a:rPr>
              <a:t>If the value at the midpoint is less than the target, update the low pointer to just after the midpoint and repeat step 3</a:t>
            </a:r>
          </a:p>
          <a:p>
            <a:pPr algn="just"/>
            <a:r>
              <a:rPr lang="en-US" dirty="0">
                <a:solidFill>
                  <a:srgbClr val="0D0D0D"/>
                </a:solidFill>
                <a:latin typeface="Amasis MT Pro" panose="02040504050005020304" pitchFamily="18" charset="0"/>
              </a:rPr>
              <a:t>5. </a:t>
            </a:r>
            <a:r>
              <a:rPr lang="en-US" altLang="en-US" b="1" dirty="0">
                <a:solidFill>
                  <a:srgbClr val="0D0D0D"/>
                </a:solidFill>
                <a:latin typeface="Amasis MT Pro" panose="02040504050005020304" pitchFamily="18" charset="0"/>
              </a:rPr>
              <a:t>Repeat: </a:t>
            </a:r>
            <a:r>
              <a:rPr lang="en-US" altLang="en-US" dirty="0">
                <a:solidFill>
                  <a:srgbClr val="0D0D0D"/>
                </a:solidFill>
                <a:latin typeface="Amasis MT Pro" panose="02040504050005020304" pitchFamily="18" charset="0"/>
              </a:rPr>
              <a:t>Continue steps 3 and 4 until the target value is found or the low pointer exceeds the high pointer. </a:t>
            </a:r>
          </a:p>
          <a:p>
            <a:pPr algn="just"/>
            <a:r>
              <a:rPr lang="en-US" dirty="0">
                <a:solidFill>
                  <a:srgbClr val="0D0D0D"/>
                </a:solidFill>
                <a:latin typeface="Amasis MT Pro" panose="02040504050005020304" pitchFamily="18" charset="0"/>
              </a:rPr>
              <a:t>6. </a:t>
            </a:r>
            <a:r>
              <a:rPr lang="en-US" b="1" dirty="0">
                <a:solidFill>
                  <a:srgbClr val="0D0D0D"/>
                </a:solidFill>
                <a:latin typeface="Amasis MT Pro" panose="02040504050005020304" pitchFamily="18" charset="0"/>
              </a:rPr>
              <a:t>Termination:</a:t>
            </a:r>
            <a:r>
              <a:rPr lang="en-US" dirty="0">
                <a:solidFill>
                  <a:srgbClr val="0D0D0D"/>
                </a:solidFill>
                <a:latin typeface="Amasis MT Pro" panose="02040504050005020304" pitchFamily="18" charset="0"/>
              </a:rPr>
              <a:t> If the pointers cross without finding the target value, the search terminates, and the target value is not in the array.</a:t>
            </a:r>
          </a:p>
        </p:txBody>
      </p:sp>
      <p:sp>
        <p:nvSpPr>
          <p:cNvPr id="12" name="Rectangle 5">
            <a:extLst>
              <a:ext uri="{FF2B5EF4-FFF2-40B4-BE49-F238E27FC236}">
                <a16:creationId xmlns:a16="http://schemas.microsoft.com/office/drawing/2014/main" id="{59B0256E-3330-3B01-5434-B350D6CFF152}"/>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8F2FB80C-D0CF-38B6-7532-94F56768CBFB}"/>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8772898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3600" b="1" dirty="0">
                <a:latin typeface="Times New Roman" panose="02020603050405020304" pitchFamily="18" charset="0"/>
                <a:cs typeface="Times New Roman" pitchFamily="18" charset="0"/>
              </a:rPr>
              <a:t>Algorithms for Binary Search</a:t>
            </a:r>
            <a:endParaRPr lang="en-IN" sz="36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TextBox 7">
            <a:extLst>
              <a:ext uri="{FF2B5EF4-FFF2-40B4-BE49-F238E27FC236}">
                <a16:creationId xmlns:a16="http://schemas.microsoft.com/office/drawing/2014/main" id="{8933C5B4-DD42-C9F9-2D68-4F114B5F65AD}"/>
              </a:ext>
            </a:extLst>
          </p:cNvPr>
          <p:cNvSpPr txBox="1"/>
          <p:nvPr/>
        </p:nvSpPr>
        <p:spPr>
          <a:xfrm>
            <a:off x="418641" y="1013551"/>
            <a:ext cx="8494005" cy="307777"/>
          </a:xfrm>
          <a:prstGeom prst="rect">
            <a:avLst/>
          </a:prstGeom>
          <a:noFill/>
        </p:spPr>
        <p:txBody>
          <a:bodyPr wrap="square">
            <a:spAutoFit/>
          </a:bodyPr>
          <a:lstStyle/>
          <a:p>
            <a:pPr marL="342900" indent="-342900" algn="just">
              <a:buFont typeface="+mj-lt"/>
              <a:buAutoNum type="arabicPeriod"/>
            </a:pPr>
            <a:endParaRPr lang="en-US" dirty="0">
              <a:solidFill>
                <a:srgbClr val="0D0D0D"/>
              </a:solidFill>
              <a:latin typeface="Amasis MT Pro" panose="02040504050005020304" pitchFamily="18" charset="0"/>
            </a:endParaRPr>
          </a:p>
        </p:txBody>
      </p:sp>
      <p:sp>
        <p:nvSpPr>
          <p:cNvPr id="12" name="Rectangle 5">
            <a:extLst>
              <a:ext uri="{FF2B5EF4-FFF2-40B4-BE49-F238E27FC236}">
                <a16:creationId xmlns:a16="http://schemas.microsoft.com/office/drawing/2014/main" id="{59B0256E-3330-3B01-5434-B350D6CFF152}"/>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15C51AA0-FB7C-4084-C24E-7882186B2422}"/>
              </a:ext>
            </a:extLst>
          </p:cNvPr>
          <p:cNvPicPr>
            <a:picLocks noChangeAspect="1"/>
          </p:cNvPicPr>
          <p:nvPr/>
        </p:nvPicPr>
        <p:blipFill>
          <a:blip r:embed="rId3"/>
          <a:stretch>
            <a:fillRect/>
          </a:stretch>
        </p:blipFill>
        <p:spPr>
          <a:xfrm>
            <a:off x="690365" y="1158948"/>
            <a:ext cx="7682937" cy="2796363"/>
          </a:xfrm>
          <a:prstGeom prst="rect">
            <a:avLst/>
          </a:prstGeom>
        </p:spPr>
      </p:pic>
      <p:sp>
        <p:nvSpPr>
          <p:cNvPr id="3" name="Rectangle 2">
            <a:extLst>
              <a:ext uri="{FF2B5EF4-FFF2-40B4-BE49-F238E27FC236}">
                <a16:creationId xmlns:a16="http://schemas.microsoft.com/office/drawing/2014/main" id="{7C56C06C-EE2A-7850-1619-CDB000CF96E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994492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US" sz="3600" b="1" dirty="0">
                <a:latin typeface="Times New Roman" panose="02020603050405020304" pitchFamily="18" charset="0"/>
                <a:cs typeface="Times New Roman" pitchFamily="18" charset="0"/>
              </a:rPr>
              <a:t>Code using C++</a:t>
            </a:r>
            <a:endParaRPr lang="en-IN" sz="36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TextBox 7">
            <a:extLst>
              <a:ext uri="{FF2B5EF4-FFF2-40B4-BE49-F238E27FC236}">
                <a16:creationId xmlns:a16="http://schemas.microsoft.com/office/drawing/2014/main" id="{8933C5B4-DD42-C9F9-2D68-4F114B5F65AD}"/>
              </a:ext>
            </a:extLst>
          </p:cNvPr>
          <p:cNvSpPr txBox="1"/>
          <p:nvPr/>
        </p:nvSpPr>
        <p:spPr>
          <a:xfrm>
            <a:off x="418641" y="1013551"/>
            <a:ext cx="8494005" cy="307777"/>
          </a:xfrm>
          <a:prstGeom prst="rect">
            <a:avLst/>
          </a:prstGeom>
          <a:noFill/>
        </p:spPr>
        <p:txBody>
          <a:bodyPr wrap="square">
            <a:spAutoFit/>
          </a:bodyPr>
          <a:lstStyle/>
          <a:p>
            <a:pPr marL="342900" indent="-342900" algn="just">
              <a:buFont typeface="+mj-lt"/>
              <a:buAutoNum type="arabicPeriod"/>
            </a:pPr>
            <a:endParaRPr lang="en-US" dirty="0">
              <a:solidFill>
                <a:srgbClr val="0D0D0D"/>
              </a:solidFill>
              <a:latin typeface="Amasis MT Pro" panose="02040504050005020304" pitchFamily="18" charset="0"/>
            </a:endParaRPr>
          </a:p>
        </p:txBody>
      </p:sp>
      <p:sp>
        <p:nvSpPr>
          <p:cNvPr id="12" name="Rectangle 5">
            <a:extLst>
              <a:ext uri="{FF2B5EF4-FFF2-40B4-BE49-F238E27FC236}">
                <a16:creationId xmlns:a16="http://schemas.microsoft.com/office/drawing/2014/main" id="{59B0256E-3330-3B01-5434-B350D6CFF152}"/>
              </a:ext>
            </a:extLst>
          </p:cNvPr>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38FA4CE9-657D-F266-4ECC-49AFDDC8499F}"/>
              </a:ext>
            </a:extLst>
          </p:cNvPr>
          <p:cNvPicPr>
            <a:picLocks noChangeAspect="1"/>
          </p:cNvPicPr>
          <p:nvPr/>
        </p:nvPicPr>
        <p:blipFill>
          <a:blip r:embed="rId3"/>
          <a:stretch>
            <a:fillRect/>
          </a:stretch>
        </p:blipFill>
        <p:spPr>
          <a:xfrm>
            <a:off x="184731" y="1083790"/>
            <a:ext cx="4338084" cy="3728423"/>
          </a:xfrm>
          <a:prstGeom prst="rect">
            <a:avLst/>
          </a:prstGeom>
        </p:spPr>
      </p:pic>
      <p:pic>
        <p:nvPicPr>
          <p:cNvPr id="7" name="Picture 6">
            <a:extLst>
              <a:ext uri="{FF2B5EF4-FFF2-40B4-BE49-F238E27FC236}">
                <a16:creationId xmlns:a16="http://schemas.microsoft.com/office/drawing/2014/main" id="{62FB52FD-D587-A89E-B934-B9D55C2FBFFD}"/>
              </a:ext>
            </a:extLst>
          </p:cNvPr>
          <p:cNvPicPr>
            <a:picLocks noChangeAspect="1"/>
          </p:cNvPicPr>
          <p:nvPr/>
        </p:nvPicPr>
        <p:blipFill>
          <a:blip r:embed="rId4"/>
          <a:stretch>
            <a:fillRect/>
          </a:stretch>
        </p:blipFill>
        <p:spPr>
          <a:xfrm>
            <a:off x="4621187" y="1083791"/>
            <a:ext cx="4533900" cy="3728424"/>
          </a:xfrm>
          <a:prstGeom prst="rect">
            <a:avLst/>
          </a:prstGeom>
        </p:spPr>
      </p:pic>
      <p:sp>
        <p:nvSpPr>
          <p:cNvPr id="3" name="Rectangle 2">
            <a:extLst>
              <a:ext uri="{FF2B5EF4-FFF2-40B4-BE49-F238E27FC236}">
                <a16:creationId xmlns:a16="http://schemas.microsoft.com/office/drawing/2014/main" id="{C12F4BD4-526E-14C1-794D-2512FCE0C99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5239032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IN" sz="2800" b="1" i="0" dirty="0">
                <a:solidFill>
                  <a:srgbClr val="0D0D0D"/>
                </a:solidFill>
                <a:effectLst/>
                <a:latin typeface="Times New Roman" panose="02020603050405020304" pitchFamily="18" charset="0"/>
                <a:cs typeface="Times New Roman" panose="02020603050405020304" pitchFamily="18" charset="0"/>
              </a:rPr>
              <a:t>Importance Binary Search Algorithms </a:t>
            </a:r>
            <a:endParaRPr lang="en-IN" sz="4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fontScale="77500" lnSpcReduction="20000"/>
          </a:bodyPr>
          <a:lstStyle/>
          <a:p>
            <a:pPr algn="just">
              <a:buFont typeface="+mj-lt"/>
              <a:buAutoNum type="arabicPeriod"/>
            </a:pPr>
            <a:r>
              <a:rPr lang="en-US" b="1" i="0" dirty="0">
                <a:solidFill>
                  <a:srgbClr val="0D0D0D"/>
                </a:solidFill>
                <a:effectLst/>
                <a:latin typeface="Amasis MT Pro" panose="02040504050005020304" pitchFamily="18" charset="0"/>
              </a:rPr>
              <a:t>Efficiency</a:t>
            </a:r>
            <a:r>
              <a:rPr lang="en-US" b="0" i="0" dirty="0">
                <a:solidFill>
                  <a:srgbClr val="0D0D0D"/>
                </a:solidFill>
                <a:effectLst/>
                <a:latin typeface="Amasis MT Pro" panose="02040504050005020304" pitchFamily="18" charset="0"/>
              </a:rPr>
              <a:t>: Binary search has a time complexity of O(log n), where n is the number of elements in the array. This makes it significantly faster than linear search, especially for large datasets. It's particularly useful when dealing with large collections of data where efficiency is critical.</a:t>
            </a:r>
          </a:p>
          <a:p>
            <a:pPr algn="just">
              <a:buFont typeface="+mj-lt"/>
              <a:buAutoNum type="arabicPeriod"/>
            </a:pPr>
            <a:r>
              <a:rPr lang="en-US" b="1" i="0" dirty="0">
                <a:solidFill>
                  <a:srgbClr val="0D0D0D"/>
                </a:solidFill>
                <a:effectLst/>
                <a:latin typeface="Amasis MT Pro" panose="02040504050005020304" pitchFamily="18" charset="0"/>
              </a:rPr>
              <a:t>Optimal Space Complexity</a:t>
            </a:r>
            <a:r>
              <a:rPr lang="en-US" b="0" i="0" dirty="0">
                <a:solidFill>
                  <a:srgbClr val="0D0D0D"/>
                </a:solidFill>
                <a:effectLst/>
                <a:latin typeface="Amasis MT Pro" panose="02040504050005020304" pitchFamily="18" charset="0"/>
              </a:rPr>
              <a:t>: Binary search operates on the original array without requiring additional data structures, resulting in optimal space complexity. This makes it memory-efficient compared to other search algorithms that might need additional storage.</a:t>
            </a:r>
          </a:p>
          <a:p>
            <a:pPr algn="just">
              <a:buFont typeface="+mj-lt"/>
              <a:buAutoNum type="arabicPeriod"/>
            </a:pPr>
            <a:r>
              <a:rPr lang="en-US" b="1" i="0" dirty="0">
                <a:solidFill>
                  <a:srgbClr val="0D0D0D"/>
                </a:solidFill>
                <a:effectLst/>
                <a:latin typeface="Amasis MT Pro" panose="02040504050005020304" pitchFamily="18" charset="0"/>
              </a:rPr>
              <a:t>Versatility</a:t>
            </a:r>
            <a:r>
              <a:rPr lang="en-US" b="0" i="0" dirty="0">
                <a:solidFill>
                  <a:srgbClr val="0D0D0D"/>
                </a:solidFill>
                <a:effectLst/>
                <a:latin typeface="Amasis MT Pro" panose="02040504050005020304" pitchFamily="18" charset="0"/>
              </a:rPr>
              <a:t>: Binary search is not limited to just arrays; it can also be adapted for use on other data structures like trees and graphs, provided they are sorted appropriately. This versatility allows its application in various contexts beyond simple array searching.</a:t>
            </a:r>
          </a:p>
          <a:p>
            <a:pPr algn="just">
              <a:buFont typeface="+mj-lt"/>
              <a:buAutoNum type="arabicPeriod"/>
            </a:pPr>
            <a:r>
              <a:rPr lang="en-US" b="1" i="0" dirty="0">
                <a:solidFill>
                  <a:srgbClr val="0D0D0D"/>
                </a:solidFill>
                <a:effectLst/>
                <a:latin typeface="Amasis MT Pro" panose="02040504050005020304" pitchFamily="18" charset="0"/>
              </a:rPr>
              <a:t>Simplicity</a:t>
            </a:r>
            <a:r>
              <a:rPr lang="en-US" b="0" i="0" dirty="0">
                <a:solidFill>
                  <a:srgbClr val="0D0D0D"/>
                </a:solidFill>
                <a:effectLst/>
                <a:latin typeface="Amasis MT Pro" panose="02040504050005020304" pitchFamily="18" charset="0"/>
              </a:rPr>
              <a:t>: While binary search might seem complex at first, its underlying principles are relatively straightforward. Once understood, it's a concept that can be applied in various programming scenarios.</a:t>
            </a:r>
          </a:p>
          <a:p>
            <a:pPr algn="just">
              <a:buFont typeface="+mj-lt"/>
              <a:buAutoNum type="arabicPeriod"/>
            </a:pPr>
            <a:r>
              <a:rPr lang="en-US" b="1" i="0" dirty="0">
                <a:solidFill>
                  <a:srgbClr val="0D0D0D"/>
                </a:solidFill>
                <a:effectLst/>
                <a:latin typeface="Amasis MT Pro" panose="02040504050005020304" pitchFamily="18" charset="0"/>
              </a:rPr>
              <a:t>Applications</a:t>
            </a:r>
            <a:r>
              <a:rPr lang="en-US" b="0" i="0" dirty="0">
                <a:solidFill>
                  <a:srgbClr val="0D0D0D"/>
                </a:solidFill>
                <a:effectLst/>
                <a:latin typeface="Amasis MT Pro" panose="02040504050005020304" pitchFamily="18" charset="0"/>
              </a:rPr>
              <a:t>: Binary search is extensively used in fields such as computer science, data analysis, database management, and more. It's employed in tasks ranging from searching for items in databases to locating elements in sorted collections.</a:t>
            </a:r>
          </a:p>
          <a:p>
            <a:pPr marL="0" indent="0" algn="just">
              <a:buNone/>
            </a:pPr>
            <a:endParaRPr lang="en-US" dirty="0">
              <a:solidFill>
                <a:srgbClr val="273239"/>
              </a:solidFill>
              <a:latin typeface="Time "/>
              <a:cs typeface="Times New Roman" panose="02020603050405020304" pitchFamily="18" charset="0"/>
            </a:endParaRPr>
          </a:p>
          <a:p>
            <a:pPr marL="0" indent="0" algn="just">
              <a:buNone/>
            </a:pPr>
            <a:endParaRPr lang="en-US" b="0" dirty="0">
              <a:solidFill>
                <a:srgbClr val="273239"/>
              </a:solidFill>
              <a:effectLst/>
              <a:latin typeface="Time "/>
              <a:cs typeface="Times New Roman" panose="02020603050405020304" pitchFamily="18" charset="0"/>
            </a:endParaRPr>
          </a:p>
          <a:p>
            <a:pPr marL="0" indent="0" algn="just">
              <a:buNone/>
            </a:pPr>
            <a:endParaRPr lang="en-US" b="0" dirty="0">
              <a:solidFill>
                <a:srgbClr val="273239"/>
              </a:solidFill>
              <a:effectLst/>
              <a:latin typeface="Time "/>
              <a:cs typeface="Times New Roman" panose="02020603050405020304" pitchFamily="18" charset="0"/>
            </a:endParaRPr>
          </a:p>
          <a:p>
            <a:pPr marL="0" indent="0" algn="just">
              <a:buNone/>
            </a:pPr>
            <a:endParaRPr lang="en-US" dirty="0">
              <a:solidFill>
                <a:srgbClr val="273239"/>
              </a:solidFill>
              <a:latin typeface="Time "/>
              <a:cs typeface="Times New Roman" panose="02020603050405020304" pitchFamily="18" charset="0"/>
            </a:endParaRPr>
          </a:p>
          <a:p>
            <a:pPr marL="0" indent="0" algn="just">
              <a:buNone/>
            </a:pPr>
            <a:endParaRPr lang="en-IN" dirty="0">
              <a:latin typeface="Time "/>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569F9E4B-FD09-9395-B302-B9B33C2D55F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82822454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rmAutofit/>
          </a:bodyPr>
          <a:lstStyle/>
          <a:p>
            <a:pPr algn="ctr"/>
            <a:r>
              <a:rPr lang="en-IN" sz="2800" b="1" i="0" dirty="0">
                <a:solidFill>
                  <a:srgbClr val="0D0D0D"/>
                </a:solidFill>
                <a:effectLst/>
                <a:latin typeface="Times New Roman" panose="02020603050405020304" pitchFamily="18" charset="0"/>
                <a:cs typeface="Times New Roman" panose="02020603050405020304" pitchFamily="18" charset="0"/>
              </a:rPr>
              <a:t>Time Complexity Binary Search Algorithms </a:t>
            </a:r>
            <a:endParaRPr lang="en-IN" sz="4400" b="1" dirty="0">
              <a:latin typeface="Times New Roman" panose="02020603050405020304" pitchFamily="18" charset="0"/>
              <a:cs typeface="Times New Roman" pitchFamily="18" charset="0"/>
            </a:endParaRPr>
          </a:p>
        </p:txBody>
      </p:sp>
      <p:sp>
        <p:nvSpPr>
          <p:cNvPr id="3" name="Content Placeholder 2">
            <a:extLst>
              <a:ext uri="{FF2B5EF4-FFF2-40B4-BE49-F238E27FC236}">
                <a16:creationId xmlns:a16="http://schemas.microsoft.com/office/drawing/2014/main" id="{21F803F6-B57E-CE36-59E0-1499B7F140FF}"/>
              </a:ext>
            </a:extLst>
          </p:cNvPr>
          <p:cNvSpPr>
            <a:spLocks noGrp="1"/>
          </p:cNvSpPr>
          <p:nvPr>
            <p:ph idx="1"/>
          </p:nvPr>
        </p:nvSpPr>
        <p:spPr>
          <a:xfrm>
            <a:off x="512591" y="857203"/>
            <a:ext cx="8301800" cy="3805952"/>
          </a:xfrm>
        </p:spPr>
        <p:txBody>
          <a:bodyPr>
            <a:normAutofit/>
          </a:bodyPr>
          <a:lstStyle/>
          <a:p>
            <a:pPr marL="0" indent="0" algn="just">
              <a:buNone/>
            </a:pPr>
            <a:r>
              <a:rPr lang="en-US" b="0" i="0" dirty="0">
                <a:solidFill>
                  <a:srgbClr val="0D0D0D"/>
                </a:solidFill>
                <a:effectLst/>
                <a:latin typeface="Time "/>
              </a:rPr>
              <a:t>The time complexity of the binary search algorithm is O(log n), where n is the number of elements in the sorted array being searched.</a:t>
            </a:r>
            <a:endParaRPr lang="en-IN" dirty="0">
              <a:latin typeface="Time "/>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D9FF9FF2-17D3-87F8-6C3F-5229D2868DF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9318430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Difference Between Linear and Binary Search </a:t>
            </a:r>
            <a:endParaRPr lang="en-IN" sz="2400" b="1" dirty="0">
              <a:latin typeface="Times New Roman" panose="02020603050405020304" pitchFamily="18" charset="0"/>
              <a:cs typeface="Times New Roman" pitchFamily="18" charset="0"/>
            </a:endParaRPr>
          </a:p>
        </p:txBody>
      </p:sp>
      <p:graphicFrame>
        <p:nvGraphicFramePr>
          <p:cNvPr id="4" name="Content Placeholder 3">
            <a:extLst>
              <a:ext uri="{FF2B5EF4-FFF2-40B4-BE49-F238E27FC236}">
                <a16:creationId xmlns:a16="http://schemas.microsoft.com/office/drawing/2014/main" id="{9AF2A0AC-6C1A-83C7-E5A0-2B0AFF770443}"/>
              </a:ext>
            </a:extLst>
          </p:cNvPr>
          <p:cNvGraphicFramePr>
            <a:graphicFrameLocks noGrp="1"/>
          </p:cNvGraphicFramePr>
          <p:nvPr>
            <p:ph idx="1"/>
          </p:nvPr>
        </p:nvGraphicFramePr>
        <p:xfrm>
          <a:off x="1367646" y="1007269"/>
          <a:ext cx="6591270" cy="3505200"/>
        </p:xfrm>
        <a:graphic>
          <a:graphicData uri="http://schemas.openxmlformats.org/drawingml/2006/table">
            <a:tbl>
              <a:tblPr>
                <a:tableStyleId>{775DCB02-9BB8-47FD-8907-85C794F793BA}</a:tableStyleId>
              </a:tblPr>
              <a:tblGrid>
                <a:gridCol w="2197090">
                  <a:extLst>
                    <a:ext uri="{9D8B030D-6E8A-4147-A177-3AD203B41FA5}">
                      <a16:colId xmlns:a16="http://schemas.microsoft.com/office/drawing/2014/main" val="2413835264"/>
                    </a:ext>
                  </a:extLst>
                </a:gridCol>
                <a:gridCol w="2197090">
                  <a:extLst>
                    <a:ext uri="{9D8B030D-6E8A-4147-A177-3AD203B41FA5}">
                      <a16:colId xmlns:a16="http://schemas.microsoft.com/office/drawing/2014/main" val="2137065989"/>
                    </a:ext>
                  </a:extLst>
                </a:gridCol>
                <a:gridCol w="2197090">
                  <a:extLst>
                    <a:ext uri="{9D8B030D-6E8A-4147-A177-3AD203B41FA5}">
                      <a16:colId xmlns:a16="http://schemas.microsoft.com/office/drawing/2014/main" val="1584090766"/>
                    </a:ext>
                  </a:extLst>
                </a:gridCol>
              </a:tblGrid>
              <a:tr h="0">
                <a:tc>
                  <a:txBody>
                    <a:bodyPr/>
                    <a:lstStyle/>
                    <a:p>
                      <a:pPr fontAlgn="b"/>
                      <a:r>
                        <a:rPr lang="en-IN" b="1" dirty="0">
                          <a:effectLst/>
                          <a:latin typeface="Amasis MT Pro" panose="02040504050005020304" pitchFamily="18" charset="0"/>
                        </a:rPr>
                        <a:t>Feature</a:t>
                      </a:r>
                    </a:p>
                  </a:txBody>
                  <a:tcPr anchor="b"/>
                </a:tc>
                <a:tc>
                  <a:txBody>
                    <a:bodyPr/>
                    <a:lstStyle/>
                    <a:p>
                      <a:pPr fontAlgn="b"/>
                      <a:r>
                        <a:rPr lang="en-IN" b="1">
                          <a:effectLst/>
                          <a:latin typeface="Amasis MT Pro" panose="02040504050005020304" pitchFamily="18" charset="0"/>
                        </a:rPr>
                        <a:t>Linear Search</a:t>
                      </a:r>
                    </a:p>
                  </a:txBody>
                  <a:tcPr anchor="b"/>
                </a:tc>
                <a:tc>
                  <a:txBody>
                    <a:bodyPr/>
                    <a:lstStyle/>
                    <a:p>
                      <a:pPr fontAlgn="b"/>
                      <a:r>
                        <a:rPr lang="en-IN" b="1">
                          <a:effectLst/>
                          <a:latin typeface="Amasis MT Pro" panose="02040504050005020304" pitchFamily="18" charset="0"/>
                        </a:rPr>
                        <a:t>Binary Search</a:t>
                      </a:r>
                    </a:p>
                  </a:txBody>
                  <a:tcPr anchor="b"/>
                </a:tc>
                <a:extLst>
                  <a:ext uri="{0D108BD9-81ED-4DB2-BD59-A6C34878D82A}">
                    <a16:rowId xmlns:a16="http://schemas.microsoft.com/office/drawing/2014/main" val="2265146276"/>
                  </a:ext>
                </a:extLst>
              </a:tr>
              <a:tr h="0">
                <a:tc>
                  <a:txBody>
                    <a:bodyPr/>
                    <a:lstStyle/>
                    <a:p>
                      <a:pPr fontAlgn="base"/>
                      <a:r>
                        <a:rPr lang="en-IN" dirty="0">
                          <a:effectLst/>
                          <a:latin typeface="Amasis MT Pro" panose="02040504050005020304" pitchFamily="18" charset="0"/>
                        </a:rPr>
                        <a:t>Approach</a:t>
                      </a:r>
                    </a:p>
                  </a:txBody>
                  <a:tcPr anchor="ctr"/>
                </a:tc>
                <a:tc>
                  <a:txBody>
                    <a:bodyPr/>
                    <a:lstStyle/>
                    <a:p>
                      <a:pPr fontAlgn="base"/>
                      <a:r>
                        <a:rPr lang="en-US">
                          <a:effectLst/>
                          <a:latin typeface="Amasis MT Pro" panose="02040504050005020304" pitchFamily="18" charset="0"/>
                        </a:rPr>
                        <a:t>Sequentially scans each element in the array</a:t>
                      </a:r>
                    </a:p>
                  </a:txBody>
                  <a:tcPr anchor="ctr"/>
                </a:tc>
                <a:tc>
                  <a:txBody>
                    <a:bodyPr/>
                    <a:lstStyle/>
                    <a:p>
                      <a:pPr fontAlgn="base"/>
                      <a:r>
                        <a:rPr lang="en-US">
                          <a:effectLst/>
                          <a:latin typeface="Amasis MT Pro" panose="02040504050005020304" pitchFamily="18" charset="0"/>
                        </a:rPr>
                        <a:t>Divides the search space by comparing with the middle element</a:t>
                      </a:r>
                    </a:p>
                  </a:txBody>
                  <a:tcPr anchor="ctr"/>
                </a:tc>
                <a:extLst>
                  <a:ext uri="{0D108BD9-81ED-4DB2-BD59-A6C34878D82A}">
                    <a16:rowId xmlns:a16="http://schemas.microsoft.com/office/drawing/2014/main" val="3958015807"/>
                  </a:ext>
                </a:extLst>
              </a:tr>
              <a:tr h="0">
                <a:tc>
                  <a:txBody>
                    <a:bodyPr/>
                    <a:lstStyle/>
                    <a:p>
                      <a:pPr fontAlgn="base"/>
                      <a:r>
                        <a:rPr lang="en-IN" dirty="0">
                          <a:effectLst/>
                          <a:latin typeface="Amasis MT Pro" panose="02040504050005020304" pitchFamily="18" charset="0"/>
                        </a:rPr>
                        <a:t>Time Complexity</a:t>
                      </a:r>
                    </a:p>
                  </a:txBody>
                  <a:tcPr anchor="ctr"/>
                </a:tc>
                <a:tc>
                  <a:txBody>
                    <a:bodyPr/>
                    <a:lstStyle/>
                    <a:p>
                      <a:pPr fontAlgn="base"/>
                      <a:r>
                        <a:rPr lang="en-IN">
                          <a:effectLst/>
                          <a:latin typeface="Amasis MT Pro" panose="02040504050005020304" pitchFamily="18" charset="0"/>
                        </a:rPr>
                        <a:t>O(n)</a:t>
                      </a:r>
                    </a:p>
                  </a:txBody>
                  <a:tcPr anchor="ctr"/>
                </a:tc>
                <a:tc>
                  <a:txBody>
                    <a:bodyPr/>
                    <a:lstStyle/>
                    <a:p>
                      <a:pPr fontAlgn="base"/>
                      <a:r>
                        <a:rPr lang="en-IN">
                          <a:effectLst/>
                          <a:latin typeface="Amasis MT Pro" panose="02040504050005020304" pitchFamily="18" charset="0"/>
                        </a:rPr>
                        <a:t>O(log n)</a:t>
                      </a:r>
                    </a:p>
                  </a:txBody>
                  <a:tcPr anchor="ctr"/>
                </a:tc>
                <a:extLst>
                  <a:ext uri="{0D108BD9-81ED-4DB2-BD59-A6C34878D82A}">
                    <a16:rowId xmlns:a16="http://schemas.microsoft.com/office/drawing/2014/main" val="222849043"/>
                  </a:ext>
                </a:extLst>
              </a:tr>
              <a:tr h="0">
                <a:tc>
                  <a:txBody>
                    <a:bodyPr/>
                    <a:lstStyle/>
                    <a:p>
                      <a:pPr fontAlgn="base"/>
                      <a:r>
                        <a:rPr lang="en-IN">
                          <a:effectLst/>
                          <a:latin typeface="Amasis MT Pro" panose="02040504050005020304" pitchFamily="18" charset="0"/>
                        </a:rPr>
                        <a:t>Space Complexity</a:t>
                      </a:r>
                    </a:p>
                  </a:txBody>
                  <a:tcPr anchor="ctr"/>
                </a:tc>
                <a:tc>
                  <a:txBody>
                    <a:bodyPr/>
                    <a:lstStyle/>
                    <a:p>
                      <a:pPr fontAlgn="base"/>
                      <a:r>
                        <a:rPr lang="en-IN" dirty="0">
                          <a:effectLst/>
                          <a:latin typeface="Amasis MT Pro" panose="02040504050005020304" pitchFamily="18" charset="0"/>
                        </a:rPr>
                        <a:t>O(1)</a:t>
                      </a:r>
                    </a:p>
                  </a:txBody>
                  <a:tcPr anchor="ctr"/>
                </a:tc>
                <a:tc>
                  <a:txBody>
                    <a:bodyPr/>
                    <a:lstStyle/>
                    <a:p>
                      <a:pPr fontAlgn="base"/>
                      <a:r>
                        <a:rPr lang="en-IN">
                          <a:effectLst/>
                          <a:latin typeface="Amasis MT Pro" panose="02040504050005020304" pitchFamily="18" charset="0"/>
                        </a:rPr>
                        <a:t>O(1)</a:t>
                      </a:r>
                    </a:p>
                  </a:txBody>
                  <a:tcPr anchor="ctr"/>
                </a:tc>
                <a:extLst>
                  <a:ext uri="{0D108BD9-81ED-4DB2-BD59-A6C34878D82A}">
                    <a16:rowId xmlns:a16="http://schemas.microsoft.com/office/drawing/2014/main" val="1609322617"/>
                  </a:ext>
                </a:extLst>
              </a:tr>
              <a:tr h="0">
                <a:tc>
                  <a:txBody>
                    <a:bodyPr/>
                    <a:lstStyle/>
                    <a:p>
                      <a:pPr fontAlgn="base"/>
                      <a:r>
                        <a:rPr lang="en-IN">
                          <a:effectLst/>
                          <a:latin typeface="Amasis MT Pro" panose="02040504050005020304" pitchFamily="18" charset="0"/>
                        </a:rPr>
                        <a:t>Sorted Data</a:t>
                      </a:r>
                    </a:p>
                  </a:txBody>
                  <a:tcPr anchor="ctr"/>
                </a:tc>
                <a:tc>
                  <a:txBody>
                    <a:bodyPr/>
                    <a:lstStyle/>
                    <a:p>
                      <a:pPr fontAlgn="base"/>
                      <a:r>
                        <a:rPr lang="en-IN" dirty="0">
                          <a:effectLst/>
                          <a:latin typeface="Amasis MT Pro" panose="02040504050005020304" pitchFamily="18" charset="0"/>
                        </a:rPr>
                        <a:t>Not required</a:t>
                      </a:r>
                    </a:p>
                  </a:txBody>
                  <a:tcPr anchor="ctr"/>
                </a:tc>
                <a:tc>
                  <a:txBody>
                    <a:bodyPr/>
                    <a:lstStyle/>
                    <a:p>
                      <a:pPr fontAlgn="base"/>
                      <a:r>
                        <a:rPr lang="en-IN">
                          <a:effectLst/>
                          <a:latin typeface="Amasis MT Pro" panose="02040504050005020304" pitchFamily="18" charset="0"/>
                        </a:rPr>
                        <a:t>Required</a:t>
                      </a:r>
                    </a:p>
                  </a:txBody>
                  <a:tcPr anchor="ctr"/>
                </a:tc>
                <a:extLst>
                  <a:ext uri="{0D108BD9-81ED-4DB2-BD59-A6C34878D82A}">
                    <a16:rowId xmlns:a16="http://schemas.microsoft.com/office/drawing/2014/main" val="3969596693"/>
                  </a:ext>
                </a:extLst>
              </a:tr>
              <a:tr h="0">
                <a:tc>
                  <a:txBody>
                    <a:bodyPr/>
                    <a:lstStyle/>
                    <a:p>
                      <a:pPr fontAlgn="base"/>
                      <a:r>
                        <a:rPr lang="en-IN">
                          <a:effectLst/>
                          <a:latin typeface="Amasis MT Pro" panose="02040504050005020304" pitchFamily="18" charset="0"/>
                        </a:rPr>
                        <a:t>Applicability</a:t>
                      </a:r>
                    </a:p>
                  </a:txBody>
                  <a:tcPr anchor="ctr"/>
                </a:tc>
                <a:tc>
                  <a:txBody>
                    <a:bodyPr/>
                    <a:lstStyle/>
                    <a:p>
                      <a:pPr fontAlgn="base"/>
                      <a:r>
                        <a:rPr lang="en-US" dirty="0">
                          <a:effectLst/>
                          <a:latin typeface="Amasis MT Pro" panose="02040504050005020304" pitchFamily="18" charset="0"/>
                        </a:rPr>
                        <a:t>Suitable for small datasets or unsorted data</a:t>
                      </a:r>
                    </a:p>
                  </a:txBody>
                  <a:tcPr anchor="ctr"/>
                </a:tc>
                <a:tc>
                  <a:txBody>
                    <a:bodyPr/>
                    <a:lstStyle/>
                    <a:p>
                      <a:pPr fontAlgn="base"/>
                      <a:r>
                        <a:rPr lang="en-US">
                          <a:effectLst/>
                          <a:latin typeface="Amasis MT Pro" panose="02040504050005020304" pitchFamily="18" charset="0"/>
                        </a:rPr>
                        <a:t>Suitable for large datasets or sorted data</a:t>
                      </a:r>
                    </a:p>
                  </a:txBody>
                  <a:tcPr anchor="ctr"/>
                </a:tc>
                <a:extLst>
                  <a:ext uri="{0D108BD9-81ED-4DB2-BD59-A6C34878D82A}">
                    <a16:rowId xmlns:a16="http://schemas.microsoft.com/office/drawing/2014/main" val="2647703398"/>
                  </a:ext>
                </a:extLst>
              </a:tr>
              <a:tr h="0">
                <a:tc>
                  <a:txBody>
                    <a:bodyPr/>
                    <a:lstStyle/>
                    <a:p>
                      <a:pPr fontAlgn="base"/>
                      <a:r>
                        <a:rPr lang="en-IN">
                          <a:effectLst/>
                          <a:latin typeface="Amasis MT Pro" panose="02040504050005020304" pitchFamily="18" charset="0"/>
                        </a:rPr>
                        <a:t>Performance</a:t>
                      </a:r>
                    </a:p>
                  </a:txBody>
                  <a:tcPr anchor="ctr"/>
                </a:tc>
                <a:tc>
                  <a:txBody>
                    <a:bodyPr/>
                    <a:lstStyle/>
                    <a:p>
                      <a:pPr fontAlgn="base"/>
                      <a:r>
                        <a:rPr lang="en-US">
                          <a:effectLst/>
                          <a:latin typeface="Amasis MT Pro" panose="02040504050005020304" pitchFamily="18" charset="0"/>
                        </a:rPr>
                        <a:t>Slower, especially for large datasets</a:t>
                      </a:r>
                    </a:p>
                  </a:txBody>
                  <a:tcPr anchor="ctr"/>
                </a:tc>
                <a:tc>
                  <a:txBody>
                    <a:bodyPr/>
                    <a:lstStyle/>
                    <a:p>
                      <a:pPr fontAlgn="base"/>
                      <a:r>
                        <a:rPr lang="en-IN" dirty="0">
                          <a:effectLst/>
                          <a:latin typeface="Amasis MT Pro" panose="02040504050005020304" pitchFamily="18" charset="0"/>
                        </a:rPr>
                        <a:t>Faster, especially for large datasets</a:t>
                      </a:r>
                    </a:p>
                  </a:txBody>
                  <a:tcPr anchor="ctr"/>
                </a:tc>
                <a:extLst>
                  <a:ext uri="{0D108BD9-81ED-4DB2-BD59-A6C34878D82A}">
                    <a16:rowId xmlns:a16="http://schemas.microsoft.com/office/drawing/2014/main" val="3622600791"/>
                  </a:ext>
                </a:extLst>
              </a:tr>
              <a:tr h="0">
                <a:tc>
                  <a:txBody>
                    <a:bodyPr/>
                    <a:lstStyle/>
                    <a:p>
                      <a:pPr fontAlgn="base"/>
                      <a:r>
                        <a:rPr lang="en-IN">
                          <a:effectLst/>
                          <a:latin typeface="Amasis MT Pro" panose="02040504050005020304" pitchFamily="18" charset="0"/>
                        </a:rPr>
                        <a:t>Implementation</a:t>
                      </a:r>
                    </a:p>
                  </a:txBody>
                  <a:tcPr anchor="ctr"/>
                </a:tc>
                <a:tc>
                  <a:txBody>
                    <a:bodyPr/>
                    <a:lstStyle/>
                    <a:p>
                      <a:pPr fontAlgn="base"/>
                      <a:r>
                        <a:rPr lang="en-US">
                          <a:effectLst/>
                          <a:latin typeface="Amasis MT Pro" panose="02040504050005020304" pitchFamily="18" charset="0"/>
                        </a:rPr>
                        <a:t>Simple and easy to implement</a:t>
                      </a:r>
                    </a:p>
                  </a:txBody>
                  <a:tcPr anchor="ctr"/>
                </a:tc>
                <a:tc>
                  <a:txBody>
                    <a:bodyPr/>
                    <a:lstStyle/>
                    <a:p>
                      <a:pPr fontAlgn="base"/>
                      <a:r>
                        <a:rPr lang="en-US" dirty="0">
                          <a:effectLst/>
                          <a:latin typeface="Amasis MT Pro" panose="02040504050005020304" pitchFamily="18" charset="0"/>
                        </a:rPr>
                        <a:t>More complex due to the need for sorted data</a:t>
                      </a:r>
                    </a:p>
                  </a:txBody>
                  <a:tcPr anchor="ctr"/>
                </a:tc>
                <a:extLst>
                  <a:ext uri="{0D108BD9-81ED-4DB2-BD59-A6C34878D82A}">
                    <a16:rowId xmlns:a16="http://schemas.microsoft.com/office/drawing/2014/main" val="3895572549"/>
                  </a:ext>
                </a:extLst>
              </a:tr>
            </a:tbl>
          </a:graphicData>
        </a:graphic>
      </p:graphicFrame>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0DC79698-E634-5C58-E833-0B5F26125DD9}"/>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119013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Sorting</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TextBox 6">
            <a:extLst>
              <a:ext uri="{FF2B5EF4-FFF2-40B4-BE49-F238E27FC236}">
                <a16:creationId xmlns:a16="http://schemas.microsoft.com/office/drawing/2014/main" id="{05571E87-A1AD-157D-035A-04F55C17F0C6}"/>
              </a:ext>
            </a:extLst>
          </p:cNvPr>
          <p:cNvSpPr txBox="1"/>
          <p:nvPr/>
        </p:nvSpPr>
        <p:spPr>
          <a:xfrm>
            <a:off x="276447" y="1095153"/>
            <a:ext cx="8718697" cy="3139321"/>
          </a:xfrm>
          <a:prstGeom prst="rect">
            <a:avLst/>
          </a:prstGeom>
          <a:noFill/>
        </p:spPr>
        <p:txBody>
          <a:bodyPr wrap="square">
            <a:spAutoFit/>
          </a:bodyPr>
          <a:lstStyle/>
          <a:p>
            <a:pPr algn="just"/>
            <a:r>
              <a:rPr lang="en-US" sz="1800" b="1" i="0" dirty="0">
                <a:solidFill>
                  <a:srgbClr val="0D0D0D"/>
                </a:solidFill>
                <a:effectLst/>
                <a:latin typeface="Sitka Heading Semibold" pitchFamily="2" charset="0"/>
              </a:rPr>
              <a:t>Sorting is the process of arranging elements in a specific order, typically in ascending or descending order, based on some criteria such as numerical value, alphabetical order, or any other defined key. It is a fundamental operation in computer science and finds applications in various fields, including data processing, searching, and information retrieval.</a:t>
            </a:r>
          </a:p>
          <a:p>
            <a:pPr algn="just"/>
            <a:endParaRPr lang="en-US" sz="1800" b="1" dirty="0">
              <a:solidFill>
                <a:srgbClr val="0D0D0D"/>
              </a:solidFill>
              <a:latin typeface="Sitka Heading Semibold" pitchFamily="2" charset="0"/>
            </a:endParaRPr>
          </a:p>
          <a:p>
            <a:pPr algn="just"/>
            <a:endParaRPr lang="en-US" sz="1800" b="1" i="0" dirty="0">
              <a:solidFill>
                <a:srgbClr val="0D0D0D"/>
              </a:solidFill>
              <a:effectLst/>
              <a:latin typeface="Sitka Heading Semibold" pitchFamily="2" charset="0"/>
            </a:endParaRPr>
          </a:p>
          <a:p>
            <a:pPr algn="just"/>
            <a:r>
              <a:rPr lang="en-US" sz="1800" b="1" i="0" dirty="0">
                <a:solidFill>
                  <a:srgbClr val="0D0D0D"/>
                </a:solidFill>
                <a:effectLst/>
                <a:latin typeface="Sitka Heading Semibold" pitchFamily="2" charset="0"/>
              </a:rPr>
              <a:t>The primary goal of sorting is to make data easier to search, analyze, and process efficiently. Efficient sorting algorithms are essential for optimizing various computational tasks and improving the performance of algorithms that rely on sorted data.</a:t>
            </a:r>
          </a:p>
        </p:txBody>
      </p:sp>
      <p:sp>
        <p:nvSpPr>
          <p:cNvPr id="3" name="Rectangle 2">
            <a:extLst>
              <a:ext uri="{FF2B5EF4-FFF2-40B4-BE49-F238E27FC236}">
                <a16:creationId xmlns:a16="http://schemas.microsoft.com/office/drawing/2014/main" id="{12C5458B-D3C2-4423-8B76-4103D091249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422940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Types of Sorting </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TextBox 6">
            <a:extLst>
              <a:ext uri="{FF2B5EF4-FFF2-40B4-BE49-F238E27FC236}">
                <a16:creationId xmlns:a16="http://schemas.microsoft.com/office/drawing/2014/main" id="{05571E87-A1AD-157D-035A-04F55C17F0C6}"/>
              </a:ext>
            </a:extLst>
          </p:cNvPr>
          <p:cNvSpPr txBox="1"/>
          <p:nvPr/>
        </p:nvSpPr>
        <p:spPr>
          <a:xfrm>
            <a:off x="180753" y="749105"/>
            <a:ext cx="8814391" cy="3600986"/>
          </a:xfrm>
          <a:prstGeom prst="rect">
            <a:avLst/>
          </a:prstGeom>
          <a:noFill/>
        </p:spPr>
        <p:txBody>
          <a:bodyPr wrap="square">
            <a:spAutoFit/>
          </a:bodyPr>
          <a:lstStyle/>
          <a:p>
            <a:pPr algn="l"/>
            <a:r>
              <a:rPr lang="en-US" b="1" i="0" dirty="0">
                <a:solidFill>
                  <a:srgbClr val="0D0D0D"/>
                </a:solidFill>
                <a:effectLst/>
                <a:latin typeface="Amasis MT Pro" panose="02040504050005020304" pitchFamily="18" charset="0"/>
              </a:rPr>
              <a:t>Types of Sorting Algorithms</a:t>
            </a:r>
            <a:endParaRPr lang="en-US" b="0" i="0" dirty="0">
              <a:solidFill>
                <a:srgbClr val="0D0D0D"/>
              </a:solidFill>
              <a:effectLst/>
              <a:latin typeface="Amasis MT Pro" panose="02040504050005020304" pitchFamily="18" charset="0"/>
            </a:endParaRPr>
          </a:p>
          <a:p>
            <a:pPr algn="l"/>
            <a:r>
              <a:rPr lang="en-US" b="0" i="0" dirty="0">
                <a:solidFill>
                  <a:srgbClr val="0D0D0D"/>
                </a:solidFill>
                <a:effectLst/>
                <a:latin typeface="Amasis MT Pro" panose="02040504050005020304" pitchFamily="18" charset="0"/>
              </a:rPr>
              <a:t>Sorting algorithms can be categorized based on various criteria, including their complexity, memory usage, stability, and adaptability. Here are some common types of sorting algorithms:</a:t>
            </a:r>
          </a:p>
          <a:p>
            <a:pPr algn="l">
              <a:buFont typeface="+mj-lt"/>
              <a:buAutoNum type="arabicPeriod"/>
            </a:pPr>
            <a:r>
              <a:rPr lang="en-US" b="1" i="0" dirty="0">
                <a:solidFill>
                  <a:srgbClr val="0D0D0D"/>
                </a:solidFill>
                <a:effectLst/>
                <a:latin typeface="Amasis MT Pro" panose="02040504050005020304" pitchFamily="18" charset="0"/>
              </a:rPr>
              <a:t>Internal Sorting</a:t>
            </a:r>
            <a:r>
              <a:rPr lang="en-US" b="0" i="0" dirty="0">
                <a:solidFill>
                  <a:srgbClr val="0D0D0D"/>
                </a:solidFill>
                <a:effectLst/>
                <a:latin typeface="Amasis MT Pro" panose="02040504050005020304" pitchFamily="18" charset="0"/>
              </a:rPr>
              <a:t>: Internal sorting algorithms are used to sort data stored in memory (RAM). These algorithms operate entirely within the main memory and do not require external storage devices.</a:t>
            </a:r>
          </a:p>
          <a:p>
            <a:pPr marL="742950" lvl="1" indent="-285750" algn="l">
              <a:buFont typeface="+mj-lt"/>
              <a:buAutoNum type="arabicPeriod"/>
            </a:pPr>
            <a:r>
              <a:rPr lang="en-US" b="1" i="0" dirty="0">
                <a:solidFill>
                  <a:srgbClr val="0D0D0D"/>
                </a:solidFill>
                <a:effectLst/>
                <a:latin typeface="Amasis MT Pro" panose="02040504050005020304" pitchFamily="18" charset="0"/>
              </a:rPr>
              <a:t>Comparison-based Sorting Algorithms</a:t>
            </a:r>
            <a:r>
              <a:rPr lang="en-US" b="0" i="0" dirty="0">
                <a:solidFill>
                  <a:srgbClr val="0D0D0D"/>
                </a:solidFill>
                <a:effectLst/>
                <a:latin typeface="Amasis MT Pro" panose="02040504050005020304" pitchFamily="18" charset="0"/>
              </a:rPr>
              <a:t>: These algorithms compare elements pairwise to determine their relative order.</a:t>
            </a:r>
          </a:p>
          <a:p>
            <a:pPr marL="1143000" lvl="2" indent="-228600" algn="l">
              <a:buFont typeface="+mj-lt"/>
              <a:buAutoNum type="arabicPeriod"/>
            </a:pPr>
            <a:r>
              <a:rPr lang="en-US" b="0" i="0" dirty="0">
                <a:solidFill>
                  <a:srgbClr val="0D0D0D"/>
                </a:solidFill>
                <a:effectLst/>
                <a:latin typeface="Amasis MT Pro" panose="02040504050005020304" pitchFamily="18" charset="0"/>
              </a:rPr>
              <a:t>Examples: Bubble Sort, Selection Sort, Insertion Sort, Merge Sort, Quick Sort, Heap Sort.</a:t>
            </a:r>
          </a:p>
          <a:p>
            <a:pPr marL="742950" lvl="1" indent="-285750" algn="l">
              <a:buFont typeface="+mj-lt"/>
              <a:buAutoNum type="arabicPeriod"/>
            </a:pPr>
            <a:r>
              <a:rPr lang="en-US" b="1" i="0" dirty="0">
                <a:solidFill>
                  <a:srgbClr val="0D0D0D"/>
                </a:solidFill>
                <a:effectLst/>
                <a:latin typeface="Amasis MT Pro" panose="02040504050005020304" pitchFamily="18" charset="0"/>
              </a:rPr>
              <a:t>Non-comparison-based Sorting Algorithms</a:t>
            </a:r>
            <a:r>
              <a:rPr lang="en-US" b="0" i="0" dirty="0">
                <a:solidFill>
                  <a:srgbClr val="0D0D0D"/>
                </a:solidFill>
                <a:effectLst/>
                <a:latin typeface="Amasis MT Pro" panose="02040504050005020304" pitchFamily="18" charset="0"/>
              </a:rPr>
              <a:t>: These algorithms do not rely on pairwise comparisons between elements.</a:t>
            </a:r>
          </a:p>
          <a:p>
            <a:pPr marL="1143000" lvl="2" indent="-228600" algn="l">
              <a:buFont typeface="+mj-lt"/>
              <a:buAutoNum type="arabicPeriod"/>
            </a:pPr>
            <a:r>
              <a:rPr lang="en-US" b="0" i="0" dirty="0">
                <a:solidFill>
                  <a:srgbClr val="0D0D0D"/>
                </a:solidFill>
                <a:effectLst/>
                <a:latin typeface="Amasis MT Pro" panose="02040504050005020304" pitchFamily="18" charset="0"/>
              </a:rPr>
              <a:t>Examples: Counting Sort, Radix Sort, Bucket Sort.</a:t>
            </a:r>
          </a:p>
          <a:p>
            <a:pPr algn="l">
              <a:buFont typeface="+mj-lt"/>
              <a:buAutoNum type="arabicPeriod"/>
            </a:pPr>
            <a:r>
              <a:rPr lang="en-US" b="1" i="0" dirty="0">
                <a:solidFill>
                  <a:srgbClr val="0D0D0D"/>
                </a:solidFill>
                <a:effectLst/>
                <a:latin typeface="Amasis MT Pro" panose="02040504050005020304" pitchFamily="18" charset="0"/>
              </a:rPr>
              <a:t>External Sorting</a:t>
            </a:r>
            <a:r>
              <a:rPr lang="en-US" b="0" i="0" dirty="0">
                <a:solidFill>
                  <a:srgbClr val="0D0D0D"/>
                </a:solidFill>
                <a:effectLst/>
                <a:latin typeface="Amasis MT Pro" panose="02040504050005020304" pitchFamily="18" charset="0"/>
              </a:rPr>
              <a:t>: External sorting algorithms are used to sort data that is too large to fit entirely into the main memory. They involve reading and writing data to external storage devices such as hard disks.</a:t>
            </a:r>
          </a:p>
          <a:p>
            <a:pPr marL="742950" lvl="1" indent="-285750" algn="l">
              <a:buFont typeface="+mj-lt"/>
              <a:buAutoNum type="arabicPeriod"/>
            </a:pPr>
            <a:r>
              <a:rPr lang="en-US" b="1" i="0" dirty="0">
                <a:solidFill>
                  <a:srgbClr val="0D0D0D"/>
                </a:solidFill>
                <a:effectLst/>
                <a:latin typeface="Amasis MT Pro" panose="02040504050005020304" pitchFamily="18" charset="0"/>
              </a:rPr>
              <a:t>Merge Sort with External Storage</a:t>
            </a:r>
            <a:r>
              <a:rPr lang="en-US" b="0" i="0" dirty="0">
                <a:solidFill>
                  <a:srgbClr val="0D0D0D"/>
                </a:solidFill>
                <a:effectLst/>
                <a:latin typeface="Amasis MT Pro" panose="02040504050005020304" pitchFamily="18" charset="0"/>
              </a:rPr>
              <a:t>: Merge Sort is commonly used for external sorting due to its ability to efficiently merge sorted </a:t>
            </a:r>
            <a:r>
              <a:rPr lang="en-US" b="0" i="0" dirty="0" err="1">
                <a:solidFill>
                  <a:srgbClr val="0D0D0D"/>
                </a:solidFill>
                <a:effectLst/>
                <a:latin typeface="Amasis MT Pro" panose="02040504050005020304" pitchFamily="18" charset="0"/>
              </a:rPr>
              <a:t>sublists</a:t>
            </a:r>
            <a:r>
              <a:rPr lang="en-US" b="0" i="0" dirty="0">
                <a:solidFill>
                  <a:srgbClr val="0D0D0D"/>
                </a:solidFill>
                <a:effectLst/>
                <a:latin typeface="Amasis MT Pro" panose="02040504050005020304" pitchFamily="18" charset="0"/>
              </a:rPr>
              <a:t> from external storage.</a:t>
            </a:r>
          </a:p>
          <a:p>
            <a:pPr algn="just"/>
            <a:endParaRPr lang="en-US" sz="1800" b="0" i="0" dirty="0">
              <a:solidFill>
                <a:srgbClr val="0D0D0D"/>
              </a:solidFill>
              <a:effectLst/>
              <a:latin typeface="Amasis MT Pro" panose="02040504050005020304" pitchFamily="18" charset="0"/>
            </a:endParaRPr>
          </a:p>
        </p:txBody>
      </p:sp>
      <p:sp>
        <p:nvSpPr>
          <p:cNvPr id="3" name="Rectangle 2">
            <a:extLst>
              <a:ext uri="{FF2B5EF4-FFF2-40B4-BE49-F238E27FC236}">
                <a16:creationId xmlns:a16="http://schemas.microsoft.com/office/drawing/2014/main" id="{7A76D2C3-82D5-5B47-44E0-B631A14FCCB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19660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Bubble Sort</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TextBox 6">
            <a:extLst>
              <a:ext uri="{FF2B5EF4-FFF2-40B4-BE49-F238E27FC236}">
                <a16:creationId xmlns:a16="http://schemas.microsoft.com/office/drawing/2014/main" id="{05571E87-A1AD-157D-035A-04F55C17F0C6}"/>
              </a:ext>
            </a:extLst>
          </p:cNvPr>
          <p:cNvSpPr txBox="1"/>
          <p:nvPr/>
        </p:nvSpPr>
        <p:spPr>
          <a:xfrm>
            <a:off x="180753" y="749105"/>
            <a:ext cx="8814391" cy="4247317"/>
          </a:xfrm>
          <a:prstGeom prst="rect">
            <a:avLst/>
          </a:prstGeom>
          <a:noFill/>
        </p:spPr>
        <p:txBody>
          <a:bodyPr wrap="square">
            <a:spAutoFit/>
          </a:bodyPr>
          <a:lstStyle/>
          <a:p>
            <a:pPr marL="0" indent="0" algn="just">
              <a:buNone/>
            </a:pPr>
            <a:r>
              <a:rPr lang="en-US" sz="1800" dirty="0">
                <a:latin typeface="Time "/>
              </a:rPr>
              <a:t>Bubble Sort is the simplest sorting algorithm that works by repeatedly swapping the adjacent elements if they are in the wrong order. This algorithm is not suitable for large data sets as its average and worst-case time complexity is quite high.</a:t>
            </a:r>
          </a:p>
          <a:p>
            <a:pPr marL="0" indent="0">
              <a:buNone/>
            </a:pPr>
            <a:r>
              <a:rPr lang="en-US" sz="1800" b="1" dirty="0">
                <a:latin typeface="Time "/>
              </a:rPr>
              <a:t>Bubble Sort Algorithm</a:t>
            </a:r>
          </a:p>
          <a:p>
            <a:pPr marL="0" indent="0">
              <a:buNone/>
            </a:pPr>
            <a:r>
              <a:rPr lang="en-US" sz="1800" dirty="0">
                <a:latin typeface="Time "/>
              </a:rPr>
              <a:t>In Bubble Sort algorithm, </a:t>
            </a:r>
          </a:p>
          <a:p>
            <a:pPr marL="342900" indent="-342900">
              <a:buFont typeface="+mj-lt"/>
              <a:buAutoNum type="arabicPeriod"/>
            </a:pPr>
            <a:r>
              <a:rPr lang="en-US" sz="1800" dirty="0">
                <a:latin typeface="Time "/>
              </a:rPr>
              <a:t>Traverse from left and compare adjacent elements and the higher one is placed at right side. </a:t>
            </a:r>
          </a:p>
          <a:p>
            <a:pPr marL="342900" indent="-342900">
              <a:buFont typeface="+mj-lt"/>
              <a:buAutoNum type="arabicPeriod"/>
            </a:pPr>
            <a:r>
              <a:rPr lang="en-US" sz="1800" dirty="0">
                <a:latin typeface="Time "/>
              </a:rPr>
              <a:t>In this way, the largest element is moved to the rightmost end at first. </a:t>
            </a:r>
          </a:p>
          <a:p>
            <a:pPr marL="342900" indent="-342900">
              <a:buFont typeface="+mj-lt"/>
              <a:buAutoNum type="arabicPeriod"/>
            </a:pPr>
            <a:r>
              <a:rPr lang="en-US" sz="1800" dirty="0">
                <a:latin typeface="Time "/>
              </a:rPr>
              <a:t>This process is then continued to find the second largest and place it and so on until the data is sorted.</a:t>
            </a:r>
          </a:p>
          <a:p>
            <a:pPr marL="0" indent="0">
              <a:buNone/>
            </a:pPr>
            <a:r>
              <a:rPr lang="en-US" sz="1800" dirty="0">
                <a:latin typeface="Time "/>
              </a:rPr>
              <a:t>Let us understand the working of bubble sort with the help of the following illustration:</a:t>
            </a:r>
          </a:p>
          <a:p>
            <a:pPr marL="0" indent="0">
              <a:buNone/>
            </a:pPr>
            <a:r>
              <a:rPr lang="en-US" sz="1800" dirty="0">
                <a:latin typeface="Time "/>
              </a:rPr>
              <a:t>Input: </a:t>
            </a:r>
            <a:r>
              <a:rPr lang="en-US" sz="1800" dirty="0" err="1">
                <a:latin typeface="Time "/>
              </a:rPr>
              <a:t>arr</a:t>
            </a:r>
            <a:r>
              <a:rPr lang="en-US" sz="1800" dirty="0">
                <a:latin typeface="Time "/>
              </a:rPr>
              <a:t>[] = {6, 3, 0, 5}</a:t>
            </a:r>
          </a:p>
          <a:p>
            <a:pPr marL="0" indent="0">
              <a:buNone/>
            </a:pPr>
            <a:r>
              <a:rPr lang="en-US" sz="1800" dirty="0">
                <a:latin typeface="Time "/>
              </a:rPr>
              <a:t>First Pass: </a:t>
            </a:r>
          </a:p>
          <a:p>
            <a:pPr marL="0" indent="0">
              <a:buNone/>
            </a:pPr>
            <a:r>
              <a:rPr lang="en-US" sz="1800" dirty="0">
                <a:latin typeface="Time "/>
              </a:rPr>
              <a:t>The largest element is placed in its correct position, i.e., the end of the array.</a:t>
            </a:r>
          </a:p>
          <a:p>
            <a:pPr algn="just"/>
            <a:endParaRPr lang="en-US" sz="1800" b="0" i="0" dirty="0">
              <a:solidFill>
                <a:srgbClr val="0D0D0D"/>
              </a:solidFill>
              <a:effectLst/>
              <a:latin typeface="Time "/>
            </a:endParaRPr>
          </a:p>
        </p:txBody>
      </p:sp>
      <p:sp>
        <p:nvSpPr>
          <p:cNvPr id="3" name="Rectangle 2">
            <a:extLst>
              <a:ext uri="{FF2B5EF4-FFF2-40B4-BE49-F238E27FC236}">
                <a16:creationId xmlns:a16="http://schemas.microsoft.com/office/drawing/2014/main" id="{C2864838-2ECE-ABB6-C58E-1FCC6EAB0D5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826612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Bubble Sort</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3" name="Content Placeholder 3">
            <a:extLst>
              <a:ext uri="{FF2B5EF4-FFF2-40B4-BE49-F238E27FC236}">
                <a16:creationId xmlns:a16="http://schemas.microsoft.com/office/drawing/2014/main" id="{F6AE5A86-F1F5-E65A-E5D8-B709BFAC94D3}"/>
              </a:ext>
            </a:extLst>
          </p:cNvPr>
          <p:cNvPicPr>
            <a:picLocks noGrp="1" noChangeAspect="1"/>
          </p:cNvPicPr>
          <p:nvPr>
            <p:ph idx="1"/>
          </p:nvPr>
        </p:nvPicPr>
        <p:blipFill>
          <a:blip r:embed="rId3"/>
          <a:stretch>
            <a:fillRect/>
          </a:stretch>
        </p:blipFill>
        <p:spPr>
          <a:xfrm>
            <a:off x="628650" y="660990"/>
            <a:ext cx="8129005" cy="3411279"/>
          </a:xfrm>
          <a:prstGeom prst="rect">
            <a:avLst/>
          </a:prstGeom>
        </p:spPr>
      </p:pic>
      <p:sp>
        <p:nvSpPr>
          <p:cNvPr id="4" name="Rectangle 3">
            <a:extLst>
              <a:ext uri="{FF2B5EF4-FFF2-40B4-BE49-F238E27FC236}">
                <a16:creationId xmlns:a16="http://schemas.microsoft.com/office/drawing/2014/main" id="{CC8D695D-577B-9EC2-E869-F8AE45DFC9E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7526909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Advantages Bubble Sort</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TextBox 3">
            <a:extLst>
              <a:ext uri="{FF2B5EF4-FFF2-40B4-BE49-F238E27FC236}">
                <a16:creationId xmlns:a16="http://schemas.microsoft.com/office/drawing/2014/main" id="{77644BC1-ED0E-A7DB-605B-37FFD19604C9}"/>
              </a:ext>
            </a:extLst>
          </p:cNvPr>
          <p:cNvSpPr txBox="1"/>
          <p:nvPr/>
        </p:nvSpPr>
        <p:spPr>
          <a:xfrm>
            <a:off x="724623" y="1137684"/>
            <a:ext cx="7886700" cy="1200329"/>
          </a:xfrm>
          <a:prstGeom prst="rect">
            <a:avLst/>
          </a:prstGeom>
          <a:noFill/>
        </p:spPr>
        <p:txBody>
          <a:bodyPr wrap="square">
            <a:spAutoFit/>
          </a:bodyPr>
          <a:lstStyle/>
          <a:p>
            <a:r>
              <a:rPr lang="en-US" sz="1600" b="1" dirty="0"/>
              <a:t>Advantages of Bubble Sort:</a:t>
            </a:r>
          </a:p>
          <a:p>
            <a:pPr marL="285750" indent="-285750">
              <a:buFont typeface="Wingdings" panose="05000000000000000000" pitchFamily="2" charset="2"/>
              <a:buChar char="q"/>
            </a:pPr>
            <a:r>
              <a:rPr lang="en-US" dirty="0"/>
              <a:t>Bubble sort is easy to understand and implement.</a:t>
            </a:r>
          </a:p>
          <a:p>
            <a:pPr marL="285750" indent="-285750">
              <a:buFont typeface="Wingdings" panose="05000000000000000000" pitchFamily="2" charset="2"/>
              <a:buChar char="q"/>
            </a:pPr>
            <a:r>
              <a:rPr lang="en-US" dirty="0"/>
              <a:t>It does not require any additional memory space.</a:t>
            </a:r>
          </a:p>
          <a:p>
            <a:pPr marL="285750" indent="-285750">
              <a:buFont typeface="Wingdings" panose="05000000000000000000" pitchFamily="2" charset="2"/>
              <a:buChar char="q"/>
            </a:pPr>
            <a:r>
              <a:rPr lang="en-US" dirty="0"/>
              <a:t>It is a stable sorting algorithm, meaning that elements with the same key value maintain their relative order in the sorted output.</a:t>
            </a:r>
          </a:p>
        </p:txBody>
      </p:sp>
      <p:sp>
        <p:nvSpPr>
          <p:cNvPr id="3" name="Rectangle 2">
            <a:extLst>
              <a:ext uri="{FF2B5EF4-FFF2-40B4-BE49-F238E27FC236}">
                <a16:creationId xmlns:a16="http://schemas.microsoft.com/office/drawing/2014/main" id="{A61A8A34-83B4-AAEA-C099-F200D33DBC19}"/>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72812853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Algorithms Bubble Sort</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F8C6D98F-DBBB-B85B-0EC7-BBBD90E73045}"/>
              </a:ext>
            </a:extLst>
          </p:cNvPr>
          <p:cNvSpPr txBox="1"/>
          <p:nvPr/>
        </p:nvSpPr>
        <p:spPr>
          <a:xfrm>
            <a:off x="628649" y="956931"/>
            <a:ext cx="7707277" cy="2246769"/>
          </a:xfrm>
          <a:prstGeom prst="rect">
            <a:avLst/>
          </a:prstGeom>
          <a:noFill/>
        </p:spPr>
        <p:txBody>
          <a:bodyPr wrap="square">
            <a:spAutoFit/>
          </a:bodyPr>
          <a:lstStyle/>
          <a:p>
            <a:pPr algn="just">
              <a:buFont typeface="+mj-lt"/>
              <a:buAutoNum type="arabicPeriod"/>
            </a:pPr>
            <a:r>
              <a:rPr lang="en-US" dirty="0">
                <a:latin typeface="Time "/>
              </a:rPr>
              <a:t>Start with an unsorted array of elements.</a:t>
            </a:r>
          </a:p>
          <a:p>
            <a:pPr algn="just">
              <a:buFont typeface="+mj-lt"/>
              <a:buAutoNum type="arabicPeriod"/>
            </a:pPr>
            <a:r>
              <a:rPr lang="en-US" dirty="0">
                <a:latin typeface="Time "/>
              </a:rPr>
              <a:t>Comparison: Compare adjacent elements in the array.</a:t>
            </a:r>
          </a:p>
          <a:p>
            <a:pPr algn="just">
              <a:buFont typeface="+mj-lt"/>
              <a:buAutoNum type="arabicPeriod"/>
            </a:pPr>
            <a:r>
              <a:rPr lang="en-US" dirty="0">
                <a:latin typeface="Time "/>
              </a:rPr>
              <a:t>Swap: If the elements are in the wrong order (e.g., the first element is greater than the second), swap them.</a:t>
            </a:r>
          </a:p>
          <a:p>
            <a:pPr algn="just">
              <a:buFont typeface="+mj-lt"/>
              <a:buAutoNum type="arabicPeriod"/>
            </a:pPr>
            <a:r>
              <a:rPr lang="en-US" dirty="0">
                <a:latin typeface="Time "/>
              </a:rPr>
              <a:t>Traversal: Move through the array and repeat steps 2 and 3 until the end of the array is reached.</a:t>
            </a:r>
          </a:p>
          <a:p>
            <a:pPr algn="just">
              <a:buFont typeface="+mj-lt"/>
              <a:buAutoNum type="arabicPeriod"/>
            </a:pPr>
            <a:r>
              <a:rPr lang="en-US" dirty="0">
                <a:latin typeface="Time "/>
              </a:rPr>
              <a:t>Iteration: Repeat the traversal process multiple times (n-1 times for an array of size n) until the array is sorted.</a:t>
            </a:r>
          </a:p>
          <a:p>
            <a:pPr algn="just">
              <a:buFont typeface="+mj-lt"/>
              <a:buAutoNum type="arabicPeriod"/>
            </a:pPr>
            <a:r>
              <a:rPr lang="en-US" dirty="0">
                <a:latin typeface="Time "/>
              </a:rPr>
              <a:t>Completion: The array is now sorted.</a:t>
            </a:r>
          </a:p>
          <a:p>
            <a:pPr algn="l">
              <a:buFont typeface="+mj-lt"/>
              <a:buAutoNum type="arabicPeriod"/>
            </a:pPr>
            <a:endParaRPr lang="en-US" dirty="0">
              <a:solidFill>
                <a:srgbClr val="0D0D0D"/>
              </a:solidFill>
              <a:highlight>
                <a:srgbClr val="FFFFFF"/>
              </a:highlight>
              <a:latin typeface="Time "/>
            </a:endParaRPr>
          </a:p>
          <a:p>
            <a:pPr algn="l">
              <a:buFont typeface="+mj-lt"/>
              <a:buAutoNum type="arabicPeriod"/>
            </a:pPr>
            <a:endParaRPr lang="en-US" b="0" i="0" dirty="0">
              <a:solidFill>
                <a:srgbClr val="0D0D0D"/>
              </a:solidFill>
              <a:effectLst/>
              <a:highlight>
                <a:srgbClr val="FFFFFF"/>
              </a:highlight>
              <a:latin typeface="Time "/>
            </a:endParaRPr>
          </a:p>
        </p:txBody>
      </p:sp>
      <p:sp>
        <p:nvSpPr>
          <p:cNvPr id="3" name="Rectangle 2">
            <a:extLst>
              <a:ext uri="{FF2B5EF4-FFF2-40B4-BE49-F238E27FC236}">
                <a16:creationId xmlns:a16="http://schemas.microsoft.com/office/drawing/2014/main" id="{2E8BF218-B347-AD39-1E72-ADAC4D80CC5D}"/>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319300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Bubble Sort</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5" name="Picture 4">
            <a:extLst>
              <a:ext uri="{FF2B5EF4-FFF2-40B4-BE49-F238E27FC236}">
                <a16:creationId xmlns:a16="http://schemas.microsoft.com/office/drawing/2014/main" id="{CEB7CDE8-C888-CCB9-5DF6-1667C0EECDB7}"/>
              </a:ext>
            </a:extLst>
          </p:cNvPr>
          <p:cNvPicPr>
            <a:picLocks noChangeAspect="1"/>
          </p:cNvPicPr>
          <p:nvPr/>
        </p:nvPicPr>
        <p:blipFill>
          <a:blip r:embed="rId3"/>
          <a:stretch>
            <a:fillRect/>
          </a:stretch>
        </p:blipFill>
        <p:spPr>
          <a:xfrm>
            <a:off x="210547" y="1110805"/>
            <a:ext cx="3895725" cy="3409950"/>
          </a:xfrm>
          <a:prstGeom prst="rect">
            <a:avLst/>
          </a:prstGeom>
        </p:spPr>
      </p:pic>
      <p:pic>
        <p:nvPicPr>
          <p:cNvPr id="7" name="Picture 6">
            <a:extLst>
              <a:ext uri="{FF2B5EF4-FFF2-40B4-BE49-F238E27FC236}">
                <a16:creationId xmlns:a16="http://schemas.microsoft.com/office/drawing/2014/main" id="{4A34A157-258B-7FCC-7CDA-EF7F99C2D0C5}"/>
              </a:ext>
            </a:extLst>
          </p:cNvPr>
          <p:cNvPicPr>
            <a:picLocks noChangeAspect="1"/>
          </p:cNvPicPr>
          <p:nvPr/>
        </p:nvPicPr>
        <p:blipFill>
          <a:blip r:embed="rId4"/>
          <a:stretch>
            <a:fillRect/>
          </a:stretch>
        </p:blipFill>
        <p:spPr>
          <a:xfrm>
            <a:off x="4572000" y="1077467"/>
            <a:ext cx="4200525" cy="3476625"/>
          </a:xfrm>
          <a:prstGeom prst="rect">
            <a:avLst/>
          </a:prstGeom>
        </p:spPr>
      </p:pic>
      <p:sp>
        <p:nvSpPr>
          <p:cNvPr id="3" name="Rectangle 2">
            <a:extLst>
              <a:ext uri="{FF2B5EF4-FFF2-40B4-BE49-F238E27FC236}">
                <a16:creationId xmlns:a16="http://schemas.microsoft.com/office/drawing/2014/main" id="{906AE10D-ABEA-75EF-4E01-CA4CCF243E0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456074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r>
              <a:rPr lang="en-US" sz="2400" b="1" dirty="0">
                <a:latin typeface="Times New Roman" panose="02020603050405020304" pitchFamily="18" charset="0"/>
                <a:cs typeface="Times New Roman" pitchFamily="18" charset="0"/>
              </a:rPr>
              <a:t>Disadvantages Bubble Sort</a:t>
            </a: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8052527D-3B93-54E6-1758-96644209355D}"/>
              </a:ext>
            </a:extLst>
          </p:cNvPr>
          <p:cNvSpPr txBox="1"/>
          <p:nvPr/>
        </p:nvSpPr>
        <p:spPr>
          <a:xfrm>
            <a:off x="362311" y="909756"/>
            <a:ext cx="8217638" cy="954107"/>
          </a:xfrm>
          <a:prstGeom prst="rect">
            <a:avLst/>
          </a:prstGeom>
          <a:noFill/>
        </p:spPr>
        <p:txBody>
          <a:bodyPr wrap="square">
            <a:spAutoFit/>
          </a:bodyPr>
          <a:lstStyle/>
          <a:p>
            <a:pPr algn="just">
              <a:buFont typeface="+mj-lt"/>
              <a:buAutoNum type="arabicPeriod"/>
            </a:pPr>
            <a:r>
              <a:rPr lang="en-US" b="1" i="0" dirty="0">
                <a:solidFill>
                  <a:srgbClr val="0D0D0D"/>
                </a:solidFill>
                <a:effectLst/>
                <a:highlight>
                  <a:srgbClr val="FFFFFF"/>
                </a:highlight>
                <a:latin typeface="Söhne"/>
              </a:rPr>
              <a:t>Poor Time Complexity</a:t>
            </a:r>
            <a:r>
              <a:rPr lang="en-US" b="0" i="0" dirty="0">
                <a:solidFill>
                  <a:srgbClr val="0D0D0D"/>
                </a:solidFill>
                <a:effectLst/>
                <a:highlight>
                  <a:srgbClr val="FFFFFF"/>
                </a:highlight>
                <a:latin typeface="Söhne"/>
              </a:rPr>
              <a:t>: </a:t>
            </a:r>
          </a:p>
          <a:p>
            <a:pPr algn="just">
              <a:buFont typeface="+mj-lt"/>
              <a:buAutoNum type="arabicPeriod"/>
            </a:pPr>
            <a:r>
              <a:rPr lang="en-US" b="1" i="0" dirty="0">
                <a:solidFill>
                  <a:srgbClr val="0D0D0D"/>
                </a:solidFill>
                <a:effectLst/>
                <a:highlight>
                  <a:srgbClr val="FFFFFF"/>
                </a:highlight>
                <a:latin typeface="Söhne"/>
              </a:rPr>
              <a:t>Inefficiency with Large Datasets</a:t>
            </a:r>
            <a:r>
              <a:rPr lang="en-US" b="0" i="0" dirty="0">
                <a:solidFill>
                  <a:srgbClr val="0D0D0D"/>
                </a:solidFill>
                <a:effectLst/>
                <a:highlight>
                  <a:srgbClr val="FFFFFF"/>
                </a:highlight>
                <a:latin typeface="Söhne"/>
              </a:rPr>
              <a:t>: </a:t>
            </a:r>
          </a:p>
          <a:p>
            <a:pPr algn="just">
              <a:buFont typeface="+mj-lt"/>
              <a:buAutoNum type="arabicPeriod"/>
            </a:pPr>
            <a:r>
              <a:rPr lang="en-US" b="1" i="0" dirty="0">
                <a:solidFill>
                  <a:srgbClr val="0D0D0D"/>
                </a:solidFill>
                <a:effectLst/>
                <a:highlight>
                  <a:srgbClr val="FFFFFF"/>
                </a:highlight>
                <a:latin typeface="Söhne"/>
              </a:rPr>
              <a:t>Inefficiency with Nearly Sorted Arrays</a:t>
            </a:r>
            <a:r>
              <a:rPr lang="en-US" b="0" i="0" dirty="0">
                <a:solidFill>
                  <a:srgbClr val="0D0D0D"/>
                </a:solidFill>
                <a:effectLst/>
                <a:highlight>
                  <a:srgbClr val="FFFFFF"/>
                </a:highlight>
                <a:latin typeface="Söhne"/>
              </a:rPr>
              <a:t>: </a:t>
            </a:r>
          </a:p>
          <a:p>
            <a:pPr algn="just"/>
            <a:r>
              <a:rPr lang="en-US" b="1" i="0" dirty="0">
                <a:solidFill>
                  <a:srgbClr val="0D0D0D"/>
                </a:solidFill>
                <a:effectLst/>
                <a:highlight>
                  <a:srgbClr val="FFFFFF"/>
                </a:highlight>
                <a:latin typeface="Söhne"/>
              </a:rPr>
              <a:t>4. Not Suitable for Real-world Applications</a:t>
            </a:r>
            <a:r>
              <a:rPr lang="en-US" b="0" i="0" dirty="0">
                <a:solidFill>
                  <a:srgbClr val="0D0D0D"/>
                </a:solidFill>
                <a:effectLst/>
                <a:highlight>
                  <a:srgbClr val="FFFFFF"/>
                </a:highlight>
                <a:latin typeface="Söhne"/>
              </a:rPr>
              <a:t>:</a:t>
            </a:r>
          </a:p>
        </p:txBody>
      </p:sp>
      <p:sp>
        <p:nvSpPr>
          <p:cNvPr id="3" name="Rectangle 2">
            <a:extLst>
              <a:ext uri="{FF2B5EF4-FFF2-40B4-BE49-F238E27FC236}">
                <a16:creationId xmlns:a16="http://schemas.microsoft.com/office/drawing/2014/main" id="{1881E8F1-9E81-0D04-0C92-B4CD013830DC}"/>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409589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8052527D-3B93-54E6-1758-96644209355D}"/>
              </a:ext>
            </a:extLst>
          </p:cNvPr>
          <p:cNvSpPr txBox="1"/>
          <p:nvPr/>
        </p:nvSpPr>
        <p:spPr>
          <a:xfrm>
            <a:off x="362311" y="909756"/>
            <a:ext cx="8452080" cy="2769989"/>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 "/>
              </a:rPr>
              <a:t>Selection sort is a simple and efficient sorting algorithm that works by repeatedly selecting the smallest (or largest) element from the unsorted portion of the list and moving it to the sorted portion of the list.</a:t>
            </a:r>
          </a:p>
          <a:p>
            <a:pPr algn="just"/>
            <a:endParaRPr lang="en-US" sz="2000" dirty="0">
              <a:latin typeface="Time "/>
            </a:endParaRPr>
          </a:p>
          <a:p>
            <a:pPr marL="285750" indent="-285750" algn="just">
              <a:buFont typeface="Arial" panose="020B0604020202020204" pitchFamily="34" charset="0"/>
              <a:buChar char="•"/>
            </a:pPr>
            <a:r>
              <a:rPr lang="en-US" sz="2000" dirty="0">
                <a:latin typeface="Time "/>
              </a:rPr>
              <a:t> The algorithm repeatedly selects the smallest (or largest) element from the unsorted portion of the list and swaps it with the first element of the unsorted part. This process is repeated for the remaining unsorted portion until the entire list is sorted.</a:t>
            </a:r>
          </a:p>
          <a:p>
            <a:pPr algn="just"/>
            <a:endParaRPr lang="en-US" b="0" i="0" dirty="0">
              <a:solidFill>
                <a:srgbClr val="0D0D0D"/>
              </a:solidFill>
              <a:effectLst/>
              <a:highlight>
                <a:srgbClr val="FFFFFF"/>
              </a:highlight>
              <a:latin typeface="Söhne"/>
            </a:endParaRPr>
          </a:p>
        </p:txBody>
      </p:sp>
      <p:sp>
        <p:nvSpPr>
          <p:cNvPr id="3" name="Rectangle 2">
            <a:extLst>
              <a:ext uri="{FF2B5EF4-FFF2-40B4-BE49-F238E27FC236}">
                <a16:creationId xmlns:a16="http://schemas.microsoft.com/office/drawing/2014/main" id="{13EC0A49-D5FD-AE44-6C89-87E12E69C2DB}"/>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2598427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TextBox 6">
            <a:extLst>
              <a:ext uri="{FF2B5EF4-FFF2-40B4-BE49-F238E27FC236}">
                <a16:creationId xmlns:a16="http://schemas.microsoft.com/office/drawing/2014/main" id="{F074420F-754D-EA78-C193-DD3B60A88FC9}"/>
              </a:ext>
            </a:extLst>
          </p:cNvPr>
          <p:cNvSpPr txBox="1"/>
          <p:nvPr/>
        </p:nvSpPr>
        <p:spPr>
          <a:xfrm>
            <a:off x="628649" y="833037"/>
            <a:ext cx="8238903" cy="2062103"/>
          </a:xfrm>
          <a:prstGeom prst="rect">
            <a:avLst/>
          </a:prstGeom>
          <a:noFill/>
        </p:spPr>
        <p:txBody>
          <a:bodyPr wrap="square">
            <a:spAutoFit/>
          </a:bodyPr>
          <a:lstStyle/>
          <a:p>
            <a:pPr marL="0" indent="0" algn="just">
              <a:buNone/>
            </a:pPr>
            <a:r>
              <a:rPr lang="en-US" sz="1600" dirty="0">
                <a:latin typeface="Time "/>
              </a:rPr>
              <a:t>How does Selection Sort Algorithm work?</a:t>
            </a:r>
          </a:p>
          <a:p>
            <a:pPr marL="0" indent="0" algn="just">
              <a:buNone/>
            </a:pPr>
            <a:r>
              <a:rPr lang="en-US" sz="1600" dirty="0">
                <a:latin typeface="Time "/>
              </a:rPr>
              <a:t>Lets consider the following array as an example: </a:t>
            </a:r>
            <a:r>
              <a:rPr lang="en-US" sz="1600" dirty="0" err="1">
                <a:latin typeface="Time "/>
              </a:rPr>
              <a:t>arr</a:t>
            </a:r>
            <a:r>
              <a:rPr lang="en-US" sz="1600" dirty="0">
                <a:latin typeface="Time "/>
              </a:rPr>
              <a:t>[] = {64, 25, 12, 22, 11}</a:t>
            </a:r>
          </a:p>
          <a:p>
            <a:pPr marL="0" indent="0" algn="just">
              <a:buNone/>
            </a:pPr>
            <a:r>
              <a:rPr lang="en-US" sz="1600" b="1" dirty="0">
                <a:latin typeface="Time "/>
              </a:rPr>
              <a:t>First pass:</a:t>
            </a:r>
          </a:p>
          <a:p>
            <a:pPr algn="just">
              <a:buFont typeface="Wingdings" panose="05000000000000000000" pitchFamily="2" charset="2"/>
              <a:buChar char="q"/>
            </a:pPr>
            <a:r>
              <a:rPr lang="en-US" sz="1600" dirty="0">
                <a:latin typeface="Time "/>
              </a:rPr>
              <a:t>For the first position in the sorted array, the whole array is traversed from index 0 to 4 sequentially. The first position where 64 is stored presently, after traversing whole array it is clear that 11 is the lowest value.</a:t>
            </a:r>
          </a:p>
          <a:p>
            <a:pPr algn="just">
              <a:buFont typeface="Wingdings" panose="05000000000000000000" pitchFamily="2" charset="2"/>
              <a:buChar char="q"/>
            </a:pPr>
            <a:r>
              <a:rPr lang="en-US" sz="1600" dirty="0">
                <a:latin typeface="Time "/>
              </a:rPr>
              <a:t>Thus, replace 64 with 11. After one iteration 11, which happens to be the least value in the array, tends to appear in the first position of the sorted list.</a:t>
            </a:r>
          </a:p>
        </p:txBody>
      </p:sp>
      <p:pic>
        <p:nvPicPr>
          <p:cNvPr id="8" name="Picture 7">
            <a:extLst>
              <a:ext uri="{FF2B5EF4-FFF2-40B4-BE49-F238E27FC236}">
                <a16:creationId xmlns:a16="http://schemas.microsoft.com/office/drawing/2014/main" id="{0930BA9C-9EC7-84AD-957C-3242B29AD08C}"/>
              </a:ext>
            </a:extLst>
          </p:cNvPr>
          <p:cNvPicPr>
            <a:picLocks noChangeAspect="1"/>
          </p:cNvPicPr>
          <p:nvPr/>
        </p:nvPicPr>
        <p:blipFill>
          <a:blip r:embed="rId3"/>
          <a:stretch>
            <a:fillRect/>
          </a:stretch>
        </p:blipFill>
        <p:spPr>
          <a:xfrm>
            <a:off x="1201478" y="2871473"/>
            <a:ext cx="6149163" cy="2034650"/>
          </a:xfrm>
          <a:prstGeom prst="rect">
            <a:avLst/>
          </a:prstGeom>
        </p:spPr>
      </p:pic>
      <p:sp>
        <p:nvSpPr>
          <p:cNvPr id="3" name="Rectangle 2">
            <a:extLst>
              <a:ext uri="{FF2B5EF4-FFF2-40B4-BE49-F238E27FC236}">
                <a16:creationId xmlns:a16="http://schemas.microsoft.com/office/drawing/2014/main" id="{237DDF41-3DD5-C935-958D-963C32CD3C1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175390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6700328F-7C17-F4B1-5087-1F3E1379240F}"/>
              </a:ext>
            </a:extLst>
          </p:cNvPr>
          <p:cNvSpPr txBox="1"/>
          <p:nvPr/>
        </p:nvSpPr>
        <p:spPr>
          <a:xfrm>
            <a:off x="724623" y="914400"/>
            <a:ext cx="8089768" cy="1938992"/>
          </a:xfrm>
          <a:prstGeom prst="rect">
            <a:avLst/>
          </a:prstGeom>
          <a:noFill/>
        </p:spPr>
        <p:txBody>
          <a:bodyPr wrap="square">
            <a:spAutoFit/>
          </a:bodyPr>
          <a:lstStyle/>
          <a:p>
            <a:pPr marL="0" indent="0">
              <a:buNone/>
            </a:pPr>
            <a:r>
              <a:rPr lang="en-US" sz="2000" b="1" dirty="0">
                <a:latin typeface="Time "/>
              </a:rPr>
              <a:t>Second Pass:</a:t>
            </a:r>
          </a:p>
          <a:p>
            <a:pPr marL="342900" indent="-342900" algn="just">
              <a:buFont typeface="Arial" panose="020B0604020202020204" pitchFamily="34" charset="0"/>
              <a:buChar char="•"/>
            </a:pPr>
            <a:r>
              <a:rPr lang="en-US" sz="2000" dirty="0">
                <a:latin typeface="Time "/>
              </a:rPr>
              <a:t>For the second position, where 25 is present, again traverse the rest of the array in a sequential manner.</a:t>
            </a:r>
          </a:p>
          <a:p>
            <a:pPr marL="342900" indent="-342900" algn="just">
              <a:buFont typeface="Arial" panose="020B0604020202020204" pitchFamily="34" charset="0"/>
              <a:buChar char="•"/>
            </a:pPr>
            <a:r>
              <a:rPr lang="en-US" sz="2000" dirty="0">
                <a:latin typeface="Time "/>
              </a:rPr>
              <a:t>After traversing, we found that 12 is the second lowest value in the array and it should appear at the second place in the array, thus swap these values.</a:t>
            </a:r>
          </a:p>
        </p:txBody>
      </p:sp>
      <p:pic>
        <p:nvPicPr>
          <p:cNvPr id="6" name="Picture 5">
            <a:extLst>
              <a:ext uri="{FF2B5EF4-FFF2-40B4-BE49-F238E27FC236}">
                <a16:creationId xmlns:a16="http://schemas.microsoft.com/office/drawing/2014/main" id="{1852F785-4BB2-5A76-60ED-3D1E224844D5}"/>
              </a:ext>
            </a:extLst>
          </p:cNvPr>
          <p:cNvPicPr>
            <a:picLocks noChangeAspect="1"/>
          </p:cNvPicPr>
          <p:nvPr/>
        </p:nvPicPr>
        <p:blipFill>
          <a:blip r:embed="rId3"/>
          <a:stretch>
            <a:fillRect/>
          </a:stretch>
        </p:blipFill>
        <p:spPr>
          <a:xfrm>
            <a:off x="1294400" y="2772833"/>
            <a:ext cx="7665843" cy="2034047"/>
          </a:xfrm>
          <a:prstGeom prst="rect">
            <a:avLst/>
          </a:prstGeom>
        </p:spPr>
      </p:pic>
      <p:sp>
        <p:nvSpPr>
          <p:cNvPr id="3" name="Rectangle 2">
            <a:extLst>
              <a:ext uri="{FF2B5EF4-FFF2-40B4-BE49-F238E27FC236}">
                <a16:creationId xmlns:a16="http://schemas.microsoft.com/office/drawing/2014/main" id="{69172E9F-2A92-3F78-DE3D-F8B1D138C631}"/>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749382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6700328F-7C17-F4B1-5087-1F3E1379240F}"/>
              </a:ext>
            </a:extLst>
          </p:cNvPr>
          <p:cNvSpPr txBox="1"/>
          <p:nvPr/>
        </p:nvSpPr>
        <p:spPr>
          <a:xfrm>
            <a:off x="724623" y="914400"/>
            <a:ext cx="8089768" cy="2215991"/>
          </a:xfrm>
          <a:prstGeom prst="rect">
            <a:avLst/>
          </a:prstGeom>
          <a:noFill/>
        </p:spPr>
        <p:txBody>
          <a:bodyPr wrap="square">
            <a:spAutoFit/>
          </a:bodyPr>
          <a:lstStyle/>
          <a:p>
            <a:pPr algn="just"/>
            <a:r>
              <a:rPr lang="en-US" sz="2000" b="1" dirty="0"/>
              <a:t>Third Pass:</a:t>
            </a:r>
          </a:p>
          <a:p>
            <a:pPr algn="just"/>
            <a:r>
              <a:rPr lang="en-US" sz="2000" dirty="0"/>
              <a:t>Now, for third place, where 25 is present again traverse the rest of the array and find the third least value present in the array.</a:t>
            </a:r>
          </a:p>
          <a:p>
            <a:pPr algn="just"/>
            <a:r>
              <a:rPr lang="en-US" sz="2000" dirty="0"/>
              <a:t>While traversing, 22 came out to be the third least value and it should appear at the third place in the array, thus swap 22 with element present at third position.</a:t>
            </a:r>
          </a:p>
          <a:p>
            <a:pPr marL="0" indent="0" algn="just">
              <a:buNone/>
            </a:pPr>
            <a:endParaRPr lang="en-US" sz="1600" dirty="0">
              <a:latin typeface="Time "/>
            </a:endParaRPr>
          </a:p>
        </p:txBody>
      </p:sp>
      <p:pic>
        <p:nvPicPr>
          <p:cNvPr id="3" name="Picture 2">
            <a:extLst>
              <a:ext uri="{FF2B5EF4-FFF2-40B4-BE49-F238E27FC236}">
                <a16:creationId xmlns:a16="http://schemas.microsoft.com/office/drawing/2014/main" id="{40AD71E0-262D-ED5D-AE77-2D5B24EE205A}"/>
              </a:ext>
            </a:extLst>
          </p:cNvPr>
          <p:cNvPicPr>
            <a:picLocks noChangeAspect="1"/>
          </p:cNvPicPr>
          <p:nvPr/>
        </p:nvPicPr>
        <p:blipFill>
          <a:blip r:embed="rId3"/>
          <a:stretch>
            <a:fillRect/>
          </a:stretch>
        </p:blipFill>
        <p:spPr>
          <a:xfrm>
            <a:off x="527116" y="3130391"/>
            <a:ext cx="8089768" cy="1570572"/>
          </a:xfrm>
          <a:prstGeom prst="rect">
            <a:avLst/>
          </a:prstGeom>
        </p:spPr>
      </p:pic>
      <p:sp>
        <p:nvSpPr>
          <p:cNvPr id="4" name="Rectangle 3">
            <a:extLst>
              <a:ext uri="{FF2B5EF4-FFF2-40B4-BE49-F238E27FC236}">
                <a16:creationId xmlns:a16="http://schemas.microsoft.com/office/drawing/2014/main" id="{DF1134A1-1FF0-1DF2-91E1-0FEDE324428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764790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5445CC5D-9289-9522-58B6-525728B82C34}"/>
              </a:ext>
            </a:extLst>
          </p:cNvPr>
          <p:cNvSpPr txBox="1"/>
          <p:nvPr/>
        </p:nvSpPr>
        <p:spPr>
          <a:xfrm>
            <a:off x="724623" y="971078"/>
            <a:ext cx="8174828" cy="1631216"/>
          </a:xfrm>
          <a:prstGeom prst="rect">
            <a:avLst/>
          </a:prstGeom>
          <a:noFill/>
        </p:spPr>
        <p:txBody>
          <a:bodyPr wrap="square">
            <a:spAutoFit/>
          </a:bodyPr>
          <a:lstStyle/>
          <a:p>
            <a:pPr marL="0" indent="0" algn="just">
              <a:buNone/>
            </a:pPr>
            <a:r>
              <a:rPr lang="en-US" sz="2000" b="1" dirty="0">
                <a:latin typeface="Time "/>
              </a:rPr>
              <a:t>Fourth pass:</a:t>
            </a:r>
          </a:p>
          <a:p>
            <a:pPr marL="0" indent="0" algn="just">
              <a:buNone/>
            </a:pPr>
            <a:r>
              <a:rPr lang="en-US" sz="2000" dirty="0">
                <a:latin typeface="Time "/>
              </a:rPr>
              <a:t>Similarly, for fourth position traverse the rest of the array and find the fourth least element in the array </a:t>
            </a:r>
          </a:p>
          <a:p>
            <a:pPr marL="0" indent="0" algn="just">
              <a:buNone/>
            </a:pPr>
            <a:r>
              <a:rPr lang="en-US" sz="2000" dirty="0">
                <a:latin typeface="Time "/>
              </a:rPr>
              <a:t>As 25 is the 4th lowest value hence, it will place at the fourth position.</a:t>
            </a:r>
          </a:p>
          <a:p>
            <a:pPr marL="0" indent="0" algn="just">
              <a:buNone/>
            </a:pPr>
            <a:endParaRPr lang="en-US" sz="2000" dirty="0">
              <a:latin typeface="Time "/>
            </a:endParaRPr>
          </a:p>
        </p:txBody>
      </p:sp>
      <p:pic>
        <p:nvPicPr>
          <p:cNvPr id="7" name="Picture 6">
            <a:extLst>
              <a:ext uri="{FF2B5EF4-FFF2-40B4-BE49-F238E27FC236}">
                <a16:creationId xmlns:a16="http://schemas.microsoft.com/office/drawing/2014/main" id="{F36E8404-ACAC-B799-AAA9-7CD4EAADD216}"/>
              </a:ext>
            </a:extLst>
          </p:cNvPr>
          <p:cNvPicPr>
            <a:picLocks noChangeAspect="1"/>
          </p:cNvPicPr>
          <p:nvPr/>
        </p:nvPicPr>
        <p:blipFill>
          <a:blip r:embed="rId3"/>
          <a:stretch>
            <a:fillRect/>
          </a:stretch>
        </p:blipFill>
        <p:spPr>
          <a:xfrm>
            <a:off x="816934" y="2571750"/>
            <a:ext cx="7837968" cy="2057400"/>
          </a:xfrm>
          <a:prstGeom prst="rect">
            <a:avLst/>
          </a:prstGeom>
        </p:spPr>
      </p:pic>
      <p:sp>
        <p:nvSpPr>
          <p:cNvPr id="3" name="Rectangle 2">
            <a:extLst>
              <a:ext uri="{FF2B5EF4-FFF2-40B4-BE49-F238E27FC236}">
                <a16:creationId xmlns:a16="http://schemas.microsoft.com/office/drawing/2014/main" id="{1225B923-A7DB-6992-6486-62C4C013D20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283654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TextBox 4">
            <a:extLst>
              <a:ext uri="{FF2B5EF4-FFF2-40B4-BE49-F238E27FC236}">
                <a16:creationId xmlns:a16="http://schemas.microsoft.com/office/drawing/2014/main" id="{6700328F-7C17-F4B1-5087-1F3E1379240F}"/>
              </a:ext>
            </a:extLst>
          </p:cNvPr>
          <p:cNvSpPr txBox="1"/>
          <p:nvPr/>
        </p:nvSpPr>
        <p:spPr>
          <a:xfrm>
            <a:off x="724623" y="914400"/>
            <a:ext cx="8089768" cy="1569660"/>
          </a:xfrm>
          <a:prstGeom prst="rect">
            <a:avLst/>
          </a:prstGeom>
          <a:noFill/>
        </p:spPr>
        <p:txBody>
          <a:bodyPr wrap="square">
            <a:spAutoFit/>
          </a:bodyPr>
          <a:lstStyle/>
          <a:p>
            <a:r>
              <a:rPr lang="en-US" sz="2000" b="1" dirty="0">
                <a:latin typeface="Time "/>
              </a:rPr>
              <a:t>Fifth Pass:</a:t>
            </a:r>
          </a:p>
          <a:p>
            <a:r>
              <a:rPr lang="en-US" sz="2000" dirty="0">
                <a:latin typeface="Time "/>
              </a:rPr>
              <a:t>At last the largest value present in the array automatically get placed at the last position in the array</a:t>
            </a:r>
          </a:p>
          <a:p>
            <a:r>
              <a:rPr lang="en-US" sz="2000" dirty="0">
                <a:latin typeface="Time "/>
              </a:rPr>
              <a:t>The resulted array is the sorted array.</a:t>
            </a:r>
          </a:p>
          <a:p>
            <a:pPr marL="0" indent="0" algn="just">
              <a:buNone/>
            </a:pPr>
            <a:endParaRPr lang="en-US" sz="1600" dirty="0">
              <a:latin typeface="Time "/>
            </a:endParaRPr>
          </a:p>
        </p:txBody>
      </p:sp>
      <p:pic>
        <p:nvPicPr>
          <p:cNvPr id="4" name="Picture 3">
            <a:extLst>
              <a:ext uri="{FF2B5EF4-FFF2-40B4-BE49-F238E27FC236}">
                <a16:creationId xmlns:a16="http://schemas.microsoft.com/office/drawing/2014/main" id="{161DB5F1-503F-D58F-D215-33848DFCEFF0}"/>
              </a:ext>
            </a:extLst>
          </p:cNvPr>
          <p:cNvPicPr>
            <a:picLocks noChangeAspect="1"/>
          </p:cNvPicPr>
          <p:nvPr/>
        </p:nvPicPr>
        <p:blipFill>
          <a:blip r:embed="rId3"/>
          <a:stretch>
            <a:fillRect/>
          </a:stretch>
        </p:blipFill>
        <p:spPr>
          <a:xfrm>
            <a:off x="457200" y="2649355"/>
            <a:ext cx="8357191" cy="1924738"/>
          </a:xfrm>
          <a:prstGeom prst="rect">
            <a:avLst/>
          </a:prstGeom>
        </p:spPr>
      </p:pic>
      <p:sp>
        <p:nvSpPr>
          <p:cNvPr id="3" name="Rectangle 2">
            <a:extLst>
              <a:ext uri="{FF2B5EF4-FFF2-40B4-BE49-F238E27FC236}">
                <a16:creationId xmlns:a16="http://schemas.microsoft.com/office/drawing/2014/main" id="{90FAC786-3CA1-B762-32EE-5572C5A2659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8336592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726605F7-87EB-9607-8EE9-888164CB07EF}"/>
              </a:ext>
            </a:extLst>
          </p:cNvPr>
          <p:cNvSpPr txBox="1"/>
          <p:nvPr/>
        </p:nvSpPr>
        <p:spPr>
          <a:xfrm>
            <a:off x="935665" y="819345"/>
            <a:ext cx="5922335" cy="769441"/>
          </a:xfrm>
          <a:prstGeom prst="rect">
            <a:avLst/>
          </a:prstGeom>
          <a:noFill/>
        </p:spPr>
        <p:txBody>
          <a:bodyPr wrap="square">
            <a:spAutoFit/>
          </a:bodyPr>
          <a:lstStyle/>
          <a:p>
            <a:pPr marL="0" indent="0">
              <a:buNone/>
            </a:pPr>
            <a:r>
              <a:rPr lang="en-US" sz="1600" b="1" dirty="0">
                <a:latin typeface="Time "/>
              </a:rPr>
              <a:t>Advantages of Selection Sort Algorithm</a:t>
            </a:r>
          </a:p>
          <a:p>
            <a:pPr>
              <a:buFont typeface="Wingdings" panose="05000000000000000000" pitchFamily="2" charset="2"/>
              <a:buChar char="q"/>
            </a:pPr>
            <a:r>
              <a:rPr lang="en-US" dirty="0">
                <a:latin typeface="Time "/>
              </a:rPr>
              <a:t>Simple and easy to understand.</a:t>
            </a:r>
          </a:p>
          <a:p>
            <a:pPr>
              <a:buFont typeface="Wingdings" panose="05000000000000000000" pitchFamily="2" charset="2"/>
              <a:buChar char="q"/>
            </a:pPr>
            <a:r>
              <a:rPr lang="en-US" dirty="0">
                <a:latin typeface="Time "/>
              </a:rPr>
              <a:t>Works well with small datasets.</a:t>
            </a:r>
          </a:p>
        </p:txBody>
      </p:sp>
      <p:sp>
        <p:nvSpPr>
          <p:cNvPr id="3" name="Rectangle 2">
            <a:extLst>
              <a:ext uri="{FF2B5EF4-FFF2-40B4-BE49-F238E27FC236}">
                <a16:creationId xmlns:a16="http://schemas.microsoft.com/office/drawing/2014/main" id="{4A8E9E99-0621-66BB-0040-FD90627CC48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9659829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2E9D0-CE3C-0D7C-82C5-61B8104D8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039420-5854-42DD-C820-C142A6F59C9B}"/>
              </a:ext>
            </a:extLst>
          </p:cNvPr>
          <p:cNvSpPr>
            <a:spLocks noGrp="1"/>
          </p:cNvSpPr>
          <p:nvPr>
            <p:ph type="title"/>
          </p:nvPr>
        </p:nvSpPr>
        <p:spPr>
          <a:xfrm>
            <a:off x="628650" y="13692"/>
            <a:ext cx="7886700" cy="735413"/>
          </a:xfrm>
        </p:spPr>
        <p:txBody>
          <a:bodyPr>
            <a:noAutofit/>
          </a:bodyPr>
          <a:lstStyle/>
          <a:p>
            <a:pPr algn="ctr"/>
            <a:br>
              <a:rPr lang="en-IN" sz="3200" b="0" i="0" u="none" strike="noStrike" baseline="0" dirty="0">
                <a:solidFill>
                  <a:srgbClr val="000000"/>
                </a:solidFill>
                <a:latin typeface="Times New Roman" panose="02020603050405020304" pitchFamily="18" charset="0"/>
              </a:rPr>
            </a:br>
            <a:r>
              <a:rPr lang="en-IN" sz="3200" b="1" i="0" u="none" strike="noStrike" baseline="0" dirty="0">
                <a:solidFill>
                  <a:srgbClr val="000000"/>
                </a:solidFill>
                <a:latin typeface="Times New Roman" panose="02020603050405020304" pitchFamily="18" charset="0"/>
              </a:rPr>
              <a:t>Selection Sort</a:t>
            </a:r>
            <a:r>
              <a:rPr lang="en-IN" sz="3200" b="0" i="0" u="none" strike="noStrike" baseline="0" dirty="0">
                <a:solidFill>
                  <a:srgbClr val="000000"/>
                </a:solidFill>
                <a:latin typeface="Times New Roman" panose="02020603050405020304" pitchFamily="18" charset="0"/>
              </a:rPr>
              <a:t>	</a:t>
            </a:r>
            <a:br>
              <a:rPr lang="en-IN" sz="1800" b="0" i="0" u="none" strike="noStrike" baseline="0" dirty="0">
                <a:solidFill>
                  <a:srgbClr val="000000"/>
                </a:solidFill>
                <a:latin typeface="Times New Roman" panose="02020603050405020304" pitchFamily="18" charset="0"/>
              </a:rPr>
            </a:br>
            <a:endParaRPr lang="en-IN" sz="2400" b="1" dirty="0">
              <a:latin typeface="Times New Roman" panose="02020603050405020304" pitchFamily="18" charset="0"/>
              <a:cs typeface="Times New Roman" pitchFamily="18" charset="0"/>
            </a:endParaRPr>
          </a:p>
        </p:txBody>
      </p:sp>
      <p:pic>
        <p:nvPicPr>
          <p:cNvPr id="13" name="Picture 12">
            <a:extLst>
              <a:ext uri="{FF2B5EF4-FFF2-40B4-BE49-F238E27FC236}">
                <a16:creationId xmlns:a16="http://schemas.microsoft.com/office/drawing/2014/main" id="{DAAF9DEF-0330-DAC8-EB4B-71B127250F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6" name="Picture 5">
            <a:extLst>
              <a:ext uri="{FF2B5EF4-FFF2-40B4-BE49-F238E27FC236}">
                <a16:creationId xmlns:a16="http://schemas.microsoft.com/office/drawing/2014/main" id="{7E19550D-357B-441B-33FF-DFE1AB351718}"/>
              </a:ext>
            </a:extLst>
          </p:cNvPr>
          <p:cNvPicPr>
            <a:picLocks noChangeAspect="1"/>
          </p:cNvPicPr>
          <p:nvPr/>
        </p:nvPicPr>
        <p:blipFill>
          <a:blip r:embed="rId3"/>
          <a:stretch>
            <a:fillRect/>
          </a:stretch>
        </p:blipFill>
        <p:spPr>
          <a:xfrm>
            <a:off x="522102" y="749105"/>
            <a:ext cx="4273181" cy="3982383"/>
          </a:xfrm>
          <a:prstGeom prst="rect">
            <a:avLst/>
          </a:prstGeom>
        </p:spPr>
      </p:pic>
      <p:pic>
        <p:nvPicPr>
          <p:cNvPr id="8" name="Picture 7">
            <a:extLst>
              <a:ext uri="{FF2B5EF4-FFF2-40B4-BE49-F238E27FC236}">
                <a16:creationId xmlns:a16="http://schemas.microsoft.com/office/drawing/2014/main" id="{A9F742E6-632A-BAF7-48F0-CA180D2BCB35}"/>
              </a:ext>
            </a:extLst>
          </p:cNvPr>
          <p:cNvPicPr>
            <a:picLocks noChangeAspect="1"/>
          </p:cNvPicPr>
          <p:nvPr/>
        </p:nvPicPr>
        <p:blipFill>
          <a:blip r:embed="rId4"/>
          <a:stretch>
            <a:fillRect/>
          </a:stretch>
        </p:blipFill>
        <p:spPr>
          <a:xfrm>
            <a:off x="5317385" y="749105"/>
            <a:ext cx="3524250" cy="3524250"/>
          </a:xfrm>
          <a:prstGeom prst="rect">
            <a:avLst/>
          </a:prstGeom>
        </p:spPr>
      </p:pic>
      <p:sp>
        <p:nvSpPr>
          <p:cNvPr id="3" name="Rectangle 2">
            <a:extLst>
              <a:ext uri="{FF2B5EF4-FFF2-40B4-BE49-F238E27FC236}">
                <a16:creationId xmlns:a16="http://schemas.microsoft.com/office/drawing/2014/main" id="{FF8C1968-0735-58C5-F0DC-5CA6718FB562}"/>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596515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4BC286-A6C5-8226-E883-67766A05BBE7}"/>
              </a:ext>
            </a:extLst>
          </p:cNvPr>
          <p:cNvSpPr>
            <a:spLocks noGrp="1"/>
          </p:cNvSpPr>
          <p:nvPr>
            <p:ph idx="1"/>
          </p:nvPr>
        </p:nvSpPr>
        <p:spPr>
          <a:xfrm>
            <a:off x="508000" y="2"/>
            <a:ext cx="8407400" cy="1890304"/>
          </a:xfrm>
        </p:spPr>
        <p:txBody>
          <a:bodyPr>
            <a:normAutofit/>
          </a:bodyPr>
          <a:lstStyle/>
          <a:p>
            <a:pPr marL="0" indent="0" algn="ctr">
              <a:buNone/>
            </a:pPr>
            <a:r>
              <a:rPr lang="en-US" sz="2400" b="1" dirty="0">
                <a:latin typeface="Time "/>
              </a:rPr>
              <a:t>Insertion Sort</a:t>
            </a:r>
          </a:p>
          <a:p>
            <a:pPr marL="0" indent="0" algn="just">
              <a:buNone/>
            </a:pPr>
            <a:r>
              <a:rPr lang="en-US" sz="1400" dirty="0">
                <a:latin typeface="Time "/>
              </a:rPr>
              <a:t>To sort an array of size N in ascending order iterate over the array and compare the current element (key) to its predecessor, if the key element is smaller than its predecessor, compare it to the elements before. Move the greater elements one position up to make space for the swapped element.</a:t>
            </a:r>
          </a:p>
          <a:p>
            <a:pPr marL="0" indent="0" algn="just">
              <a:buNone/>
            </a:pPr>
            <a:r>
              <a:rPr lang="en-US" sz="1400" dirty="0">
                <a:latin typeface="Time "/>
              </a:rPr>
              <a:t>Working of Insertion Sort algorithm</a:t>
            </a:r>
          </a:p>
          <a:p>
            <a:pPr marL="0" indent="0" algn="just">
              <a:buNone/>
            </a:pPr>
            <a:r>
              <a:rPr lang="en-US" sz="1400" dirty="0">
                <a:latin typeface="Time "/>
              </a:rPr>
              <a:t>Consider an example: </a:t>
            </a:r>
            <a:r>
              <a:rPr lang="en-US" sz="1400" dirty="0" err="1">
                <a:latin typeface="Time "/>
              </a:rPr>
              <a:t>arr</a:t>
            </a:r>
            <a:r>
              <a:rPr lang="en-US" sz="1400" dirty="0">
                <a:latin typeface="Time "/>
              </a:rPr>
              <a:t>[]: {12, 11, 13, 5, 6}</a:t>
            </a:r>
          </a:p>
          <a:p>
            <a:pPr marL="0" indent="0" algn="just">
              <a:buNone/>
            </a:pPr>
            <a:endParaRPr lang="en-US" sz="1400" dirty="0">
              <a:latin typeface="Time "/>
            </a:endParaRPr>
          </a:p>
          <a:p>
            <a:pPr marL="0" indent="0" algn="just">
              <a:buNone/>
            </a:pPr>
            <a:endParaRPr lang="en-US" sz="1400" dirty="0">
              <a:latin typeface="Time "/>
            </a:endParaRPr>
          </a:p>
        </p:txBody>
      </p:sp>
      <p:graphicFrame>
        <p:nvGraphicFramePr>
          <p:cNvPr id="6" name="Table 5">
            <a:extLst>
              <a:ext uri="{FF2B5EF4-FFF2-40B4-BE49-F238E27FC236}">
                <a16:creationId xmlns:a16="http://schemas.microsoft.com/office/drawing/2014/main" id="{D0838AF2-7359-99BE-8657-C28230B8F22F}"/>
              </a:ext>
            </a:extLst>
          </p:cNvPr>
          <p:cNvGraphicFramePr>
            <a:graphicFrameLocks noGrp="1"/>
          </p:cNvGraphicFramePr>
          <p:nvPr/>
        </p:nvGraphicFramePr>
        <p:xfrm>
          <a:off x="477952" y="1714500"/>
          <a:ext cx="6447237" cy="281940"/>
        </p:xfrm>
        <a:graphic>
          <a:graphicData uri="http://schemas.openxmlformats.org/drawingml/2006/table">
            <a:tbl>
              <a:tblPr/>
              <a:tblGrid>
                <a:gridCol w="805905">
                  <a:extLst>
                    <a:ext uri="{9D8B030D-6E8A-4147-A177-3AD203B41FA5}">
                      <a16:colId xmlns:a16="http://schemas.microsoft.com/office/drawing/2014/main" val="1674424980"/>
                    </a:ext>
                  </a:extLst>
                </a:gridCol>
                <a:gridCol w="1410333">
                  <a:extLst>
                    <a:ext uri="{9D8B030D-6E8A-4147-A177-3AD203B41FA5}">
                      <a16:colId xmlns:a16="http://schemas.microsoft.com/office/drawing/2014/main" val="814581384"/>
                    </a:ext>
                  </a:extLst>
                </a:gridCol>
                <a:gridCol w="1410333">
                  <a:extLst>
                    <a:ext uri="{9D8B030D-6E8A-4147-A177-3AD203B41FA5}">
                      <a16:colId xmlns:a16="http://schemas.microsoft.com/office/drawing/2014/main" val="2028917578"/>
                    </a:ext>
                  </a:extLst>
                </a:gridCol>
                <a:gridCol w="1410333">
                  <a:extLst>
                    <a:ext uri="{9D8B030D-6E8A-4147-A177-3AD203B41FA5}">
                      <a16:colId xmlns:a16="http://schemas.microsoft.com/office/drawing/2014/main" val="3951260366"/>
                    </a:ext>
                  </a:extLst>
                </a:gridCol>
                <a:gridCol w="1410333">
                  <a:extLst>
                    <a:ext uri="{9D8B030D-6E8A-4147-A177-3AD203B41FA5}">
                      <a16:colId xmlns:a16="http://schemas.microsoft.com/office/drawing/2014/main" val="1364039571"/>
                    </a:ext>
                  </a:extLst>
                </a:gridCol>
              </a:tblGrid>
              <a:tr h="181108">
                <a:tc>
                  <a:txBody>
                    <a:bodyPr/>
                    <a:lstStyle/>
                    <a:p>
                      <a:pPr algn="l" fontAlgn="base"/>
                      <a:r>
                        <a:rPr lang="en-US" sz="1100" b="1" dirty="0">
                          <a:effectLst/>
                        </a:rPr>
                        <a:t>12   </a:t>
                      </a:r>
                    </a:p>
                  </a:txBody>
                  <a:tcPr marL="28575" marR="28575" marT="57150" marB="5715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fontAlgn="base"/>
                      <a:r>
                        <a:rPr lang="en-US" sz="1100" b="1">
                          <a:effectLst/>
                        </a:rPr>
                        <a:t>   11   </a:t>
                      </a:r>
                    </a:p>
                  </a:txBody>
                  <a:tcPr marL="57150" marR="57150" marT="57150" marB="5715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fontAlgn="base"/>
                      <a:r>
                        <a:rPr lang="en-US" sz="1100" b="1">
                          <a:effectLst/>
                        </a:rPr>
                        <a:t>   13   </a:t>
                      </a:r>
                    </a:p>
                  </a:txBody>
                  <a:tcPr marL="57150" marR="57150" marT="57150" marB="5715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fontAlgn="base"/>
                      <a:r>
                        <a:rPr lang="en-US" sz="1100" b="1">
                          <a:effectLst/>
                        </a:rPr>
                        <a:t>   5   </a:t>
                      </a:r>
                    </a:p>
                  </a:txBody>
                  <a:tcPr marL="57150" marR="57150" marT="57150" marB="5715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l" fontAlgn="base"/>
                      <a:r>
                        <a:rPr lang="en-US" sz="1100" b="1" dirty="0">
                          <a:effectLst/>
                        </a:rPr>
                        <a:t>   6   </a:t>
                      </a:r>
                    </a:p>
                  </a:txBody>
                  <a:tcPr marL="57150" marR="57150" marT="57150" marB="5715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475828425"/>
                  </a:ext>
                </a:extLst>
              </a:tr>
            </a:tbl>
          </a:graphicData>
        </a:graphic>
      </p:graphicFrame>
      <p:sp>
        <p:nvSpPr>
          <p:cNvPr id="8" name="TextBox 7">
            <a:extLst>
              <a:ext uri="{FF2B5EF4-FFF2-40B4-BE49-F238E27FC236}">
                <a16:creationId xmlns:a16="http://schemas.microsoft.com/office/drawing/2014/main" id="{22F48026-CFD8-8F05-2B15-7612DA749C5B}"/>
              </a:ext>
            </a:extLst>
          </p:cNvPr>
          <p:cNvSpPr txBox="1"/>
          <p:nvPr/>
        </p:nvSpPr>
        <p:spPr>
          <a:xfrm>
            <a:off x="508000" y="2130151"/>
            <a:ext cx="8235950" cy="830997"/>
          </a:xfrm>
          <a:prstGeom prst="rect">
            <a:avLst/>
          </a:prstGeom>
          <a:noFill/>
        </p:spPr>
        <p:txBody>
          <a:bodyPr wrap="square">
            <a:spAutoFit/>
          </a:bodyPr>
          <a:lstStyle/>
          <a:p>
            <a:r>
              <a:rPr lang="en-US" sz="1600" b="1" dirty="0">
                <a:latin typeface="Time "/>
              </a:rPr>
              <a:t>First Pass:</a:t>
            </a:r>
          </a:p>
          <a:p>
            <a:r>
              <a:rPr lang="en-US" sz="1600" dirty="0">
                <a:latin typeface="Time "/>
              </a:rPr>
              <a:t>Initially, the first two elements of the array are compared in insertion sort.</a:t>
            </a:r>
          </a:p>
          <a:p>
            <a:endParaRPr lang="en-US" sz="1600" dirty="0">
              <a:latin typeface="Time "/>
            </a:endParaRPr>
          </a:p>
        </p:txBody>
      </p:sp>
      <p:graphicFrame>
        <p:nvGraphicFramePr>
          <p:cNvPr id="9" name="Table 8">
            <a:extLst>
              <a:ext uri="{FF2B5EF4-FFF2-40B4-BE49-F238E27FC236}">
                <a16:creationId xmlns:a16="http://schemas.microsoft.com/office/drawing/2014/main" id="{283CB3D7-129E-BD45-4014-B72A2D8C765B}"/>
              </a:ext>
            </a:extLst>
          </p:cNvPr>
          <p:cNvGraphicFramePr>
            <a:graphicFrameLocks noGrp="1"/>
          </p:cNvGraphicFramePr>
          <p:nvPr/>
        </p:nvGraphicFramePr>
        <p:xfrm>
          <a:off x="477953" y="2780908"/>
          <a:ext cx="6447235" cy="302895"/>
        </p:xfrm>
        <a:graphic>
          <a:graphicData uri="http://schemas.openxmlformats.org/drawingml/2006/table">
            <a:tbl>
              <a:tblPr/>
              <a:tblGrid>
                <a:gridCol w="1289447">
                  <a:extLst>
                    <a:ext uri="{9D8B030D-6E8A-4147-A177-3AD203B41FA5}">
                      <a16:colId xmlns:a16="http://schemas.microsoft.com/office/drawing/2014/main" val="2122344581"/>
                    </a:ext>
                  </a:extLst>
                </a:gridCol>
                <a:gridCol w="1289447">
                  <a:extLst>
                    <a:ext uri="{9D8B030D-6E8A-4147-A177-3AD203B41FA5}">
                      <a16:colId xmlns:a16="http://schemas.microsoft.com/office/drawing/2014/main" val="2911808887"/>
                    </a:ext>
                  </a:extLst>
                </a:gridCol>
                <a:gridCol w="1289447">
                  <a:extLst>
                    <a:ext uri="{9D8B030D-6E8A-4147-A177-3AD203B41FA5}">
                      <a16:colId xmlns:a16="http://schemas.microsoft.com/office/drawing/2014/main" val="3300292085"/>
                    </a:ext>
                  </a:extLst>
                </a:gridCol>
                <a:gridCol w="1289447">
                  <a:extLst>
                    <a:ext uri="{9D8B030D-6E8A-4147-A177-3AD203B41FA5}">
                      <a16:colId xmlns:a16="http://schemas.microsoft.com/office/drawing/2014/main" val="2535481834"/>
                    </a:ext>
                  </a:extLst>
                </a:gridCol>
                <a:gridCol w="1289447">
                  <a:extLst>
                    <a:ext uri="{9D8B030D-6E8A-4147-A177-3AD203B41FA5}">
                      <a16:colId xmlns:a16="http://schemas.microsoft.com/office/drawing/2014/main" val="165769880"/>
                    </a:ext>
                  </a:extLst>
                </a:gridCol>
              </a:tblGrid>
              <a:tr h="302895">
                <a:tc>
                  <a:txBody>
                    <a:bodyPr/>
                    <a:lstStyle/>
                    <a:p>
                      <a:pPr algn="ctr" fontAlgn="ctr"/>
                      <a:r>
                        <a:rPr lang="en-US" sz="900" b="0" dirty="0">
                          <a:effectLst/>
                        </a:rPr>
                        <a:t>  </a:t>
                      </a:r>
                      <a:r>
                        <a:rPr lang="en-US" sz="900" b="1" dirty="0">
                          <a:effectLst/>
                        </a:rPr>
                        <a:t>12   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a:effectLst/>
                        </a:rPr>
                        <a:t>   </a:t>
                      </a:r>
                      <a:r>
                        <a:rPr lang="en-US" sz="900" b="1">
                          <a:effectLst/>
                        </a:rPr>
                        <a:t>11   </a:t>
                      </a:r>
                      <a:endParaRPr lang="en-US" sz="900" b="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a:effectLst/>
                        </a:rPr>
                        <a:t>   13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a:effectLst/>
                        </a:rPr>
                        <a:t>   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941580790"/>
                  </a:ext>
                </a:extLst>
              </a:tr>
            </a:tbl>
          </a:graphicData>
        </a:graphic>
      </p:graphicFrame>
      <p:sp>
        <p:nvSpPr>
          <p:cNvPr id="11" name="TextBox 10">
            <a:extLst>
              <a:ext uri="{FF2B5EF4-FFF2-40B4-BE49-F238E27FC236}">
                <a16:creationId xmlns:a16="http://schemas.microsoft.com/office/drawing/2014/main" id="{624A1B6C-2B77-CEF1-B89E-F7FBA837190B}"/>
              </a:ext>
            </a:extLst>
          </p:cNvPr>
          <p:cNvSpPr txBox="1"/>
          <p:nvPr/>
        </p:nvSpPr>
        <p:spPr>
          <a:xfrm>
            <a:off x="477953" y="3253195"/>
            <a:ext cx="8437447" cy="738664"/>
          </a:xfrm>
          <a:prstGeom prst="rect">
            <a:avLst/>
          </a:prstGeom>
          <a:noFill/>
        </p:spPr>
        <p:txBody>
          <a:bodyPr wrap="square">
            <a:spAutoFit/>
          </a:bodyPr>
          <a:lstStyle/>
          <a:p>
            <a:pPr algn="just"/>
            <a:r>
              <a:rPr lang="en-US" dirty="0">
                <a:latin typeface="Time "/>
              </a:rPr>
              <a:t>Here, 12 is greater than 11 hence they are not in the ascending order and 12 is not at its correct position. Thus, swap 11 and 12.</a:t>
            </a:r>
          </a:p>
          <a:p>
            <a:pPr algn="just"/>
            <a:r>
              <a:rPr lang="en-US" dirty="0">
                <a:latin typeface="Time "/>
              </a:rPr>
              <a:t>So, for now 11 is stored in a sorted sub-array.</a:t>
            </a:r>
          </a:p>
        </p:txBody>
      </p:sp>
      <p:graphicFrame>
        <p:nvGraphicFramePr>
          <p:cNvPr id="12" name="Table 11">
            <a:extLst>
              <a:ext uri="{FF2B5EF4-FFF2-40B4-BE49-F238E27FC236}">
                <a16:creationId xmlns:a16="http://schemas.microsoft.com/office/drawing/2014/main" id="{35D5140D-4E20-4B33-76DA-120D78D08B54}"/>
              </a:ext>
            </a:extLst>
          </p:cNvPr>
          <p:cNvGraphicFramePr>
            <a:graphicFrameLocks noGrp="1"/>
          </p:cNvGraphicFramePr>
          <p:nvPr/>
        </p:nvGraphicFramePr>
        <p:xfrm>
          <a:off x="571500" y="4376240"/>
          <a:ext cx="6447235" cy="302895"/>
        </p:xfrm>
        <a:graphic>
          <a:graphicData uri="http://schemas.openxmlformats.org/drawingml/2006/table">
            <a:tbl>
              <a:tblPr/>
              <a:tblGrid>
                <a:gridCol w="1289447">
                  <a:extLst>
                    <a:ext uri="{9D8B030D-6E8A-4147-A177-3AD203B41FA5}">
                      <a16:colId xmlns:a16="http://schemas.microsoft.com/office/drawing/2014/main" val="2931935615"/>
                    </a:ext>
                  </a:extLst>
                </a:gridCol>
                <a:gridCol w="1289447">
                  <a:extLst>
                    <a:ext uri="{9D8B030D-6E8A-4147-A177-3AD203B41FA5}">
                      <a16:colId xmlns:a16="http://schemas.microsoft.com/office/drawing/2014/main" val="1749186830"/>
                    </a:ext>
                  </a:extLst>
                </a:gridCol>
                <a:gridCol w="1289447">
                  <a:extLst>
                    <a:ext uri="{9D8B030D-6E8A-4147-A177-3AD203B41FA5}">
                      <a16:colId xmlns:a16="http://schemas.microsoft.com/office/drawing/2014/main" val="2028597942"/>
                    </a:ext>
                  </a:extLst>
                </a:gridCol>
                <a:gridCol w="1289447">
                  <a:extLst>
                    <a:ext uri="{9D8B030D-6E8A-4147-A177-3AD203B41FA5}">
                      <a16:colId xmlns:a16="http://schemas.microsoft.com/office/drawing/2014/main" val="2742017560"/>
                    </a:ext>
                  </a:extLst>
                </a:gridCol>
                <a:gridCol w="1289447">
                  <a:extLst>
                    <a:ext uri="{9D8B030D-6E8A-4147-A177-3AD203B41FA5}">
                      <a16:colId xmlns:a16="http://schemas.microsoft.com/office/drawing/2014/main" val="3060610845"/>
                    </a:ext>
                  </a:extLst>
                </a:gridCol>
              </a:tblGrid>
              <a:tr h="302895">
                <a:tc>
                  <a:txBody>
                    <a:bodyPr/>
                    <a:lstStyle/>
                    <a:p>
                      <a:pPr algn="ctr" fontAlgn="ctr"/>
                      <a:r>
                        <a:rPr lang="en-US" sz="900" b="0">
                          <a:effectLst/>
                        </a:rPr>
                        <a:t>  </a:t>
                      </a:r>
                      <a:r>
                        <a:rPr lang="en-US" sz="900" b="1">
                          <a:effectLst/>
                        </a:rPr>
                        <a:t>11   </a:t>
                      </a:r>
                      <a:endParaRPr lang="en-US" sz="900" b="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a:effectLst/>
                        </a:rPr>
                        <a:t>   </a:t>
                      </a:r>
                      <a:r>
                        <a:rPr lang="en-US" sz="900" b="1">
                          <a:effectLst/>
                        </a:rPr>
                        <a:t>12   </a:t>
                      </a:r>
                      <a:endParaRPr lang="en-US" sz="900" b="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a:effectLst/>
                        </a:rPr>
                        <a:t>   13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a:effectLst/>
                        </a:rPr>
                        <a:t>   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23713764"/>
                  </a:ext>
                </a:extLst>
              </a:tr>
            </a:tbl>
          </a:graphicData>
        </a:graphic>
      </p:graphicFrame>
      <p:pic>
        <p:nvPicPr>
          <p:cNvPr id="4" name="Picture 3">
            <a:extLst>
              <a:ext uri="{FF2B5EF4-FFF2-40B4-BE49-F238E27FC236}">
                <a16:creationId xmlns:a16="http://schemas.microsoft.com/office/drawing/2014/main" id="{8524CAF1-84CC-2842-E54A-90D354382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653270" cy="738665"/>
          </a:xfrm>
          <a:prstGeom prst="rect">
            <a:avLst/>
          </a:prstGeom>
        </p:spPr>
      </p:pic>
      <p:sp>
        <p:nvSpPr>
          <p:cNvPr id="5" name="Rectangle 4">
            <a:extLst>
              <a:ext uri="{FF2B5EF4-FFF2-40B4-BE49-F238E27FC236}">
                <a16:creationId xmlns:a16="http://schemas.microsoft.com/office/drawing/2014/main" id="{4FB36CE5-D5E0-7C26-9238-C0971683B1EA}"/>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1211969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ECF59F-AB33-481D-1D23-3B41D7D56F97}"/>
              </a:ext>
            </a:extLst>
          </p:cNvPr>
          <p:cNvSpPr>
            <a:spLocks noGrp="1"/>
          </p:cNvSpPr>
          <p:nvPr>
            <p:ph idx="1"/>
          </p:nvPr>
        </p:nvSpPr>
        <p:spPr>
          <a:xfrm>
            <a:off x="508000" y="1"/>
            <a:ext cx="8521700" cy="1142999"/>
          </a:xfrm>
        </p:spPr>
        <p:txBody>
          <a:bodyPr/>
          <a:lstStyle/>
          <a:p>
            <a:pPr marL="0" indent="0">
              <a:buNone/>
            </a:pPr>
            <a:r>
              <a:rPr lang="en-US" b="1" dirty="0"/>
              <a:t>Second Pass:</a:t>
            </a:r>
          </a:p>
          <a:p>
            <a:pPr marL="0" indent="0">
              <a:buNone/>
            </a:pPr>
            <a:r>
              <a:rPr lang="en-US" dirty="0"/>
              <a:t>Now, move to the next two elements and compare them</a:t>
            </a:r>
          </a:p>
          <a:p>
            <a:pPr marL="0" indent="0">
              <a:buNone/>
            </a:pPr>
            <a:endParaRPr lang="en-US" dirty="0"/>
          </a:p>
        </p:txBody>
      </p:sp>
      <p:graphicFrame>
        <p:nvGraphicFramePr>
          <p:cNvPr id="5" name="Table 4">
            <a:extLst>
              <a:ext uri="{FF2B5EF4-FFF2-40B4-BE49-F238E27FC236}">
                <a16:creationId xmlns:a16="http://schemas.microsoft.com/office/drawing/2014/main" id="{F20C1754-E9F7-B8C7-B592-0B780FF1D183}"/>
              </a:ext>
            </a:extLst>
          </p:cNvPr>
          <p:cNvGraphicFramePr>
            <a:graphicFrameLocks noGrp="1"/>
          </p:cNvGraphicFramePr>
          <p:nvPr/>
        </p:nvGraphicFramePr>
        <p:xfrm>
          <a:off x="508000" y="742950"/>
          <a:ext cx="6447235" cy="302895"/>
        </p:xfrm>
        <a:graphic>
          <a:graphicData uri="http://schemas.openxmlformats.org/drawingml/2006/table">
            <a:tbl>
              <a:tblPr/>
              <a:tblGrid>
                <a:gridCol w="1289447">
                  <a:extLst>
                    <a:ext uri="{9D8B030D-6E8A-4147-A177-3AD203B41FA5}">
                      <a16:colId xmlns:a16="http://schemas.microsoft.com/office/drawing/2014/main" val="1479609803"/>
                    </a:ext>
                  </a:extLst>
                </a:gridCol>
                <a:gridCol w="1289447">
                  <a:extLst>
                    <a:ext uri="{9D8B030D-6E8A-4147-A177-3AD203B41FA5}">
                      <a16:colId xmlns:a16="http://schemas.microsoft.com/office/drawing/2014/main" val="365597830"/>
                    </a:ext>
                  </a:extLst>
                </a:gridCol>
                <a:gridCol w="1289447">
                  <a:extLst>
                    <a:ext uri="{9D8B030D-6E8A-4147-A177-3AD203B41FA5}">
                      <a16:colId xmlns:a16="http://schemas.microsoft.com/office/drawing/2014/main" val="2552216350"/>
                    </a:ext>
                  </a:extLst>
                </a:gridCol>
                <a:gridCol w="1289447">
                  <a:extLst>
                    <a:ext uri="{9D8B030D-6E8A-4147-A177-3AD203B41FA5}">
                      <a16:colId xmlns:a16="http://schemas.microsoft.com/office/drawing/2014/main" val="2774705344"/>
                    </a:ext>
                  </a:extLst>
                </a:gridCol>
                <a:gridCol w="1289447">
                  <a:extLst>
                    <a:ext uri="{9D8B030D-6E8A-4147-A177-3AD203B41FA5}">
                      <a16:colId xmlns:a16="http://schemas.microsoft.com/office/drawing/2014/main" val="3128833174"/>
                    </a:ext>
                  </a:extLst>
                </a:gridCol>
              </a:tblGrid>
              <a:tr h="302895">
                <a:tc>
                  <a:txBody>
                    <a:bodyPr/>
                    <a:lstStyle/>
                    <a:p>
                      <a:pPr algn="ctr" fontAlgn="ctr"/>
                      <a:r>
                        <a:rPr lang="en-US" sz="900" b="0" dirty="0">
                          <a:effectLst/>
                        </a:rPr>
                        <a:t>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12   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13   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053111943"/>
                  </a:ext>
                </a:extLst>
              </a:tr>
            </a:tbl>
          </a:graphicData>
        </a:graphic>
      </p:graphicFrame>
      <p:sp>
        <p:nvSpPr>
          <p:cNvPr id="7" name="TextBox 6">
            <a:extLst>
              <a:ext uri="{FF2B5EF4-FFF2-40B4-BE49-F238E27FC236}">
                <a16:creationId xmlns:a16="http://schemas.microsoft.com/office/drawing/2014/main" id="{C3552834-89A6-49BC-CD8B-78D12B4412F9}"/>
              </a:ext>
            </a:extLst>
          </p:cNvPr>
          <p:cNvSpPr txBox="1"/>
          <p:nvPr/>
        </p:nvSpPr>
        <p:spPr>
          <a:xfrm>
            <a:off x="499162" y="1257300"/>
            <a:ext cx="8301938" cy="415498"/>
          </a:xfrm>
          <a:prstGeom prst="rect">
            <a:avLst/>
          </a:prstGeom>
          <a:noFill/>
        </p:spPr>
        <p:txBody>
          <a:bodyPr wrap="square">
            <a:spAutoFit/>
          </a:bodyPr>
          <a:lstStyle/>
          <a:p>
            <a:r>
              <a:rPr lang="en-US" sz="1050" dirty="0"/>
              <a:t>Here, 13 is greater than 12, thus both elements seems to be in ascending order, hence, no swapping will occur. 12 also stored in a sorted sub-array along with 11</a:t>
            </a:r>
          </a:p>
        </p:txBody>
      </p:sp>
      <p:sp>
        <p:nvSpPr>
          <p:cNvPr id="9" name="TextBox 8">
            <a:extLst>
              <a:ext uri="{FF2B5EF4-FFF2-40B4-BE49-F238E27FC236}">
                <a16:creationId xmlns:a16="http://schemas.microsoft.com/office/drawing/2014/main" id="{ACB36483-BDA5-2B80-948A-CA92DB1824C9}"/>
              </a:ext>
            </a:extLst>
          </p:cNvPr>
          <p:cNvSpPr txBox="1"/>
          <p:nvPr/>
        </p:nvSpPr>
        <p:spPr>
          <a:xfrm>
            <a:off x="532746" y="1931704"/>
            <a:ext cx="8268354" cy="415498"/>
          </a:xfrm>
          <a:prstGeom prst="rect">
            <a:avLst/>
          </a:prstGeom>
          <a:noFill/>
        </p:spPr>
        <p:txBody>
          <a:bodyPr wrap="square">
            <a:spAutoFit/>
          </a:bodyPr>
          <a:lstStyle/>
          <a:p>
            <a:r>
              <a:rPr lang="en-US" sz="1050" b="1" dirty="0"/>
              <a:t>Third Pass:</a:t>
            </a:r>
          </a:p>
          <a:p>
            <a:r>
              <a:rPr lang="en-US" sz="1050" dirty="0"/>
              <a:t>Now, two elements are present in the sorted sub-array which are 11 and 12 Moving forward to the next two elements which are 13 and 5</a:t>
            </a:r>
          </a:p>
        </p:txBody>
      </p:sp>
      <p:graphicFrame>
        <p:nvGraphicFramePr>
          <p:cNvPr id="12" name="Table 11">
            <a:extLst>
              <a:ext uri="{FF2B5EF4-FFF2-40B4-BE49-F238E27FC236}">
                <a16:creationId xmlns:a16="http://schemas.microsoft.com/office/drawing/2014/main" id="{5AD08190-AB1F-BB43-E36C-968FBF833232}"/>
              </a:ext>
            </a:extLst>
          </p:cNvPr>
          <p:cNvGraphicFramePr>
            <a:graphicFrameLocks noGrp="1"/>
          </p:cNvGraphicFramePr>
          <p:nvPr/>
        </p:nvGraphicFramePr>
        <p:xfrm>
          <a:off x="532746" y="2787344"/>
          <a:ext cx="6447235" cy="302895"/>
        </p:xfrm>
        <a:graphic>
          <a:graphicData uri="http://schemas.openxmlformats.org/drawingml/2006/table">
            <a:tbl>
              <a:tblPr/>
              <a:tblGrid>
                <a:gridCol w="1289447">
                  <a:extLst>
                    <a:ext uri="{9D8B030D-6E8A-4147-A177-3AD203B41FA5}">
                      <a16:colId xmlns:a16="http://schemas.microsoft.com/office/drawing/2014/main" val="2570360052"/>
                    </a:ext>
                  </a:extLst>
                </a:gridCol>
                <a:gridCol w="1289447">
                  <a:extLst>
                    <a:ext uri="{9D8B030D-6E8A-4147-A177-3AD203B41FA5}">
                      <a16:colId xmlns:a16="http://schemas.microsoft.com/office/drawing/2014/main" val="3287516924"/>
                    </a:ext>
                  </a:extLst>
                </a:gridCol>
                <a:gridCol w="1289447">
                  <a:extLst>
                    <a:ext uri="{9D8B030D-6E8A-4147-A177-3AD203B41FA5}">
                      <a16:colId xmlns:a16="http://schemas.microsoft.com/office/drawing/2014/main" val="1624495958"/>
                    </a:ext>
                  </a:extLst>
                </a:gridCol>
                <a:gridCol w="1289447">
                  <a:extLst>
                    <a:ext uri="{9D8B030D-6E8A-4147-A177-3AD203B41FA5}">
                      <a16:colId xmlns:a16="http://schemas.microsoft.com/office/drawing/2014/main" val="1772260150"/>
                    </a:ext>
                  </a:extLst>
                </a:gridCol>
                <a:gridCol w="1289447">
                  <a:extLst>
                    <a:ext uri="{9D8B030D-6E8A-4147-A177-3AD203B41FA5}">
                      <a16:colId xmlns:a16="http://schemas.microsoft.com/office/drawing/2014/main" val="312925491"/>
                    </a:ext>
                  </a:extLst>
                </a:gridCol>
              </a:tblGrid>
              <a:tr h="302895">
                <a:tc>
                  <a:txBody>
                    <a:bodyPr/>
                    <a:lstStyle/>
                    <a:p>
                      <a:pPr algn="ctr" fontAlgn="ctr"/>
                      <a:r>
                        <a:rPr lang="en-US" sz="900" b="0" dirty="0">
                          <a:effectLst/>
                        </a:rPr>
                        <a:t>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12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13   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5   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985132146"/>
                  </a:ext>
                </a:extLst>
              </a:tr>
            </a:tbl>
          </a:graphicData>
        </a:graphic>
      </p:graphicFrame>
      <p:sp>
        <p:nvSpPr>
          <p:cNvPr id="14" name="TextBox 13">
            <a:extLst>
              <a:ext uri="{FF2B5EF4-FFF2-40B4-BE49-F238E27FC236}">
                <a16:creationId xmlns:a16="http://schemas.microsoft.com/office/drawing/2014/main" id="{648F9C8A-8531-44D7-E01F-998D8096CC58}"/>
              </a:ext>
            </a:extLst>
          </p:cNvPr>
          <p:cNvSpPr txBox="1"/>
          <p:nvPr/>
        </p:nvSpPr>
        <p:spPr>
          <a:xfrm>
            <a:off x="532746" y="3374551"/>
            <a:ext cx="7353954" cy="253916"/>
          </a:xfrm>
          <a:prstGeom prst="rect">
            <a:avLst/>
          </a:prstGeom>
          <a:noFill/>
        </p:spPr>
        <p:txBody>
          <a:bodyPr wrap="square">
            <a:spAutoFit/>
          </a:bodyPr>
          <a:lstStyle/>
          <a:p>
            <a:r>
              <a:rPr lang="en-US" sz="1050" dirty="0"/>
              <a:t>Both 5 and 13 are not present at their correct place so swap them</a:t>
            </a:r>
          </a:p>
        </p:txBody>
      </p:sp>
      <p:graphicFrame>
        <p:nvGraphicFramePr>
          <p:cNvPr id="15" name="Table 14">
            <a:extLst>
              <a:ext uri="{FF2B5EF4-FFF2-40B4-BE49-F238E27FC236}">
                <a16:creationId xmlns:a16="http://schemas.microsoft.com/office/drawing/2014/main" id="{ACF614FA-BB4D-7F1C-C45B-A1280999EE75}"/>
              </a:ext>
            </a:extLst>
          </p:cNvPr>
          <p:cNvGraphicFramePr>
            <a:graphicFrameLocks noGrp="1"/>
          </p:cNvGraphicFramePr>
          <p:nvPr/>
        </p:nvGraphicFramePr>
        <p:xfrm>
          <a:off x="558670" y="3890780"/>
          <a:ext cx="6447235" cy="302895"/>
        </p:xfrm>
        <a:graphic>
          <a:graphicData uri="http://schemas.openxmlformats.org/drawingml/2006/table">
            <a:tbl>
              <a:tblPr/>
              <a:tblGrid>
                <a:gridCol w="1289447">
                  <a:extLst>
                    <a:ext uri="{9D8B030D-6E8A-4147-A177-3AD203B41FA5}">
                      <a16:colId xmlns:a16="http://schemas.microsoft.com/office/drawing/2014/main" val="51507577"/>
                    </a:ext>
                  </a:extLst>
                </a:gridCol>
                <a:gridCol w="1289447">
                  <a:extLst>
                    <a:ext uri="{9D8B030D-6E8A-4147-A177-3AD203B41FA5}">
                      <a16:colId xmlns:a16="http://schemas.microsoft.com/office/drawing/2014/main" val="397535825"/>
                    </a:ext>
                  </a:extLst>
                </a:gridCol>
                <a:gridCol w="1289447">
                  <a:extLst>
                    <a:ext uri="{9D8B030D-6E8A-4147-A177-3AD203B41FA5}">
                      <a16:colId xmlns:a16="http://schemas.microsoft.com/office/drawing/2014/main" val="1502532095"/>
                    </a:ext>
                  </a:extLst>
                </a:gridCol>
                <a:gridCol w="1289447">
                  <a:extLst>
                    <a:ext uri="{9D8B030D-6E8A-4147-A177-3AD203B41FA5}">
                      <a16:colId xmlns:a16="http://schemas.microsoft.com/office/drawing/2014/main" val="4162940932"/>
                    </a:ext>
                  </a:extLst>
                </a:gridCol>
                <a:gridCol w="1289447">
                  <a:extLst>
                    <a:ext uri="{9D8B030D-6E8A-4147-A177-3AD203B41FA5}">
                      <a16:colId xmlns:a16="http://schemas.microsoft.com/office/drawing/2014/main" val="2288346393"/>
                    </a:ext>
                  </a:extLst>
                </a:gridCol>
              </a:tblGrid>
              <a:tr h="302895">
                <a:tc>
                  <a:txBody>
                    <a:bodyPr/>
                    <a:lstStyle/>
                    <a:p>
                      <a:pPr algn="ctr" fontAlgn="ctr"/>
                      <a:r>
                        <a:rPr lang="en-US" sz="900" b="0" dirty="0">
                          <a:effectLst/>
                        </a:rPr>
                        <a:t>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12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5   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13   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302061558"/>
                  </a:ext>
                </a:extLst>
              </a:tr>
            </a:tbl>
          </a:graphicData>
        </a:graphic>
      </p:graphicFrame>
      <p:sp>
        <p:nvSpPr>
          <p:cNvPr id="17" name="TextBox 16">
            <a:extLst>
              <a:ext uri="{FF2B5EF4-FFF2-40B4-BE49-F238E27FC236}">
                <a16:creationId xmlns:a16="http://schemas.microsoft.com/office/drawing/2014/main" id="{2DCEFA1E-57EC-4709-3D85-3ABE40AF7838}"/>
              </a:ext>
            </a:extLst>
          </p:cNvPr>
          <p:cNvSpPr txBox="1"/>
          <p:nvPr/>
        </p:nvSpPr>
        <p:spPr>
          <a:xfrm>
            <a:off x="558670" y="4514850"/>
            <a:ext cx="8070980" cy="253916"/>
          </a:xfrm>
          <a:prstGeom prst="rect">
            <a:avLst/>
          </a:prstGeom>
          <a:noFill/>
        </p:spPr>
        <p:txBody>
          <a:bodyPr wrap="square">
            <a:spAutoFit/>
          </a:bodyPr>
          <a:lstStyle/>
          <a:p>
            <a:pPr algn="l" fontAlgn="base"/>
            <a:r>
              <a:rPr lang="en-US" sz="1050" i="1" dirty="0">
                <a:solidFill>
                  <a:srgbClr val="273239"/>
                </a:solidFill>
                <a:latin typeface="Nunito" pitchFamily="2" charset="0"/>
              </a:rPr>
              <a:t>After swapping, elements 12 and 5 are not sorted, thus swap again</a:t>
            </a:r>
          </a:p>
        </p:txBody>
      </p:sp>
      <p:graphicFrame>
        <p:nvGraphicFramePr>
          <p:cNvPr id="18" name="Table 17">
            <a:extLst>
              <a:ext uri="{FF2B5EF4-FFF2-40B4-BE49-F238E27FC236}">
                <a16:creationId xmlns:a16="http://schemas.microsoft.com/office/drawing/2014/main" id="{2B18CB02-9139-90C0-67C8-0371F9E62847}"/>
              </a:ext>
            </a:extLst>
          </p:cNvPr>
          <p:cNvGraphicFramePr>
            <a:graphicFrameLocks noGrp="1"/>
          </p:cNvGraphicFramePr>
          <p:nvPr/>
        </p:nvGraphicFramePr>
        <p:xfrm>
          <a:off x="558670" y="4772406"/>
          <a:ext cx="6447235" cy="302895"/>
        </p:xfrm>
        <a:graphic>
          <a:graphicData uri="http://schemas.openxmlformats.org/drawingml/2006/table">
            <a:tbl>
              <a:tblPr/>
              <a:tblGrid>
                <a:gridCol w="1289447">
                  <a:extLst>
                    <a:ext uri="{9D8B030D-6E8A-4147-A177-3AD203B41FA5}">
                      <a16:colId xmlns:a16="http://schemas.microsoft.com/office/drawing/2014/main" val="2751333930"/>
                    </a:ext>
                  </a:extLst>
                </a:gridCol>
                <a:gridCol w="1289447">
                  <a:extLst>
                    <a:ext uri="{9D8B030D-6E8A-4147-A177-3AD203B41FA5}">
                      <a16:colId xmlns:a16="http://schemas.microsoft.com/office/drawing/2014/main" val="1122133637"/>
                    </a:ext>
                  </a:extLst>
                </a:gridCol>
                <a:gridCol w="1289447">
                  <a:extLst>
                    <a:ext uri="{9D8B030D-6E8A-4147-A177-3AD203B41FA5}">
                      <a16:colId xmlns:a16="http://schemas.microsoft.com/office/drawing/2014/main" val="169220983"/>
                    </a:ext>
                  </a:extLst>
                </a:gridCol>
                <a:gridCol w="1289447">
                  <a:extLst>
                    <a:ext uri="{9D8B030D-6E8A-4147-A177-3AD203B41FA5}">
                      <a16:colId xmlns:a16="http://schemas.microsoft.com/office/drawing/2014/main" val="4150726865"/>
                    </a:ext>
                  </a:extLst>
                </a:gridCol>
                <a:gridCol w="1289447">
                  <a:extLst>
                    <a:ext uri="{9D8B030D-6E8A-4147-A177-3AD203B41FA5}">
                      <a16:colId xmlns:a16="http://schemas.microsoft.com/office/drawing/2014/main" val="1487639432"/>
                    </a:ext>
                  </a:extLst>
                </a:gridCol>
              </a:tblGrid>
              <a:tr h="302895">
                <a:tc>
                  <a:txBody>
                    <a:bodyPr/>
                    <a:lstStyle/>
                    <a:p>
                      <a:pPr algn="ctr" fontAlgn="ctr"/>
                      <a:r>
                        <a:rPr lang="en-US" sz="900" b="0" dirty="0">
                          <a:effectLst/>
                        </a:rPr>
                        <a:t>  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5   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12   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13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476785082"/>
                  </a:ext>
                </a:extLst>
              </a:tr>
            </a:tbl>
          </a:graphicData>
        </a:graphic>
      </p:graphicFrame>
    </p:spTree>
    <p:extLst>
      <p:ext uri="{BB962C8B-B14F-4D97-AF65-F5344CB8AC3E}">
        <p14:creationId xmlns:p14="http://schemas.microsoft.com/office/powerpoint/2010/main" val="23301093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0AD6823D-356D-3401-6D8E-9CBDF5516785}"/>
              </a:ext>
            </a:extLst>
          </p:cNvPr>
          <p:cNvSpPr>
            <a:spLocks noGrp="1"/>
          </p:cNvSpPr>
          <p:nvPr>
            <p:ph idx="1"/>
          </p:nvPr>
        </p:nvSpPr>
        <p:spPr>
          <a:xfrm>
            <a:off x="508000" y="1"/>
            <a:ext cx="8007350" cy="742949"/>
          </a:xfrm>
        </p:spPr>
        <p:txBody>
          <a:bodyPr/>
          <a:lstStyle/>
          <a:p>
            <a:pPr marL="0" indent="0">
              <a:buNone/>
            </a:pPr>
            <a:r>
              <a:rPr lang="en-US" dirty="0"/>
              <a:t>Here, again 11 and 5 are not sorted, hence swap again</a:t>
            </a:r>
          </a:p>
          <a:p>
            <a:pPr marL="0" indent="0">
              <a:buNone/>
            </a:pPr>
            <a:endParaRPr lang="en-US" dirty="0"/>
          </a:p>
        </p:txBody>
      </p:sp>
      <p:graphicFrame>
        <p:nvGraphicFramePr>
          <p:cNvPr id="8" name="Table 7">
            <a:extLst>
              <a:ext uri="{FF2B5EF4-FFF2-40B4-BE49-F238E27FC236}">
                <a16:creationId xmlns:a16="http://schemas.microsoft.com/office/drawing/2014/main" id="{257AA607-7E72-57DB-AE7C-1400847479C8}"/>
              </a:ext>
            </a:extLst>
          </p:cNvPr>
          <p:cNvGraphicFramePr>
            <a:graphicFrameLocks noGrp="1"/>
          </p:cNvGraphicFramePr>
          <p:nvPr/>
        </p:nvGraphicFramePr>
        <p:xfrm>
          <a:off x="508000" y="400050"/>
          <a:ext cx="6447235" cy="302895"/>
        </p:xfrm>
        <a:graphic>
          <a:graphicData uri="http://schemas.openxmlformats.org/drawingml/2006/table">
            <a:tbl>
              <a:tblPr/>
              <a:tblGrid>
                <a:gridCol w="1289447">
                  <a:extLst>
                    <a:ext uri="{9D8B030D-6E8A-4147-A177-3AD203B41FA5}">
                      <a16:colId xmlns:a16="http://schemas.microsoft.com/office/drawing/2014/main" val="1732464994"/>
                    </a:ext>
                  </a:extLst>
                </a:gridCol>
                <a:gridCol w="1289447">
                  <a:extLst>
                    <a:ext uri="{9D8B030D-6E8A-4147-A177-3AD203B41FA5}">
                      <a16:colId xmlns:a16="http://schemas.microsoft.com/office/drawing/2014/main" val="4258194290"/>
                    </a:ext>
                  </a:extLst>
                </a:gridCol>
                <a:gridCol w="1289447">
                  <a:extLst>
                    <a:ext uri="{9D8B030D-6E8A-4147-A177-3AD203B41FA5}">
                      <a16:colId xmlns:a16="http://schemas.microsoft.com/office/drawing/2014/main" val="4220645577"/>
                    </a:ext>
                  </a:extLst>
                </a:gridCol>
                <a:gridCol w="1289447">
                  <a:extLst>
                    <a:ext uri="{9D8B030D-6E8A-4147-A177-3AD203B41FA5}">
                      <a16:colId xmlns:a16="http://schemas.microsoft.com/office/drawing/2014/main" val="2094302561"/>
                    </a:ext>
                  </a:extLst>
                </a:gridCol>
                <a:gridCol w="1289447">
                  <a:extLst>
                    <a:ext uri="{9D8B030D-6E8A-4147-A177-3AD203B41FA5}">
                      <a16:colId xmlns:a16="http://schemas.microsoft.com/office/drawing/2014/main" val="3784066000"/>
                    </a:ext>
                  </a:extLst>
                </a:gridCol>
              </a:tblGrid>
              <a:tr h="302895">
                <a:tc>
                  <a:txBody>
                    <a:bodyPr/>
                    <a:lstStyle/>
                    <a:p>
                      <a:pPr algn="ctr" fontAlgn="ctr"/>
                      <a:r>
                        <a:rPr lang="en-US" sz="900" b="0" dirty="0">
                          <a:effectLst/>
                        </a:rPr>
                        <a:t> </a:t>
                      </a:r>
                      <a:r>
                        <a:rPr lang="en-US" sz="900" b="1" dirty="0">
                          <a:effectLst/>
                        </a:rPr>
                        <a:t>5   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11   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12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13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6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6469250"/>
                  </a:ext>
                </a:extLst>
              </a:tr>
            </a:tbl>
          </a:graphicData>
        </a:graphic>
      </p:graphicFrame>
      <p:sp>
        <p:nvSpPr>
          <p:cNvPr id="10" name="TextBox 9">
            <a:extLst>
              <a:ext uri="{FF2B5EF4-FFF2-40B4-BE49-F238E27FC236}">
                <a16:creationId xmlns:a16="http://schemas.microsoft.com/office/drawing/2014/main" id="{769BA324-04B9-A822-F093-F044A736C12C}"/>
              </a:ext>
            </a:extLst>
          </p:cNvPr>
          <p:cNvSpPr txBox="1"/>
          <p:nvPr/>
        </p:nvSpPr>
        <p:spPr>
          <a:xfrm>
            <a:off x="522141" y="862466"/>
            <a:ext cx="4577891" cy="253916"/>
          </a:xfrm>
          <a:prstGeom prst="rect">
            <a:avLst/>
          </a:prstGeom>
          <a:noFill/>
        </p:spPr>
        <p:txBody>
          <a:bodyPr wrap="square">
            <a:spAutoFit/>
          </a:bodyPr>
          <a:lstStyle/>
          <a:p>
            <a:pPr algn="l" fontAlgn="base"/>
            <a:r>
              <a:rPr lang="en-US" sz="1050" i="1" dirty="0">
                <a:solidFill>
                  <a:srgbClr val="273239"/>
                </a:solidFill>
                <a:latin typeface="Nunito" pitchFamily="2" charset="0"/>
              </a:rPr>
              <a:t>Here, 5 is at its correct position</a:t>
            </a:r>
          </a:p>
        </p:txBody>
      </p:sp>
      <p:sp>
        <p:nvSpPr>
          <p:cNvPr id="12" name="TextBox 11">
            <a:extLst>
              <a:ext uri="{FF2B5EF4-FFF2-40B4-BE49-F238E27FC236}">
                <a16:creationId xmlns:a16="http://schemas.microsoft.com/office/drawing/2014/main" id="{6EC125BD-28BB-CA04-460F-183B0B6B9B18}"/>
              </a:ext>
            </a:extLst>
          </p:cNvPr>
          <p:cNvSpPr txBox="1"/>
          <p:nvPr/>
        </p:nvSpPr>
        <p:spPr>
          <a:xfrm>
            <a:off x="529211" y="1543050"/>
            <a:ext cx="8500489" cy="738664"/>
          </a:xfrm>
          <a:prstGeom prst="rect">
            <a:avLst/>
          </a:prstGeom>
          <a:noFill/>
        </p:spPr>
        <p:txBody>
          <a:bodyPr wrap="square">
            <a:spAutoFit/>
          </a:bodyPr>
          <a:lstStyle/>
          <a:p>
            <a:pPr algn="l" fontAlgn="base"/>
            <a:r>
              <a:rPr lang="en-US" sz="1050" b="1" i="1" dirty="0">
                <a:solidFill>
                  <a:srgbClr val="273239"/>
                </a:solidFill>
                <a:latin typeface="Nunito" pitchFamily="2" charset="0"/>
              </a:rPr>
              <a:t>Fourth Pass:</a:t>
            </a:r>
            <a:endParaRPr lang="en-US" sz="1050" i="1" dirty="0">
              <a:solidFill>
                <a:srgbClr val="273239"/>
              </a:solidFill>
              <a:latin typeface="Nunito" pitchFamily="2" charset="0"/>
            </a:endParaRPr>
          </a:p>
          <a:p>
            <a:pPr algn="l" fontAlgn="base">
              <a:buFont typeface="Arial" panose="020B0604020202020204" pitchFamily="34" charset="0"/>
              <a:buChar char="•"/>
            </a:pPr>
            <a:r>
              <a:rPr lang="en-US" sz="1050" i="1" dirty="0">
                <a:solidFill>
                  <a:srgbClr val="273239"/>
                </a:solidFill>
                <a:latin typeface="Nunito" pitchFamily="2" charset="0"/>
              </a:rPr>
              <a:t>Now, the elements which are present in the sorted sub-array are </a:t>
            </a:r>
            <a:r>
              <a:rPr lang="en-US" sz="1050" b="1" i="1" dirty="0">
                <a:solidFill>
                  <a:srgbClr val="273239"/>
                </a:solidFill>
                <a:latin typeface="Nunito" pitchFamily="2" charset="0"/>
              </a:rPr>
              <a:t>5, 11 </a:t>
            </a:r>
            <a:r>
              <a:rPr lang="en-US" sz="1050" i="1" dirty="0">
                <a:solidFill>
                  <a:srgbClr val="273239"/>
                </a:solidFill>
                <a:latin typeface="Nunito" pitchFamily="2" charset="0"/>
              </a:rPr>
              <a:t>and </a:t>
            </a:r>
            <a:r>
              <a:rPr lang="en-US" sz="1050" b="1" i="1" dirty="0">
                <a:solidFill>
                  <a:srgbClr val="273239"/>
                </a:solidFill>
                <a:latin typeface="Nunito" pitchFamily="2" charset="0"/>
              </a:rPr>
              <a:t>12</a:t>
            </a:r>
            <a:endParaRPr lang="en-US" sz="1050" i="1" dirty="0">
              <a:solidFill>
                <a:srgbClr val="273239"/>
              </a:solidFill>
              <a:latin typeface="Nunito" pitchFamily="2" charset="0"/>
            </a:endParaRPr>
          </a:p>
          <a:p>
            <a:pPr algn="l" fontAlgn="base">
              <a:buFont typeface="Arial" panose="020B0604020202020204" pitchFamily="34" charset="0"/>
              <a:buChar char="•"/>
            </a:pPr>
            <a:r>
              <a:rPr lang="en-US" sz="1050" i="1" dirty="0">
                <a:solidFill>
                  <a:srgbClr val="273239"/>
                </a:solidFill>
                <a:latin typeface="Nunito" pitchFamily="2" charset="0"/>
              </a:rPr>
              <a:t>Moving to the next two elements 13 and 6</a:t>
            </a:r>
          </a:p>
          <a:p>
            <a:pPr algn="l" fontAlgn="base"/>
            <a:endParaRPr lang="en-US" sz="1050" i="1" dirty="0">
              <a:solidFill>
                <a:srgbClr val="273239"/>
              </a:solidFill>
              <a:latin typeface="Nunito" pitchFamily="2" charset="0"/>
            </a:endParaRPr>
          </a:p>
        </p:txBody>
      </p:sp>
      <p:graphicFrame>
        <p:nvGraphicFramePr>
          <p:cNvPr id="13" name="Table 12">
            <a:extLst>
              <a:ext uri="{FF2B5EF4-FFF2-40B4-BE49-F238E27FC236}">
                <a16:creationId xmlns:a16="http://schemas.microsoft.com/office/drawing/2014/main" id="{26849984-7284-95B5-B479-59E2E44CA0FB}"/>
              </a:ext>
            </a:extLst>
          </p:cNvPr>
          <p:cNvGraphicFramePr>
            <a:graphicFrameLocks noGrp="1"/>
          </p:cNvGraphicFramePr>
          <p:nvPr/>
        </p:nvGraphicFramePr>
        <p:xfrm>
          <a:off x="518606" y="2452562"/>
          <a:ext cx="6447235" cy="302895"/>
        </p:xfrm>
        <a:graphic>
          <a:graphicData uri="http://schemas.openxmlformats.org/drawingml/2006/table">
            <a:tbl>
              <a:tblPr/>
              <a:tblGrid>
                <a:gridCol w="1289447">
                  <a:extLst>
                    <a:ext uri="{9D8B030D-6E8A-4147-A177-3AD203B41FA5}">
                      <a16:colId xmlns:a16="http://schemas.microsoft.com/office/drawing/2014/main" val="316908987"/>
                    </a:ext>
                  </a:extLst>
                </a:gridCol>
                <a:gridCol w="1289447">
                  <a:extLst>
                    <a:ext uri="{9D8B030D-6E8A-4147-A177-3AD203B41FA5}">
                      <a16:colId xmlns:a16="http://schemas.microsoft.com/office/drawing/2014/main" val="3866491800"/>
                    </a:ext>
                  </a:extLst>
                </a:gridCol>
                <a:gridCol w="1289447">
                  <a:extLst>
                    <a:ext uri="{9D8B030D-6E8A-4147-A177-3AD203B41FA5}">
                      <a16:colId xmlns:a16="http://schemas.microsoft.com/office/drawing/2014/main" val="3315524972"/>
                    </a:ext>
                  </a:extLst>
                </a:gridCol>
                <a:gridCol w="1289447">
                  <a:extLst>
                    <a:ext uri="{9D8B030D-6E8A-4147-A177-3AD203B41FA5}">
                      <a16:colId xmlns:a16="http://schemas.microsoft.com/office/drawing/2014/main" val="498861796"/>
                    </a:ext>
                  </a:extLst>
                </a:gridCol>
                <a:gridCol w="1289447">
                  <a:extLst>
                    <a:ext uri="{9D8B030D-6E8A-4147-A177-3AD203B41FA5}">
                      <a16:colId xmlns:a16="http://schemas.microsoft.com/office/drawing/2014/main" val="1971906712"/>
                    </a:ext>
                  </a:extLst>
                </a:gridCol>
              </a:tblGrid>
              <a:tr h="302895">
                <a:tc>
                  <a:txBody>
                    <a:bodyPr/>
                    <a:lstStyle/>
                    <a:p>
                      <a:pPr algn="ctr" fontAlgn="ctr"/>
                      <a:r>
                        <a:rPr lang="en-US" sz="900" b="0" dirty="0">
                          <a:effectLst/>
                        </a:rPr>
                        <a:t>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12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13   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6   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258916496"/>
                  </a:ext>
                </a:extLst>
              </a:tr>
            </a:tbl>
          </a:graphicData>
        </a:graphic>
      </p:graphicFrame>
      <p:sp>
        <p:nvSpPr>
          <p:cNvPr id="15" name="TextBox 14">
            <a:extLst>
              <a:ext uri="{FF2B5EF4-FFF2-40B4-BE49-F238E27FC236}">
                <a16:creationId xmlns:a16="http://schemas.microsoft.com/office/drawing/2014/main" id="{DD5ADE00-1216-8FD7-6FBC-C4F9B929B32A}"/>
              </a:ext>
            </a:extLst>
          </p:cNvPr>
          <p:cNvSpPr txBox="1"/>
          <p:nvPr/>
        </p:nvSpPr>
        <p:spPr>
          <a:xfrm>
            <a:off x="522141" y="3001022"/>
            <a:ext cx="7993209" cy="253916"/>
          </a:xfrm>
          <a:prstGeom prst="rect">
            <a:avLst/>
          </a:prstGeom>
          <a:noFill/>
        </p:spPr>
        <p:txBody>
          <a:bodyPr wrap="square">
            <a:spAutoFit/>
          </a:bodyPr>
          <a:lstStyle/>
          <a:p>
            <a:pPr algn="l" fontAlgn="base">
              <a:buFont typeface="Arial" panose="020B0604020202020204" pitchFamily="34" charset="0"/>
              <a:buChar char="•"/>
            </a:pPr>
            <a:r>
              <a:rPr lang="en-US" sz="1050" i="1" dirty="0">
                <a:solidFill>
                  <a:srgbClr val="273239"/>
                </a:solidFill>
                <a:latin typeface="Nunito" pitchFamily="2" charset="0"/>
              </a:rPr>
              <a:t>Clearly, they are not sorted, thus perform swap between both</a:t>
            </a:r>
          </a:p>
        </p:txBody>
      </p:sp>
      <p:graphicFrame>
        <p:nvGraphicFramePr>
          <p:cNvPr id="17" name="Table 16">
            <a:extLst>
              <a:ext uri="{FF2B5EF4-FFF2-40B4-BE49-F238E27FC236}">
                <a16:creationId xmlns:a16="http://schemas.microsoft.com/office/drawing/2014/main" id="{C0EB3FC4-BEE3-24FF-D8FF-57FBDFA6ED4E}"/>
              </a:ext>
            </a:extLst>
          </p:cNvPr>
          <p:cNvGraphicFramePr>
            <a:graphicFrameLocks noGrp="1"/>
          </p:cNvGraphicFramePr>
          <p:nvPr/>
        </p:nvGraphicFramePr>
        <p:xfrm>
          <a:off x="529800" y="3458078"/>
          <a:ext cx="6447235" cy="302895"/>
        </p:xfrm>
        <a:graphic>
          <a:graphicData uri="http://schemas.openxmlformats.org/drawingml/2006/table">
            <a:tbl>
              <a:tblPr/>
              <a:tblGrid>
                <a:gridCol w="1289447">
                  <a:extLst>
                    <a:ext uri="{9D8B030D-6E8A-4147-A177-3AD203B41FA5}">
                      <a16:colId xmlns:a16="http://schemas.microsoft.com/office/drawing/2014/main" val="864383315"/>
                    </a:ext>
                  </a:extLst>
                </a:gridCol>
                <a:gridCol w="1289447">
                  <a:extLst>
                    <a:ext uri="{9D8B030D-6E8A-4147-A177-3AD203B41FA5}">
                      <a16:colId xmlns:a16="http://schemas.microsoft.com/office/drawing/2014/main" val="2009908000"/>
                    </a:ext>
                  </a:extLst>
                </a:gridCol>
                <a:gridCol w="1289447">
                  <a:extLst>
                    <a:ext uri="{9D8B030D-6E8A-4147-A177-3AD203B41FA5}">
                      <a16:colId xmlns:a16="http://schemas.microsoft.com/office/drawing/2014/main" val="626295387"/>
                    </a:ext>
                  </a:extLst>
                </a:gridCol>
                <a:gridCol w="1289447">
                  <a:extLst>
                    <a:ext uri="{9D8B030D-6E8A-4147-A177-3AD203B41FA5}">
                      <a16:colId xmlns:a16="http://schemas.microsoft.com/office/drawing/2014/main" val="3915455397"/>
                    </a:ext>
                  </a:extLst>
                </a:gridCol>
                <a:gridCol w="1289447">
                  <a:extLst>
                    <a:ext uri="{9D8B030D-6E8A-4147-A177-3AD203B41FA5}">
                      <a16:colId xmlns:a16="http://schemas.microsoft.com/office/drawing/2014/main" val="3186016951"/>
                    </a:ext>
                  </a:extLst>
                </a:gridCol>
              </a:tblGrid>
              <a:tr h="302895">
                <a:tc>
                  <a:txBody>
                    <a:bodyPr/>
                    <a:lstStyle/>
                    <a:p>
                      <a:pPr algn="ctr" fontAlgn="ctr"/>
                      <a:r>
                        <a:rPr lang="en-US" sz="900" b="0" dirty="0">
                          <a:effectLst/>
                        </a:rPr>
                        <a:t>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12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6   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13   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571849264"/>
                  </a:ext>
                </a:extLst>
              </a:tr>
            </a:tbl>
          </a:graphicData>
        </a:graphic>
      </p:graphicFrame>
      <p:sp>
        <p:nvSpPr>
          <p:cNvPr id="19" name="TextBox 18">
            <a:extLst>
              <a:ext uri="{FF2B5EF4-FFF2-40B4-BE49-F238E27FC236}">
                <a16:creationId xmlns:a16="http://schemas.microsoft.com/office/drawing/2014/main" id="{D9A1F1A2-6612-DC66-9248-72B0EDAD5270}"/>
              </a:ext>
            </a:extLst>
          </p:cNvPr>
          <p:cNvSpPr txBox="1"/>
          <p:nvPr/>
        </p:nvSpPr>
        <p:spPr>
          <a:xfrm>
            <a:off x="555724" y="4043031"/>
            <a:ext cx="7216676" cy="253916"/>
          </a:xfrm>
          <a:prstGeom prst="rect">
            <a:avLst/>
          </a:prstGeom>
          <a:noFill/>
        </p:spPr>
        <p:txBody>
          <a:bodyPr wrap="square">
            <a:spAutoFit/>
          </a:bodyPr>
          <a:lstStyle/>
          <a:p>
            <a:pPr algn="l" fontAlgn="base">
              <a:buFont typeface="Arial" panose="020B0604020202020204" pitchFamily="34" charset="0"/>
              <a:buChar char="•"/>
            </a:pPr>
            <a:r>
              <a:rPr lang="en-US" sz="1050" i="1" dirty="0">
                <a:solidFill>
                  <a:srgbClr val="273239"/>
                </a:solidFill>
                <a:latin typeface="Nunito" pitchFamily="2" charset="0"/>
              </a:rPr>
              <a:t>Now, 6 is smaller than 12, hence, swap again</a:t>
            </a:r>
          </a:p>
        </p:txBody>
      </p:sp>
      <p:graphicFrame>
        <p:nvGraphicFramePr>
          <p:cNvPr id="21" name="Table 20">
            <a:extLst>
              <a:ext uri="{FF2B5EF4-FFF2-40B4-BE49-F238E27FC236}">
                <a16:creationId xmlns:a16="http://schemas.microsoft.com/office/drawing/2014/main" id="{841B2DEC-5CB8-55F2-CC8B-43210F239E94}"/>
              </a:ext>
            </a:extLst>
          </p:cNvPr>
          <p:cNvGraphicFramePr>
            <a:graphicFrameLocks noGrp="1"/>
          </p:cNvGraphicFramePr>
          <p:nvPr/>
        </p:nvGraphicFramePr>
        <p:xfrm>
          <a:off x="400050" y="4592003"/>
          <a:ext cx="6447235" cy="302895"/>
        </p:xfrm>
        <a:graphic>
          <a:graphicData uri="http://schemas.openxmlformats.org/drawingml/2006/table">
            <a:tbl>
              <a:tblPr/>
              <a:tblGrid>
                <a:gridCol w="1289447">
                  <a:extLst>
                    <a:ext uri="{9D8B030D-6E8A-4147-A177-3AD203B41FA5}">
                      <a16:colId xmlns:a16="http://schemas.microsoft.com/office/drawing/2014/main" val="3422268342"/>
                    </a:ext>
                  </a:extLst>
                </a:gridCol>
                <a:gridCol w="1289447">
                  <a:extLst>
                    <a:ext uri="{9D8B030D-6E8A-4147-A177-3AD203B41FA5}">
                      <a16:colId xmlns:a16="http://schemas.microsoft.com/office/drawing/2014/main" val="1410508571"/>
                    </a:ext>
                  </a:extLst>
                </a:gridCol>
                <a:gridCol w="1289447">
                  <a:extLst>
                    <a:ext uri="{9D8B030D-6E8A-4147-A177-3AD203B41FA5}">
                      <a16:colId xmlns:a16="http://schemas.microsoft.com/office/drawing/2014/main" val="2106102864"/>
                    </a:ext>
                  </a:extLst>
                </a:gridCol>
                <a:gridCol w="1289447">
                  <a:extLst>
                    <a:ext uri="{9D8B030D-6E8A-4147-A177-3AD203B41FA5}">
                      <a16:colId xmlns:a16="http://schemas.microsoft.com/office/drawing/2014/main" val="1992455764"/>
                    </a:ext>
                  </a:extLst>
                </a:gridCol>
                <a:gridCol w="1289447">
                  <a:extLst>
                    <a:ext uri="{9D8B030D-6E8A-4147-A177-3AD203B41FA5}">
                      <a16:colId xmlns:a16="http://schemas.microsoft.com/office/drawing/2014/main" val="692426044"/>
                    </a:ext>
                  </a:extLst>
                </a:gridCol>
              </a:tblGrid>
              <a:tr h="302895">
                <a:tc>
                  <a:txBody>
                    <a:bodyPr/>
                    <a:lstStyle/>
                    <a:p>
                      <a:pPr algn="ctr" fontAlgn="ctr"/>
                      <a:r>
                        <a:rPr lang="en-US" sz="900" b="0" dirty="0">
                          <a:effectLst/>
                        </a:rPr>
                        <a:t>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11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6   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12   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13</a:t>
                      </a:r>
                      <a:r>
                        <a:rPr lang="en-US" sz="900" b="1" dirty="0">
                          <a:effectLst/>
                        </a:rPr>
                        <a:t>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572903987"/>
                  </a:ext>
                </a:extLst>
              </a:tr>
            </a:tbl>
          </a:graphicData>
        </a:graphic>
      </p:graphicFrame>
      <p:pic>
        <p:nvPicPr>
          <p:cNvPr id="3" name="Picture 2">
            <a:extLst>
              <a:ext uri="{FF2B5EF4-FFF2-40B4-BE49-F238E27FC236}">
                <a16:creationId xmlns:a16="http://schemas.microsoft.com/office/drawing/2014/main" id="{2A2F2BDA-2DC6-2F54-6B1A-044574A3A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4" name="Rectangle 3">
            <a:extLst>
              <a:ext uri="{FF2B5EF4-FFF2-40B4-BE49-F238E27FC236}">
                <a16:creationId xmlns:a16="http://schemas.microsoft.com/office/drawing/2014/main" id="{7D332CB2-2A56-7210-3FC2-D4D35A91495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5709714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413C3C-1BF6-BACC-2E7D-DCD2A32EF00D}"/>
              </a:ext>
            </a:extLst>
          </p:cNvPr>
          <p:cNvSpPr>
            <a:spLocks noGrp="1"/>
          </p:cNvSpPr>
          <p:nvPr>
            <p:ph idx="1"/>
          </p:nvPr>
        </p:nvSpPr>
        <p:spPr>
          <a:xfrm>
            <a:off x="485611" y="25924"/>
            <a:ext cx="8521700" cy="774176"/>
          </a:xfrm>
        </p:spPr>
        <p:txBody>
          <a:bodyPr/>
          <a:lstStyle/>
          <a:p>
            <a:pPr marL="0" indent="0">
              <a:buNone/>
            </a:pPr>
            <a:r>
              <a:rPr lang="en-US" dirty="0"/>
              <a:t>Here, also swapping makes 11 and 6 unsorted hence, swap again</a:t>
            </a:r>
          </a:p>
          <a:p>
            <a:pPr marL="0" indent="0">
              <a:buNone/>
            </a:pPr>
            <a:endParaRPr lang="en-US" dirty="0"/>
          </a:p>
        </p:txBody>
      </p:sp>
      <p:graphicFrame>
        <p:nvGraphicFramePr>
          <p:cNvPr id="4" name="Table 3">
            <a:extLst>
              <a:ext uri="{FF2B5EF4-FFF2-40B4-BE49-F238E27FC236}">
                <a16:creationId xmlns:a16="http://schemas.microsoft.com/office/drawing/2014/main" id="{53381812-0D00-E8FC-1705-62AF8FD1DB8D}"/>
              </a:ext>
            </a:extLst>
          </p:cNvPr>
          <p:cNvGraphicFramePr>
            <a:graphicFrameLocks noGrp="1"/>
          </p:cNvGraphicFramePr>
          <p:nvPr/>
        </p:nvGraphicFramePr>
        <p:xfrm>
          <a:off x="508000" y="400050"/>
          <a:ext cx="6447235" cy="302895"/>
        </p:xfrm>
        <a:graphic>
          <a:graphicData uri="http://schemas.openxmlformats.org/drawingml/2006/table">
            <a:tbl>
              <a:tblPr/>
              <a:tblGrid>
                <a:gridCol w="1289447">
                  <a:extLst>
                    <a:ext uri="{9D8B030D-6E8A-4147-A177-3AD203B41FA5}">
                      <a16:colId xmlns:a16="http://schemas.microsoft.com/office/drawing/2014/main" val="2925742568"/>
                    </a:ext>
                  </a:extLst>
                </a:gridCol>
                <a:gridCol w="1289447">
                  <a:extLst>
                    <a:ext uri="{9D8B030D-6E8A-4147-A177-3AD203B41FA5}">
                      <a16:colId xmlns:a16="http://schemas.microsoft.com/office/drawing/2014/main" val="3649964628"/>
                    </a:ext>
                  </a:extLst>
                </a:gridCol>
                <a:gridCol w="1289447">
                  <a:extLst>
                    <a:ext uri="{9D8B030D-6E8A-4147-A177-3AD203B41FA5}">
                      <a16:colId xmlns:a16="http://schemas.microsoft.com/office/drawing/2014/main" val="642540165"/>
                    </a:ext>
                  </a:extLst>
                </a:gridCol>
                <a:gridCol w="1289447">
                  <a:extLst>
                    <a:ext uri="{9D8B030D-6E8A-4147-A177-3AD203B41FA5}">
                      <a16:colId xmlns:a16="http://schemas.microsoft.com/office/drawing/2014/main" val="56567089"/>
                    </a:ext>
                  </a:extLst>
                </a:gridCol>
                <a:gridCol w="1289447">
                  <a:extLst>
                    <a:ext uri="{9D8B030D-6E8A-4147-A177-3AD203B41FA5}">
                      <a16:colId xmlns:a16="http://schemas.microsoft.com/office/drawing/2014/main" val="1333756535"/>
                    </a:ext>
                  </a:extLst>
                </a:gridCol>
              </a:tblGrid>
              <a:tr h="302895">
                <a:tc>
                  <a:txBody>
                    <a:bodyPr/>
                    <a:lstStyle/>
                    <a:p>
                      <a:pPr algn="ctr" fontAlgn="ctr"/>
                      <a:r>
                        <a:rPr lang="en-US" sz="900" b="0" dirty="0">
                          <a:effectLst/>
                        </a:rPr>
                        <a:t>5   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6</a:t>
                      </a:r>
                      <a:r>
                        <a:rPr lang="en-US" sz="900" b="0" dirty="0">
                          <a:effectLst/>
                        </a:rPr>
                        <a:t>   </a:t>
                      </a: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a:t>
                      </a:r>
                      <a:r>
                        <a:rPr lang="en-US" sz="900" b="1" dirty="0">
                          <a:effectLst/>
                        </a:rPr>
                        <a:t>11   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12</a:t>
                      </a:r>
                      <a:r>
                        <a:rPr lang="en-US" sz="900" b="1" dirty="0">
                          <a:effectLst/>
                        </a:rPr>
                        <a:t>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US" sz="900" b="0" dirty="0">
                          <a:effectLst/>
                        </a:rPr>
                        <a:t>   13</a:t>
                      </a:r>
                      <a:r>
                        <a:rPr lang="en-US" sz="900" b="1" dirty="0">
                          <a:effectLst/>
                        </a:rPr>
                        <a:t>   </a:t>
                      </a:r>
                      <a:endParaRPr lang="en-US" sz="900" b="0" dirty="0">
                        <a:effectLst/>
                      </a:endParaRPr>
                    </a:p>
                  </a:txBody>
                  <a:tcPr marL="57150" marR="57150" marT="80010" marB="8001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265873164"/>
                  </a:ext>
                </a:extLst>
              </a:tr>
            </a:tbl>
          </a:graphicData>
        </a:graphic>
      </p:graphicFrame>
      <p:sp>
        <p:nvSpPr>
          <p:cNvPr id="6" name="TextBox 5">
            <a:extLst>
              <a:ext uri="{FF2B5EF4-FFF2-40B4-BE49-F238E27FC236}">
                <a16:creationId xmlns:a16="http://schemas.microsoft.com/office/drawing/2014/main" id="{1F8AFCFA-8825-271D-A4AD-3D3080E96F72}"/>
              </a:ext>
            </a:extLst>
          </p:cNvPr>
          <p:cNvSpPr txBox="1"/>
          <p:nvPr/>
        </p:nvSpPr>
        <p:spPr>
          <a:xfrm>
            <a:off x="485611" y="1035727"/>
            <a:ext cx="4577891" cy="253916"/>
          </a:xfrm>
          <a:prstGeom prst="rect">
            <a:avLst/>
          </a:prstGeom>
          <a:noFill/>
        </p:spPr>
        <p:txBody>
          <a:bodyPr wrap="square">
            <a:spAutoFit/>
          </a:bodyPr>
          <a:lstStyle/>
          <a:p>
            <a:pPr algn="l" fontAlgn="base">
              <a:buFont typeface="Arial" panose="020B0604020202020204" pitchFamily="34" charset="0"/>
              <a:buChar char="•"/>
            </a:pPr>
            <a:r>
              <a:rPr lang="en-US" sz="1050" i="1" dirty="0">
                <a:solidFill>
                  <a:srgbClr val="273239"/>
                </a:solidFill>
                <a:latin typeface="Nunito" pitchFamily="2" charset="0"/>
              </a:rPr>
              <a:t>Finally, the array is completely sorted.</a:t>
            </a:r>
          </a:p>
        </p:txBody>
      </p:sp>
      <p:pic>
        <p:nvPicPr>
          <p:cNvPr id="7" name="Picture 6">
            <a:extLst>
              <a:ext uri="{FF2B5EF4-FFF2-40B4-BE49-F238E27FC236}">
                <a16:creationId xmlns:a16="http://schemas.microsoft.com/office/drawing/2014/main" id="{3B7E24FB-E5C1-CEA0-D16F-4F35C0AD9848}"/>
              </a:ext>
            </a:extLst>
          </p:cNvPr>
          <p:cNvPicPr>
            <a:picLocks noChangeAspect="1"/>
          </p:cNvPicPr>
          <p:nvPr/>
        </p:nvPicPr>
        <p:blipFill>
          <a:blip r:embed="rId2"/>
          <a:stretch>
            <a:fillRect/>
          </a:stretch>
        </p:blipFill>
        <p:spPr>
          <a:xfrm>
            <a:off x="508000" y="1312726"/>
            <a:ext cx="7150100" cy="3291421"/>
          </a:xfrm>
          <a:prstGeom prst="rect">
            <a:avLst/>
          </a:prstGeom>
        </p:spPr>
      </p:pic>
      <p:pic>
        <p:nvPicPr>
          <p:cNvPr id="5" name="Picture 4">
            <a:extLst>
              <a:ext uri="{FF2B5EF4-FFF2-40B4-BE49-F238E27FC236}">
                <a16:creationId xmlns:a16="http://schemas.microsoft.com/office/drawing/2014/main" id="{A2DBFB0F-04A5-9731-7604-E503736AC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Rectangle 7">
            <a:extLst>
              <a:ext uri="{FF2B5EF4-FFF2-40B4-BE49-F238E27FC236}">
                <a16:creationId xmlns:a16="http://schemas.microsoft.com/office/drawing/2014/main" id="{FDB55F0B-B387-8932-DE1C-1BCDB46E65F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7521098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542260" y="212651"/>
            <a:ext cx="8314661" cy="4167963"/>
          </a:xfrm>
        </p:spPr>
        <p:txBody>
          <a:bodyPr/>
          <a:lstStyle/>
          <a:p>
            <a:pPr marL="0" indent="0">
              <a:buNone/>
            </a:pPr>
            <a:endParaRPr lang="en-US" sz="1500" b="1" dirty="0">
              <a:latin typeface="Time "/>
            </a:endParaRPr>
          </a:p>
          <a:p>
            <a:pPr marL="0" indent="0" algn="just">
              <a:buNone/>
            </a:pPr>
            <a:r>
              <a:rPr lang="en-US" sz="1500" b="1" dirty="0">
                <a:latin typeface="Time "/>
              </a:rPr>
              <a:t>Characteristics of Insertion Sort</a:t>
            </a:r>
          </a:p>
          <a:p>
            <a:pPr algn="just">
              <a:buFont typeface="Wingdings" panose="05000000000000000000" pitchFamily="2" charset="2"/>
              <a:buChar char="q"/>
            </a:pPr>
            <a:r>
              <a:rPr lang="en-US" dirty="0">
                <a:latin typeface="Time "/>
              </a:rPr>
              <a:t>This algorithm is one of the simplest algorithms with a simple implementation</a:t>
            </a:r>
          </a:p>
          <a:p>
            <a:pPr algn="just">
              <a:buFont typeface="Wingdings" panose="05000000000000000000" pitchFamily="2" charset="2"/>
              <a:buChar char="q"/>
            </a:pPr>
            <a:r>
              <a:rPr lang="en-US" dirty="0">
                <a:latin typeface="Time "/>
              </a:rPr>
              <a:t>Basically, Insertion sort is efficient for small data values</a:t>
            </a:r>
          </a:p>
          <a:p>
            <a:pPr algn="just">
              <a:buFont typeface="Wingdings" panose="05000000000000000000" pitchFamily="2" charset="2"/>
              <a:buChar char="q"/>
            </a:pPr>
            <a:r>
              <a:rPr lang="en-US" dirty="0">
                <a:latin typeface="Time "/>
              </a:rPr>
              <a:t>Insertion sort is adaptive in nature, i.e. it is appropriate for data sets that are already partially sorted.</a:t>
            </a: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5" name="Rectangle 4">
            <a:extLst>
              <a:ext uri="{FF2B5EF4-FFF2-40B4-BE49-F238E27FC236}">
                <a16:creationId xmlns:a16="http://schemas.microsoft.com/office/drawing/2014/main" id="{C1D8CC12-7345-BABC-9B23-D4A30E540F1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058650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1023DEF-271E-B28B-C405-93451825539A}"/>
              </a:ext>
            </a:extLst>
          </p:cNvPr>
          <p:cNvPicPr>
            <a:picLocks noGrp="1" noChangeAspect="1"/>
          </p:cNvPicPr>
          <p:nvPr>
            <p:ph idx="1"/>
          </p:nvPr>
        </p:nvPicPr>
        <p:blipFill>
          <a:blip r:embed="rId2"/>
          <a:stretch>
            <a:fillRect/>
          </a:stretch>
        </p:blipFill>
        <p:spPr>
          <a:xfrm>
            <a:off x="1084521" y="212725"/>
            <a:ext cx="6847367" cy="4167188"/>
          </a:xfrm>
        </p:spPr>
      </p:pic>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3" name="Rectangle 2">
            <a:extLst>
              <a:ext uri="{FF2B5EF4-FFF2-40B4-BE49-F238E27FC236}">
                <a16:creationId xmlns:a16="http://schemas.microsoft.com/office/drawing/2014/main" id="{DA795D74-67CE-D418-FAFF-AD2CC2A7C87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56620275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542260" y="212651"/>
            <a:ext cx="8314661" cy="4167963"/>
          </a:xfrm>
        </p:spPr>
        <p:txBody>
          <a:bodyPr/>
          <a:lstStyle/>
          <a:p>
            <a:pPr marL="0" indent="0" algn="ctr">
              <a:buNone/>
            </a:pPr>
            <a:r>
              <a:rPr lang="en-US" sz="1600" b="1" dirty="0">
                <a:latin typeface="Time "/>
              </a:rPr>
              <a:t>Merge Sort</a:t>
            </a:r>
          </a:p>
          <a:p>
            <a:pPr marL="0" indent="0" algn="ctr">
              <a:buNone/>
            </a:pP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685800" y="762886"/>
            <a:ext cx="8001000" cy="2031325"/>
          </a:xfrm>
          <a:prstGeom prst="rect">
            <a:avLst/>
          </a:prstGeom>
          <a:noFill/>
        </p:spPr>
        <p:txBody>
          <a:bodyPr wrap="square">
            <a:spAutoFit/>
          </a:bodyPr>
          <a:lstStyle/>
          <a:p>
            <a:pPr algn="just"/>
            <a:r>
              <a:rPr lang="en-US" sz="1800" dirty="0">
                <a:latin typeface="Time "/>
              </a:rPr>
              <a:t>Merge sort is defined as a sorting algorithm that works by dividing an array into smaller subarrays, sorting each subarray, and then merging the sorted subarrays back together to form the final sorted array.</a:t>
            </a:r>
          </a:p>
          <a:p>
            <a:pPr algn="just"/>
            <a:endParaRPr lang="en-US" sz="1800" dirty="0">
              <a:latin typeface="Time "/>
            </a:endParaRPr>
          </a:p>
          <a:p>
            <a:pPr algn="just"/>
            <a:r>
              <a:rPr lang="en-US" sz="1800" dirty="0">
                <a:latin typeface="Time "/>
              </a:rPr>
              <a:t>In simple terms, we can say that the process of merge sort is to divide the array into two splits, sort each half, and then merge the sorted splits back together. This process is repeated until the entire array is sorted.</a:t>
            </a:r>
          </a:p>
        </p:txBody>
      </p:sp>
      <p:pic>
        <p:nvPicPr>
          <p:cNvPr id="7" name="Picture 6">
            <a:extLst>
              <a:ext uri="{FF2B5EF4-FFF2-40B4-BE49-F238E27FC236}">
                <a16:creationId xmlns:a16="http://schemas.microsoft.com/office/drawing/2014/main" id="{EC05C99C-FC8D-8EEC-1997-27CFCA4BD22E}"/>
              </a:ext>
            </a:extLst>
          </p:cNvPr>
          <p:cNvPicPr>
            <a:picLocks noChangeAspect="1"/>
          </p:cNvPicPr>
          <p:nvPr/>
        </p:nvPicPr>
        <p:blipFill>
          <a:blip r:embed="rId3"/>
          <a:stretch>
            <a:fillRect/>
          </a:stretch>
        </p:blipFill>
        <p:spPr>
          <a:xfrm>
            <a:off x="4827182" y="2794211"/>
            <a:ext cx="4114800" cy="2072802"/>
          </a:xfrm>
          <a:prstGeom prst="rect">
            <a:avLst/>
          </a:prstGeom>
        </p:spPr>
      </p:pic>
      <p:sp>
        <p:nvSpPr>
          <p:cNvPr id="8" name="Rectangle 7">
            <a:extLst>
              <a:ext uri="{FF2B5EF4-FFF2-40B4-BE49-F238E27FC236}">
                <a16:creationId xmlns:a16="http://schemas.microsoft.com/office/drawing/2014/main" id="{5969E3D6-3138-CBF3-835C-EBB0E3BED1F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76855157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542260" y="212651"/>
            <a:ext cx="8314661" cy="4167963"/>
          </a:xfrm>
        </p:spPr>
        <p:txBody>
          <a:bodyPr/>
          <a:lstStyle/>
          <a:p>
            <a:pPr marL="0" indent="0" algn="ctr">
              <a:buNone/>
            </a:pPr>
            <a:r>
              <a:rPr lang="en-US" sz="1600" b="1" dirty="0">
                <a:latin typeface="Time "/>
              </a:rPr>
              <a:t>Merge Sort</a:t>
            </a:r>
          </a:p>
          <a:p>
            <a:pPr marL="0" indent="0" algn="ctr">
              <a:buNone/>
            </a:pP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685800" y="762886"/>
            <a:ext cx="8001000" cy="1723549"/>
          </a:xfrm>
          <a:prstGeom prst="rect">
            <a:avLst/>
          </a:prstGeom>
          <a:noFill/>
        </p:spPr>
        <p:txBody>
          <a:bodyPr wrap="square">
            <a:spAutoFit/>
          </a:bodyPr>
          <a:lstStyle/>
          <a:p>
            <a:pPr marL="0" indent="0">
              <a:buNone/>
            </a:pPr>
            <a:r>
              <a:rPr lang="en-US" sz="1600" b="1" dirty="0">
                <a:latin typeface="Time "/>
              </a:rPr>
              <a:t>How does Merge Sort work?</a:t>
            </a:r>
          </a:p>
          <a:p>
            <a:pPr algn="just"/>
            <a:r>
              <a:rPr lang="en-US" sz="1800" dirty="0">
                <a:latin typeface="Time "/>
              </a:rPr>
              <a:t>Merge sort is a recursive algorithm that continuously splits the array in half until it cannot be further divided i.e., the array has only one element left (an array with one element is always sorted). Then the sorted subarrays are merged into one sorted array.</a:t>
            </a:r>
          </a:p>
          <a:p>
            <a:pPr algn="just"/>
            <a:endParaRPr lang="en-US" sz="1800" dirty="0">
              <a:latin typeface="Time "/>
            </a:endParaRPr>
          </a:p>
        </p:txBody>
      </p:sp>
      <p:sp>
        <p:nvSpPr>
          <p:cNvPr id="8" name="TextBox 7">
            <a:extLst>
              <a:ext uri="{FF2B5EF4-FFF2-40B4-BE49-F238E27FC236}">
                <a16:creationId xmlns:a16="http://schemas.microsoft.com/office/drawing/2014/main" id="{EF0FECC1-606D-35D6-10DD-8CD3AB7C44A4}"/>
              </a:ext>
            </a:extLst>
          </p:cNvPr>
          <p:cNvSpPr txBox="1"/>
          <p:nvPr/>
        </p:nvSpPr>
        <p:spPr>
          <a:xfrm>
            <a:off x="724623" y="2353999"/>
            <a:ext cx="7877117" cy="523220"/>
          </a:xfrm>
          <a:prstGeom prst="rect">
            <a:avLst/>
          </a:prstGeom>
          <a:noFill/>
        </p:spPr>
        <p:txBody>
          <a:bodyPr wrap="square">
            <a:spAutoFit/>
          </a:bodyPr>
          <a:lstStyle/>
          <a:p>
            <a:pPr marL="0" indent="0">
              <a:buNone/>
            </a:pPr>
            <a:r>
              <a:rPr lang="en-US" dirty="0">
                <a:latin typeface="Time "/>
              </a:rPr>
              <a:t>Lets consider an array </a:t>
            </a:r>
            <a:r>
              <a:rPr lang="en-US" dirty="0" err="1">
                <a:latin typeface="Time "/>
              </a:rPr>
              <a:t>arr</a:t>
            </a:r>
            <a:r>
              <a:rPr lang="en-US" dirty="0">
                <a:latin typeface="Time "/>
              </a:rPr>
              <a:t>[] = {38, 27, 43, 10}</a:t>
            </a:r>
          </a:p>
          <a:p>
            <a:r>
              <a:rPr lang="en-US" dirty="0">
                <a:latin typeface="Time "/>
              </a:rPr>
              <a:t>Initially divide the array into two equal splits:</a:t>
            </a:r>
          </a:p>
        </p:txBody>
      </p:sp>
      <p:pic>
        <p:nvPicPr>
          <p:cNvPr id="9" name="Picture 8">
            <a:extLst>
              <a:ext uri="{FF2B5EF4-FFF2-40B4-BE49-F238E27FC236}">
                <a16:creationId xmlns:a16="http://schemas.microsoft.com/office/drawing/2014/main" id="{87946068-8C24-57EA-B066-827D274A1E90}"/>
              </a:ext>
            </a:extLst>
          </p:cNvPr>
          <p:cNvPicPr>
            <a:picLocks noChangeAspect="1"/>
          </p:cNvPicPr>
          <p:nvPr/>
        </p:nvPicPr>
        <p:blipFill>
          <a:blip r:embed="rId3"/>
          <a:stretch>
            <a:fillRect/>
          </a:stretch>
        </p:blipFill>
        <p:spPr>
          <a:xfrm>
            <a:off x="1098832" y="2920263"/>
            <a:ext cx="6790526" cy="1885653"/>
          </a:xfrm>
          <a:prstGeom prst="rect">
            <a:avLst/>
          </a:prstGeom>
        </p:spPr>
      </p:pic>
      <p:sp>
        <p:nvSpPr>
          <p:cNvPr id="5" name="Rectangle 4">
            <a:extLst>
              <a:ext uri="{FF2B5EF4-FFF2-40B4-BE49-F238E27FC236}">
                <a16:creationId xmlns:a16="http://schemas.microsoft.com/office/drawing/2014/main" id="{BB924089-0DC1-E708-9498-1B76F59652C9}"/>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479943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542260" y="212651"/>
            <a:ext cx="8314661" cy="4167963"/>
          </a:xfrm>
        </p:spPr>
        <p:txBody>
          <a:bodyPr/>
          <a:lstStyle/>
          <a:p>
            <a:pPr marL="0" indent="0" algn="ctr">
              <a:buNone/>
            </a:pPr>
            <a:r>
              <a:rPr lang="en-US" sz="1600" b="1" dirty="0">
                <a:latin typeface="Time "/>
              </a:rPr>
              <a:t>Merge Sort</a:t>
            </a:r>
          </a:p>
          <a:p>
            <a:pPr marL="0" indent="0" algn="ctr">
              <a:buNone/>
            </a:pP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685800" y="762886"/>
            <a:ext cx="8001000" cy="584775"/>
          </a:xfrm>
          <a:prstGeom prst="rect">
            <a:avLst/>
          </a:prstGeom>
          <a:noFill/>
        </p:spPr>
        <p:txBody>
          <a:bodyPr wrap="square">
            <a:spAutoFit/>
          </a:bodyPr>
          <a:lstStyle/>
          <a:p>
            <a:pPr algn="just"/>
            <a:r>
              <a:rPr lang="en-US" sz="1600" dirty="0">
                <a:latin typeface="Time "/>
              </a:rPr>
              <a:t>Step 2: These subarrays are further divided into two halves. Now they become array of unit length that can no longer be divided and array of unit length are always sorted.</a:t>
            </a:r>
          </a:p>
        </p:txBody>
      </p:sp>
      <p:pic>
        <p:nvPicPr>
          <p:cNvPr id="5" name="Picture 4">
            <a:extLst>
              <a:ext uri="{FF2B5EF4-FFF2-40B4-BE49-F238E27FC236}">
                <a16:creationId xmlns:a16="http://schemas.microsoft.com/office/drawing/2014/main" id="{63359070-0BB5-124D-42BD-C9036918BEF4}"/>
              </a:ext>
            </a:extLst>
          </p:cNvPr>
          <p:cNvPicPr>
            <a:picLocks noChangeAspect="1"/>
          </p:cNvPicPr>
          <p:nvPr/>
        </p:nvPicPr>
        <p:blipFill>
          <a:blip r:embed="rId3"/>
          <a:stretch>
            <a:fillRect/>
          </a:stretch>
        </p:blipFill>
        <p:spPr>
          <a:xfrm>
            <a:off x="685800" y="1711879"/>
            <a:ext cx="7962177" cy="1776201"/>
          </a:xfrm>
          <a:prstGeom prst="rect">
            <a:avLst/>
          </a:prstGeom>
        </p:spPr>
      </p:pic>
      <p:sp>
        <p:nvSpPr>
          <p:cNvPr id="7" name="Rectangle 6">
            <a:extLst>
              <a:ext uri="{FF2B5EF4-FFF2-40B4-BE49-F238E27FC236}">
                <a16:creationId xmlns:a16="http://schemas.microsoft.com/office/drawing/2014/main" id="{B012D959-904B-F535-822F-D335358C924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5341057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542260" y="212651"/>
            <a:ext cx="8314661" cy="4167963"/>
          </a:xfrm>
        </p:spPr>
        <p:txBody>
          <a:bodyPr/>
          <a:lstStyle/>
          <a:p>
            <a:pPr marL="0" indent="0" algn="ctr">
              <a:buNone/>
            </a:pPr>
            <a:r>
              <a:rPr lang="en-US" sz="1600" b="1" dirty="0">
                <a:latin typeface="Time "/>
              </a:rPr>
              <a:t>Merge Sort</a:t>
            </a:r>
          </a:p>
          <a:p>
            <a:pPr marL="0" indent="0" algn="ctr">
              <a:buNone/>
            </a:pP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685800" y="762886"/>
            <a:ext cx="8001000" cy="584775"/>
          </a:xfrm>
          <a:prstGeom prst="rect">
            <a:avLst/>
          </a:prstGeom>
          <a:noFill/>
        </p:spPr>
        <p:txBody>
          <a:bodyPr wrap="square">
            <a:spAutoFit/>
          </a:bodyPr>
          <a:lstStyle/>
          <a:p>
            <a:pPr algn="just"/>
            <a:r>
              <a:rPr lang="en-US" sz="1600" b="1" dirty="0">
                <a:latin typeface="Time "/>
              </a:rPr>
              <a:t>Step 3:</a:t>
            </a:r>
            <a:r>
              <a:rPr lang="en-US" sz="1600" dirty="0">
                <a:latin typeface="Time "/>
              </a:rPr>
              <a:t> These sorted subarrays are merged together, and we get bigger sorted subarrays.</a:t>
            </a:r>
          </a:p>
          <a:p>
            <a:pPr algn="just"/>
            <a:endParaRPr lang="en-US" sz="1600" dirty="0">
              <a:latin typeface="Time "/>
            </a:endParaRPr>
          </a:p>
        </p:txBody>
      </p:sp>
      <p:pic>
        <p:nvPicPr>
          <p:cNvPr id="7" name="Picture 6">
            <a:extLst>
              <a:ext uri="{FF2B5EF4-FFF2-40B4-BE49-F238E27FC236}">
                <a16:creationId xmlns:a16="http://schemas.microsoft.com/office/drawing/2014/main" id="{6586DC92-318A-448B-0436-7E425101DD4C}"/>
              </a:ext>
            </a:extLst>
          </p:cNvPr>
          <p:cNvPicPr>
            <a:picLocks noChangeAspect="1"/>
          </p:cNvPicPr>
          <p:nvPr/>
        </p:nvPicPr>
        <p:blipFill>
          <a:blip r:embed="rId3"/>
          <a:stretch>
            <a:fillRect/>
          </a:stretch>
        </p:blipFill>
        <p:spPr>
          <a:xfrm>
            <a:off x="542260" y="1369580"/>
            <a:ext cx="8001001" cy="2665313"/>
          </a:xfrm>
          <a:prstGeom prst="rect">
            <a:avLst/>
          </a:prstGeom>
        </p:spPr>
      </p:pic>
      <p:sp>
        <p:nvSpPr>
          <p:cNvPr id="5" name="Rectangle 4">
            <a:extLst>
              <a:ext uri="{FF2B5EF4-FFF2-40B4-BE49-F238E27FC236}">
                <a16:creationId xmlns:a16="http://schemas.microsoft.com/office/drawing/2014/main" id="{693FACD3-D7E1-7909-0B0D-0F84373E676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264706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542260" y="212651"/>
            <a:ext cx="8314661" cy="4167963"/>
          </a:xfrm>
        </p:spPr>
        <p:txBody>
          <a:bodyPr/>
          <a:lstStyle/>
          <a:p>
            <a:pPr marL="0" indent="0" algn="ctr">
              <a:buNone/>
            </a:pPr>
            <a:r>
              <a:rPr lang="en-US" sz="1600" b="1" dirty="0">
                <a:latin typeface="Time "/>
              </a:rPr>
              <a:t>Merge Sort</a:t>
            </a:r>
          </a:p>
          <a:p>
            <a:pPr marL="0" indent="0" algn="ctr">
              <a:buNone/>
            </a:pP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pic>
        <p:nvPicPr>
          <p:cNvPr id="8" name="Content Placeholder 3">
            <a:extLst>
              <a:ext uri="{FF2B5EF4-FFF2-40B4-BE49-F238E27FC236}">
                <a16:creationId xmlns:a16="http://schemas.microsoft.com/office/drawing/2014/main" id="{3D3CB9C8-FF27-71B7-BCF9-71EAEDBA2D02}"/>
              </a:ext>
            </a:extLst>
          </p:cNvPr>
          <p:cNvPicPr>
            <a:picLocks noChangeAspect="1"/>
          </p:cNvPicPr>
          <p:nvPr/>
        </p:nvPicPr>
        <p:blipFill>
          <a:blip r:embed="rId3"/>
          <a:stretch>
            <a:fillRect/>
          </a:stretch>
        </p:blipFill>
        <p:spPr>
          <a:xfrm>
            <a:off x="414669" y="1031996"/>
            <a:ext cx="8569842" cy="2590800"/>
          </a:xfrm>
          <a:prstGeom prst="rect">
            <a:avLst/>
          </a:prstGeom>
        </p:spPr>
      </p:pic>
      <p:sp>
        <p:nvSpPr>
          <p:cNvPr id="10" name="TextBox 9">
            <a:extLst>
              <a:ext uri="{FF2B5EF4-FFF2-40B4-BE49-F238E27FC236}">
                <a16:creationId xmlns:a16="http://schemas.microsoft.com/office/drawing/2014/main" id="{D96107D6-DCCE-B271-4741-78101837FEEE}"/>
              </a:ext>
            </a:extLst>
          </p:cNvPr>
          <p:cNvSpPr txBox="1"/>
          <p:nvPr/>
        </p:nvSpPr>
        <p:spPr>
          <a:xfrm>
            <a:off x="893136" y="3974693"/>
            <a:ext cx="7708604" cy="307777"/>
          </a:xfrm>
          <a:prstGeom prst="rect">
            <a:avLst/>
          </a:prstGeom>
          <a:noFill/>
        </p:spPr>
        <p:txBody>
          <a:bodyPr wrap="square">
            <a:spAutoFit/>
          </a:bodyPr>
          <a:lstStyle/>
          <a:p>
            <a:r>
              <a:rPr lang="en-US" dirty="0">
                <a:latin typeface="Time "/>
              </a:rPr>
              <a:t>The following diagram shows the complete merge sort process for an example array {38, 27, 43, 10}. </a:t>
            </a:r>
          </a:p>
        </p:txBody>
      </p:sp>
      <p:sp>
        <p:nvSpPr>
          <p:cNvPr id="5" name="Rectangle 4">
            <a:extLst>
              <a:ext uri="{FF2B5EF4-FFF2-40B4-BE49-F238E27FC236}">
                <a16:creationId xmlns:a16="http://schemas.microsoft.com/office/drawing/2014/main" id="{13D89043-A46A-72E5-C59B-AECF6FDF940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87477702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US" sz="1600" b="1" dirty="0">
                <a:latin typeface="Time "/>
              </a:rPr>
              <a:t>Merge Sort</a:t>
            </a:r>
          </a:p>
          <a:p>
            <a:pPr marL="0" indent="0" algn="ctr">
              <a:buNone/>
            </a:pP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2523768"/>
          </a:xfrm>
          <a:prstGeom prst="rect">
            <a:avLst/>
          </a:prstGeom>
          <a:noFill/>
        </p:spPr>
        <p:txBody>
          <a:bodyPr wrap="square">
            <a:spAutoFit/>
          </a:bodyPr>
          <a:lstStyle/>
          <a:p>
            <a:pPr algn="just"/>
            <a:r>
              <a:rPr lang="en-US" sz="1600" dirty="0">
                <a:latin typeface="Time "/>
              </a:rPr>
              <a:t>Merge Sort is a classic sorting algorithm that follows the divide-and-conquer approach. Here's a step-by-step explanation of how the algorithm works:</a:t>
            </a:r>
          </a:p>
          <a:p>
            <a:pPr marL="342900" indent="-342900" algn="just">
              <a:buFont typeface="+mj-lt"/>
              <a:buAutoNum type="arabicPeriod"/>
            </a:pPr>
            <a:r>
              <a:rPr lang="en-US" sz="1600" b="1" dirty="0">
                <a:latin typeface="Time "/>
              </a:rPr>
              <a:t>Divide: </a:t>
            </a:r>
            <a:r>
              <a:rPr lang="en-US" sz="1600" dirty="0">
                <a:latin typeface="Time "/>
              </a:rPr>
              <a:t>The unsorted list is divided into two halves recursively until each sub list contains only one element.</a:t>
            </a:r>
          </a:p>
          <a:p>
            <a:pPr marL="342900" indent="-342900" algn="just">
              <a:buFont typeface="+mj-lt"/>
              <a:buAutoNum type="arabicPeriod"/>
            </a:pPr>
            <a:r>
              <a:rPr lang="en-US" sz="1600" b="1" dirty="0">
                <a:latin typeface="Time "/>
              </a:rPr>
              <a:t>Conquer: </a:t>
            </a:r>
            <a:r>
              <a:rPr lang="en-US" sz="1600" dirty="0">
                <a:latin typeface="Time "/>
              </a:rPr>
              <a:t>Once the lists are divided into individual elements, they are merged back together in a sorted manner.</a:t>
            </a:r>
          </a:p>
          <a:p>
            <a:pPr marL="342900" indent="-342900" algn="just">
              <a:buFont typeface="+mj-lt"/>
              <a:buAutoNum type="arabicPeriod"/>
            </a:pPr>
            <a:r>
              <a:rPr lang="en-US" sz="1600" b="1" dirty="0">
                <a:latin typeface="Time "/>
              </a:rPr>
              <a:t>Merge: </a:t>
            </a:r>
            <a:r>
              <a:rPr lang="en-US" sz="1600" dirty="0">
                <a:latin typeface="Time "/>
              </a:rPr>
              <a:t>During the merge step, the two smaller sorted lists are merged into a single larger sorted list. This process continues recursively until there is only one sorted list remaining, which is the sorted version of the original list.</a:t>
            </a:r>
          </a:p>
          <a:p>
            <a:pPr algn="l"/>
            <a:endParaRPr lang="en-US" b="0" i="0" dirty="0">
              <a:solidFill>
                <a:srgbClr val="0D0D0D"/>
              </a:solidFill>
              <a:effectLst/>
              <a:highlight>
                <a:srgbClr val="FFFFFF"/>
              </a:highlight>
              <a:latin typeface="Time "/>
            </a:endParaRPr>
          </a:p>
        </p:txBody>
      </p:sp>
      <p:sp>
        <p:nvSpPr>
          <p:cNvPr id="5" name="Rectangle 4">
            <a:extLst>
              <a:ext uri="{FF2B5EF4-FFF2-40B4-BE49-F238E27FC236}">
                <a16:creationId xmlns:a16="http://schemas.microsoft.com/office/drawing/2014/main" id="{B357548B-DC56-8544-6F7A-018295D7C5C6}"/>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62370936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US" sz="1500" b="1" dirty="0">
                <a:latin typeface="Time "/>
              </a:rPr>
              <a:t>Bucket Sort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2585323"/>
          </a:xfrm>
          <a:prstGeom prst="rect">
            <a:avLst/>
          </a:prstGeom>
          <a:noFill/>
        </p:spPr>
        <p:txBody>
          <a:bodyPr wrap="square">
            <a:spAutoFit/>
          </a:bodyPr>
          <a:lstStyle/>
          <a:p>
            <a:pPr algn="just"/>
            <a:r>
              <a:rPr lang="en-US" sz="1500" b="1" dirty="0">
                <a:latin typeface="Time "/>
              </a:rPr>
              <a:t>Bucket Sort </a:t>
            </a:r>
            <a:r>
              <a:rPr lang="en-US" sz="1500" dirty="0">
                <a:latin typeface="Time "/>
              </a:rPr>
              <a:t>is a sorting algorithm that divides the unsorted array elements into several groups called buckets. Each bucket is then sorted by using any of the suitable </a:t>
            </a:r>
            <a:r>
              <a:rPr lang="en-US" sz="1500" dirty="0">
                <a:latin typeface="Time "/>
                <a:hlinkClick r:id="rId3" tooltip="Sorting Algorithm">
                  <a:extLst>
                    <a:ext uri="{A12FA001-AC4F-418D-AE19-62706E023703}">
                      <ahyp:hlinkClr xmlns:ahyp="http://schemas.microsoft.com/office/drawing/2018/hyperlinkcolor" val="tx"/>
                    </a:ext>
                  </a:extLst>
                </a:hlinkClick>
              </a:rPr>
              <a:t>sorting algorithms</a:t>
            </a:r>
            <a:r>
              <a:rPr lang="en-US" sz="1500" dirty="0">
                <a:latin typeface="Time "/>
              </a:rPr>
              <a:t> or recursively applying the same bucket algorithm.</a:t>
            </a:r>
          </a:p>
          <a:p>
            <a:pPr algn="just"/>
            <a:r>
              <a:rPr lang="en-US" sz="1500" dirty="0">
                <a:latin typeface="Time "/>
              </a:rPr>
              <a:t>Finally, the sorted buckets are combined to form a final sorted array.</a:t>
            </a:r>
          </a:p>
          <a:p>
            <a:pPr algn="just"/>
            <a:r>
              <a:rPr lang="en-IN" sz="1500" b="1" dirty="0">
                <a:latin typeface="Time "/>
              </a:rPr>
              <a:t>Scatter Gather Approach</a:t>
            </a:r>
            <a:endParaRPr lang="en-US" sz="1500" b="1" dirty="0">
              <a:latin typeface="Time "/>
            </a:endParaRPr>
          </a:p>
          <a:p>
            <a:pPr algn="just"/>
            <a:r>
              <a:rPr lang="en-US" sz="1500" dirty="0">
                <a:latin typeface="Time "/>
              </a:rPr>
              <a:t>The process of bucket sort can be understood as a scatter-gather approach. Here, elements are first scattered into buckets then the elements in each bucket are sorted. Finally, the elements are gathered in order.</a:t>
            </a:r>
          </a:p>
          <a:p>
            <a:pPr algn="just"/>
            <a:endParaRPr lang="en-US" dirty="0">
              <a:highlight>
                <a:srgbClr val="F9FAFC"/>
              </a:highlight>
              <a:latin typeface="euclid_circular_a"/>
            </a:endParaRPr>
          </a:p>
          <a:p>
            <a:pPr algn="just"/>
            <a:endParaRPr lang="en-US" dirty="0">
              <a:highlight>
                <a:srgbClr val="F9FAFC"/>
              </a:highlight>
              <a:latin typeface="euclid_circular_a"/>
            </a:endParaRPr>
          </a:p>
          <a:p>
            <a:pPr algn="l"/>
            <a:endParaRPr lang="en-US" b="0" i="0" dirty="0">
              <a:solidFill>
                <a:srgbClr val="0D0D0D"/>
              </a:solidFill>
              <a:effectLst/>
              <a:highlight>
                <a:srgbClr val="FFFFFF"/>
              </a:highlight>
              <a:latin typeface="Time "/>
            </a:endParaRPr>
          </a:p>
        </p:txBody>
      </p:sp>
      <p:pic>
        <p:nvPicPr>
          <p:cNvPr id="7" name="Picture 6">
            <a:extLst>
              <a:ext uri="{FF2B5EF4-FFF2-40B4-BE49-F238E27FC236}">
                <a16:creationId xmlns:a16="http://schemas.microsoft.com/office/drawing/2014/main" id="{B4DE6B6A-D8FA-FF7C-531F-6827AFDBE5C3}"/>
              </a:ext>
            </a:extLst>
          </p:cNvPr>
          <p:cNvPicPr>
            <a:picLocks noChangeAspect="1"/>
          </p:cNvPicPr>
          <p:nvPr/>
        </p:nvPicPr>
        <p:blipFill>
          <a:blip r:embed="rId4"/>
          <a:stretch>
            <a:fillRect/>
          </a:stretch>
        </p:blipFill>
        <p:spPr>
          <a:xfrm>
            <a:off x="2115878" y="2571750"/>
            <a:ext cx="5427921" cy="2190750"/>
          </a:xfrm>
          <a:prstGeom prst="rect">
            <a:avLst/>
          </a:prstGeom>
        </p:spPr>
      </p:pic>
      <p:sp>
        <p:nvSpPr>
          <p:cNvPr id="5" name="Rectangle 4">
            <a:extLst>
              <a:ext uri="{FF2B5EF4-FFF2-40B4-BE49-F238E27FC236}">
                <a16:creationId xmlns:a16="http://schemas.microsoft.com/office/drawing/2014/main" id="{F6983E4D-6AC2-CB38-9B0D-A663514CE52E}"/>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32047969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Bucket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1169551"/>
          </a:xfrm>
          <a:prstGeom prst="rect">
            <a:avLst/>
          </a:prstGeom>
          <a:noFill/>
        </p:spPr>
        <p:txBody>
          <a:bodyPr wrap="square">
            <a:spAutoFit/>
          </a:bodyPr>
          <a:lstStyle/>
          <a:p>
            <a:pPr algn="just"/>
            <a:r>
              <a:rPr lang="en-US" dirty="0">
                <a:highlight>
                  <a:srgbClr val="F9FAFC"/>
                </a:highlight>
                <a:latin typeface="euclid_circular_a"/>
              </a:rPr>
              <a:t>Suppose, the input array is:</a:t>
            </a:r>
          </a:p>
          <a:p>
            <a:pPr algn="just"/>
            <a:endParaRPr lang="en-US" b="0" i="0" dirty="0">
              <a:effectLst/>
              <a:highlight>
                <a:srgbClr val="F9FAFC"/>
              </a:highlight>
              <a:latin typeface="euclid_circular_a"/>
            </a:endParaRPr>
          </a:p>
          <a:p>
            <a:pPr algn="just"/>
            <a:endParaRPr lang="en-US" dirty="0">
              <a:highlight>
                <a:srgbClr val="F9FAFC"/>
              </a:highlight>
              <a:latin typeface="euclid_circular_a"/>
            </a:endParaRPr>
          </a:p>
          <a:p>
            <a:pPr algn="just"/>
            <a:endParaRPr lang="en-US" dirty="0">
              <a:highlight>
                <a:srgbClr val="F9FAFC"/>
              </a:highlight>
              <a:latin typeface="euclid_circular_a"/>
            </a:endParaRPr>
          </a:p>
          <a:p>
            <a:pPr algn="l"/>
            <a:endParaRPr lang="en-US" b="0" i="0" dirty="0">
              <a:solidFill>
                <a:srgbClr val="0D0D0D"/>
              </a:solidFill>
              <a:effectLst/>
              <a:highlight>
                <a:srgbClr val="FFFFFF"/>
              </a:highlight>
              <a:latin typeface="Time "/>
            </a:endParaRPr>
          </a:p>
        </p:txBody>
      </p:sp>
      <p:pic>
        <p:nvPicPr>
          <p:cNvPr id="8" name="Picture 7">
            <a:extLst>
              <a:ext uri="{FF2B5EF4-FFF2-40B4-BE49-F238E27FC236}">
                <a16:creationId xmlns:a16="http://schemas.microsoft.com/office/drawing/2014/main" id="{668B2D4C-BEF8-0EBB-EBD5-67ABF3D50827}"/>
              </a:ext>
            </a:extLst>
          </p:cNvPr>
          <p:cNvPicPr>
            <a:picLocks noChangeAspect="1"/>
          </p:cNvPicPr>
          <p:nvPr/>
        </p:nvPicPr>
        <p:blipFill>
          <a:blip r:embed="rId3"/>
          <a:stretch>
            <a:fillRect/>
          </a:stretch>
        </p:blipFill>
        <p:spPr>
          <a:xfrm>
            <a:off x="1767662" y="1165106"/>
            <a:ext cx="5715000" cy="1257300"/>
          </a:xfrm>
          <a:prstGeom prst="rect">
            <a:avLst/>
          </a:prstGeom>
        </p:spPr>
      </p:pic>
      <p:sp>
        <p:nvSpPr>
          <p:cNvPr id="10" name="TextBox 9">
            <a:extLst>
              <a:ext uri="{FF2B5EF4-FFF2-40B4-BE49-F238E27FC236}">
                <a16:creationId xmlns:a16="http://schemas.microsoft.com/office/drawing/2014/main" id="{FF392827-0793-00F8-49B2-8D8277045DFB}"/>
              </a:ext>
            </a:extLst>
          </p:cNvPr>
          <p:cNvSpPr txBox="1"/>
          <p:nvPr/>
        </p:nvSpPr>
        <p:spPr>
          <a:xfrm>
            <a:off x="467027" y="2459485"/>
            <a:ext cx="7326637" cy="307777"/>
          </a:xfrm>
          <a:prstGeom prst="rect">
            <a:avLst/>
          </a:prstGeom>
          <a:noFill/>
        </p:spPr>
        <p:txBody>
          <a:bodyPr wrap="square">
            <a:spAutoFit/>
          </a:bodyPr>
          <a:lstStyle/>
          <a:p>
            <a:r>
              <a:rPr lang="en-US" b="0" i="0" dirty="0">
                <a:effectLst/>
                <a:highlight>
                  <a:srgbClr val="F9FAFC"/>
                </a:highlight>
                <a:latin typeface="euclid_circular_a"/>
              </a:rPr>
              <a:t>Create an array of size 10. Each slot of this array is used as a bucket for storing elements.</a:t>
            </a:r>
            <a:endParaRPr lang="en-IN" dirty="0"/>
          </a:p>
        </p:txBody>
      </p:sp>
      <p:pic>
        <p:nvPicPr>
          <p:cNvPr id="12" name="Picture 11">
            <a:extLst>
              <a:ext uri="{FF2B5EF4-FFF2-40B4-BE49-F238E27FC236}">
                <a16:creationId xmlns:a16="http://schemas.microsoft.com/office/drawing/2014/main" id="{A83CEE80-01D2-1FF5-E775-CC0E7991336B}"/>
              </a:ext>
            </a:extLst>
          </p:cNvPr>
          <p:cNvPicPr>
            <a:picLocks noChangeAspect="1"/>
          </p:cNvPicPr>
          <p:nvPr/>
        </p:nvPicPr>
        <p:blipFill>
          <a:blip r:embed="rId4"/>
          <a:stretch>
            <a:fillRect/>
          </a:stretch>
        </p:blipFill>
        <p:spPr>
          <a:xfrm>
            <a:off x="1767662" y="3021144"/>
            <a:ext cx="5915025" cy="1438275"/>
          </a:xfrm>
          <a:prstGeom prst="rect">
            <a:avLst/>
          </a:prstGeom>
        </p:spPr>
      </p:pic>
      <p:sp>
        <p:nvSpPr>
          <p:cNvPr id="5" name="Rectangle 4">
            <a:extLst>
              <a:ext uri="{FF2B5EF4-FFF2-40B4-BE49-F238E27FC236}">
                <a16:creationId xmlns:a16="http://schemas.microsoft.com/office/drawing/2014/main" id="{906E22F6-65C0-EC33-6D86-90A4C22CBBF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490015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Bucket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2246769"/>
          </a:xfrm>
          <a:prstGeom prst="rect">
            <a:avLst/>
          </a:prstGeom>
          <a:noFill/>
        </p:spPr>
        <p:txBody>
          <a:bodyPr wrap="square">
            <a:spAutoFit/>
          </a:bodyPr>
          <a:lstStyle/>
          <a:p>
            <a:pPr algn="just"/>
            <a:r>
              <a:rPr lang="en-US" b="0" i="0" dirty="0">
                <a:effectLst/>
                <a:highlight>
                  <a:srgbClr val="F9FAFC"/>
                </a:highlight>
                <a:latin typeface="euclid_circular_a"/>
              </a:rPr>
              <a:t>Insert elements into the buckets from the array. The elements are inserted according to the range of the bucket.</a:t>
            </a:r>
          </a:p>
          <a:p>
            <a:pPr algn="just"/>
            <a:endParaRPr lang="en-US" dirty="0">
              <a:highlight>
                <a:srgbClr val="F9FAFC"/>
              </a:highlight>
              <a:latin typeface="euclid_circular_a"/>
            </a:endParaRPr>
          </a:p>
          <a:p>
            <a:pPr algn="just"/>
            <a:r>
              <a:rPr lang="en-US" b="0" i="0" dirty="0">
                <a:effectLst/>
                <a:highlight>
                  <a:srgbClr val="F9FAFC"/>
                </a:highlight>
                <a:latin typeface="euclid_circular_a"/>
              </a:rPr>
              <a:t>In our example code, we have buckets each of ranges from 0 to 1, 1 to 2, 2 to 3,...... (n-1) to n.</a:t>
            </a:r>
          </a:p>
          <a:p>
            <a:pPr algn="just"/>
            <a:endParaRPr lang="en-US" altLang="en-US" dirty="0">
              <a:highlight>
                <a:srgbClr val="F9FAFC"/>
              </a:highlight>
              <a:latin typeface="euclid_circular_a"/>
            </a:endParaRPr>
          </a:p>
          <a:p>
            <a:pPr algn="just"/>
            <a:r>
              <a:rPr kumimoji="0" lang="en-US" altLang="en-US" sz="1400" b="0" i="0" u="none" strike="noStrike" cap="none" normalizeH="0" baseline="0" dirty="0">
                <a:ln>
                  <a:noFill/>
                </a:ln>
                <a:solidFill>
                  <a:schemeClr val="tx1"/>
                </a:solidFill>
                <a:effectLst/>
                <a:latin typeface="euclid_circular_a"/>
              </a:rPr>
              <a:t>Suppose, an input element is </a:t>
            </a:r>
            <a:r>
              <a:rPr kumimoji="0" lang="en-US" altLang="en-US" sz="1050" b="0" i="0" u="none" strike="noStrike" cap="none" normalizeH="0" baseline="0" dirty="0">
                <a:ln>
                  <a:noFill/>
                </a:ln>
                <a:solidFill>
                  <a:schemeClr val="tx1"/>
                </a:solidFill>
                <a:effectLst/>
                <a:latin typeface="Droid Sans Mono"/>
              </a:rPr>
              <a:t>.23</a:t>
            </a:r>
            <a:r>
              <a:rPr kumimoji="0" lang="en-US" altLang="en-US" sz="1400" b="0" i="0" u="none" strike="noStrike" cap="none" normalizeH="0" baseline="0" dirty="0">
                <a:ln>
                  <a:noFill/>
                </a:ln>
                <a:solidFill>
                  <a:schemeClr val="tx1"/>
                </a:solidFill>
                <a:effectLst/>
                <a:latin typeface="euclid_circular_a"/>
              </a:rPr>
              <a:t> is taken. It is multiplied by </a:t>
            </a:r>
            <a:r>
              <a:rPr kumimoji="0" lang="en-US" altLang="en-US" sz="1050" b="0" i="0" u="none" strike="noStrike" cap="none" normalizeH="0" baseline="0" dirty="0">
                <a:ln>
                  <a:noFill/>
                </a:ln>
                <a:solidFill>
                  <a:schemeClr val="tx1"/>
                </a:solidFill>
                <a:effectLst/>
                <a:latin typeface="Droid Sans Mono"/>
              </a:rPr>
              <a:t>size = 10</a:t>
            </a:r>
            <a:r>
              <a:rPr kumimoji="0" lang="en-US" altLang="en-US" sz="1400" b="0" i="0" u="none" strike="noStrike" cap="none" normalizeH="0" baseline="0" dirty="0">
                <a:ln>
                  <a:noFill/>
                </a:ln>
                <a:solidFill>
                  <a:schemeClr val="tx1"/>
                </a:solidFill>
                <a:effectLst/>
                <a:latin typeface="euclid_circular_a"/>
              </a:rPr>
              <a:t> (</a:t>
            </a:r>
            <a:r>
              <a:rPr kumimoji="0" lang="en-US" altLang="en-US" sz="1400" b="0" i="0" u="none" strike="noStrike" cap="none" normalizeH="0" baseline="0" dirty="0" err="1">
                <a:ln>
                  <a:noFill/>
                </a:ln>
                <a:solidFill>
                  <a:schemeClr val="tx1"/>
                </a:solidFill>
                <a:effectLst/>
                <a:latin typeface="euclid_circular_a"/>
              </a:rPr>
              <a:t>ie</a:t>
            </a:r>
            <a:r>
              <a:rPr kumimoji="0" lang="en-US" altLang="en-US" sz="1400" b="0" i="0" u="none" strike="noStrike" cap="none" normalizeH="0" baseline="0" dirty="0">
                <a:ln>
                  <a:noFill/>
                </a:ln>
                <a:solidFill>
                  <a:schemeClr val="tx1"/>
                </a:solidFill>
                <a:effectLst/>
                <a:latin typeface="euclid_circular_a"/>
              </a:rPr>
              <a:t>. </a:t>
            </a:r>
            <a:r>
              <a:rPr kumimoji="0" lang="en-US" altLang="en-US" sz="1050" b="0" i="0" u="none" strike="noStrike" cap="none" normalizeH="0" baseline="0" dirty="0">
                <a:ln>
                  <a:noFill/>
                </a:ln>
                <a:solidFill>
                  <a:schemeClr val="tx1"/>
                </a:solidFill>
                <a:effectLst/>
                <a:latin typeface="Droid Sans Mono"/>
              </a:rPr>
              <a:t>.23*10=2.3</a:t>
            </a:r>
            <a:r>
              <a:rPr kumimoji="0" lang="en-US" altLang="en-US" sz="1400" b="0" i="0" u="none" strike="noStrike" cap="none" normalizeH="0" baseline="0" dirty="0">
                <a:ln>
                  <a:noFill/>
                </a:ln>
                <a:solidFill>
                  <a:schemeClr val="tx1"/>
                </a:solidFill>
                <a:effectLst/>
                <a:latin typeface="euclid_circular_a"/>
              </a:rPr>
              <a:t>). Then, it is converted into an integer (</a:t>
            </a:r>
            <a:r>
              <a:rPr kumimoji="0" lang="en-US" altLang="en-US" sz="1400" b="0" i="0" u="none" strike="noStrike" cap="none" normalizeH="0" baseline="0" dirty="0" err="1">
                <a:ln>
                  <a:noFill/>
                </a:ln>
                <a:solidFill>
                  <a:schemeClr val="tx1"/>
                </a:solidFill>
                <a:effectLst/>
                <a:latin typeface="euclid_circular_a"/>
              </a:rPr>
              <a:t>ie</a:t>
            </a:r>
            <a:r>
              <a:rPr kumimoji="0" lang="en-US" altLang="en-US" sz="1400" b="0" i="0" u="none" strike="noStrike" cap="none" normalizeH="0" baseline="0" dirty="0">
                <a:ln>
                  <a:noFill/>
                </a:ln>
                <a:solidFill>
                  <a:schemeClr val="tx1"/>
                </a:solidFill>
                <a:effectLst/>
                <a:latin typeface="euclid_circular_a"/>
              </a:rPr>
              <a:t>. </a:t>
            </a:r>
            <a:r>
              <a:rPr kumimoji="0" lang="en-US" altLang="en-US" sz="1050" b="0" i="0" u="none" strike="noStrike" cap="none" normalizeH="0" baseline="0" dirty="0">
                <a:ln>
                  <a:noFill/>
                </a:ln>
                <a:solidFill>
                  <a:schemeClr val="tx1"/>
                </a:solidFill>
                <a:effectLst/>
                <a:latin typeface="Droid Sans Mono"/>
              </a:rPr>
              <a:t>2.3≈2</a:t>
            </a:r>
            <a:r>
              <a:rPr kumimoji="0" lang="en-US" altLang="en-US" sz="1400" b="0" i="0" u="none" strike="noStrike" cap="none" normalizeH="0" baseline="0" dirty="0">
                <a:ln>
                  <a:noFill/>
                </a:ln>
                <a:solidFill>
                  <a:schemeClr val="tx1"/>
                </a:solidFill>
                <a:effectLst/>
                <a:latin typeface="euclid_circular_a"/>
              </a:rPr>
              <a:t>). Finally, .23 is inserted into </a:t>
            </a:r>
            <a:r>
              <a:rPr kumimoji="0" lang="en-US" altLang="en-US" sz="1400" b="1" i="0" u="none" strike="noStrike" cap="none" normalizeH="0" baseline="0" dirty="0">
                <a:ln>
                  <a:noFill/>
                </a:ln>
                <a:solidFill>
                  <a:schemeClr val="tx1"/>
                </a:solidFill>
                <a:effectLst/>
                <a:latin typeface="euclid_circular_a"/>
              </a:rPr>
              <a:t>bucket-2</a:t>
            </a:r>
            <a:r>
              <a:rPr kumimoji="0" lang="en-US" altLang="en-US" sz="9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algn="just"/>
            <a:endParaRPr lang="en-US" b="0" i="0" dirty="0">
              <a:effectLst/>
              <a:highlight>
                <a:srgbClr val="F9FAFC"/>
              </a:highlight>
              <a:latin typeface="euclid_circular_a"/>
            </a:endParaRPr>
          </a:p>
          <a:p>
            <a:pPr algn="just"/>
            <a:endParaRPr lang="en-US" dirty="0">
              <a:highlight>
                <a:srgbClr val="F9FAFC"/>
              </a:highlight>
              <a:latin typeface="euclid_circular_a"/>
            </a:endParaRPr>
          </a:p>
          <a:p>
            <a:pPr algn="just"/>
            <a:endParaRPr lang="en-US" dirty="0">
              <a:highlight>
                <a:srgbClr val="F9FAFC"/>
              </a:highlight>
              <a:latin typeface="euclid_circular_a"/>
            </a:endParaRPr>
          </a:p>
          <a:p>
            <a:pPr algn="l"/>
            <a:endParaRPr lang="en-US" b="0" i="0" dirty="0">
              <a:solidFill>
                <a:srgbClr val="0D0D0D"/>
              </a:solidFill>
              <a:effectLst/>
              <a:highlight>
                <a:srgbClr val="FFFFFF"/>
              </a:highlight>
              <a:latin typeface="Time "/>
            </a:endParaRPr>
          </a:p>
        </p:txBody>
      </p:sp>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15271368-287F-216F-4DB4-93B60336D12C}"/>
              </a:ext>
            </a:extLst>
          </p:cNvPr>
          <p:cNvPicPr>
            <a:picLocks noChangeAspect="1"/>
          </p:cNvPicPr>
          <p:nvPr/>
        </p:nvPicPr>
        <p:blipFill>
          <a:blip r:embed="rId3"/>
          <a:stretch>
            <a:fillRect/>
          </a:stretch>
        </p:blipFill>
        <p:spPr>
          <a:xfrm>
            <a:off x="1806206" y="2269180"/>
            <a:ext cx="5829300" cy="2171700"/>
          </a:xfrm>
          <a:prstGeom prst="rect">
            <a:avLst/>
          </a:prstGeom>
        </p:spPr>
      </p:pic>
      <p:sp>
        <p:nvSpPr>
          <p:cNvPr id="5" name="Rectangle 4">
            <a:extLst>
              <a:ext uri="{FF2B5EF4-FFF2-40B4-BE49-F238E27FC236}">
                <a16:creationId xmlns:a16="http://schemas.microsoft.com/office/drawing/2014/main" id="{C21F6D41-63F4-8451-EA99-DB8D957F5F2C}"/>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1810467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Bucket Sort</a:t>
            </a:r>
          </a:p>
          <a:p>
            <a:br>
              <a:rPr lang="en-IN" sz="1200" b="0" i="0" dirty="0">
                <a:effectLst/>
                <a:highlight>
                  <a:srgbClr val="F9FAFC"/>
                </a:highlight>
                <a:latin typeface="euclid_circular_a"/>
              </a:rPr>
            </a:br>
            <a:r>
              <a:rPr lang="en-US" sz="1500" b="1" dirty="0">
                <a:latin typeface="Time "/>
              </a:rPr>
              <a:t> </a:t>
            </a:r>
          </a:p>
          <a:p>
            <a:r>
              <a:rPr lang="en-US" sz="1200" b="0" i="0" dirty="0">
                <a:effectLst/>
                <a:highlight>
                  <a:srgbClr val="F9FAFC"/>
                </a:highlight>
                <a:latin typeface="euclid_circular_a"/>
              </a:rPr>
              <a:t>Similarly, .25 is also inserted into the same bucket. Every time, the floor value of the floating point number is taken</a:t>
            </a:r>
            <a:r>
              <a:rPr lang="en-US" sz="1200" dirty="0">
                <a:highlight>
                  <a:srgbClr val="F9FAFC"/>
                </a:highlight>
                <a:latin typeface="euclid_circular_a"/>
              </a:rPr>
              <a:t>. </a:t>
            </a:r>
            <a:r>
              <a:rPr lang="en-US" sz="1200" b="1" i="0" dirty="0">
                <a:effectLst/>
                <a:highlight>
                  <a:srgbClr val="F9FAFC"/>
                </a:highlight>
                <a:latin typeface="euclid_circular_a"/>
              </a:rPr>
              <a:t>If we take integer numbers as input, we have to divide it by the interval (10 here) to get the floor value. </a:t>
            </a:r>
            <a:r>
              <a:rPr lang="en-US" sz="1200" b="0" i="0" dirty="0">
                <a:effectLst/>
                <a:highlight>
                  <a:srgbClr val="F9FAFC"/>
                </a:highlight>
                <a:latin typeface="euclid_circular_a"/>
              </a:rPr>
              <a:t>Similarly, other elements are inserted into their respective buckets.</a:t>
            </a: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069663A1-5820-791C-8F63-05EE7E1CAA37}"/>
              </a:ext>
            </a:extLst>
          </p:cNvPr>
          <p:cNvPicPr>
            <a:picLocks noChangeAspect="1"/>
          </p:cNvPicPr>
          <p:nvPr/>
        </p:nvPicPr>
        <p:blipFill>
          <a:blip r:embed="rId3"/>
          <a:stretch>
            <a:fillRect/>
          </a:stretch>
        </p:blipFill>
        <p:spPr>
          <a:xfrm>
            <a:off x="1700212" y="1866900"/>
            <a:ext cx="5743575" cy="1409700"/>
          </a:xfrm>
          <a:prstGeom prst="rect">
            <a:avLst/>
          </a:prstGeom>
        </p:spPr>
      </p:pic>
      <p:sp>
        <p:nvSpPr>
          <p:cNvPr id="5" name="Rectangle 4">
            <a:extLst>
              <a:ext uri="{FF2B5EF4-FFF2-40B4-BE49-F238E27FC236}">
                <a16:creationId xmlns:a16="http://schemas.microsoft.com/office/drawing/2014/main" id="{DB49ACBA-2B7A-3DCE-D23D-94081893C2E3}"/>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17546884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Bucket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738664"/>
          </a:xfrm>
          <a:prstGeom prst="rect">
            <a:avLst/>
          </a:prstGeom>
          <a:noFill/>
        </p:spPr>
        <p:txBody>
          <a:bodyPr wrap="square">
            <a:spAutoFit/>
          </a:bodyPr>
          <a:lstStyle/>
          <a:p>
            <a:pPr algn="l"/>
            <a:r>
              <a:rPr lang="en-US" b="0" i="0" dirty="0">
                <a:effectLst/>
                <a:highlight>
                  <a:srgbClr val="F9FAFC"/>
                </a:highlight>
                <a:latin typeface="euclid_circular_a"/>
              </a:rPr>
              <a:t>The elements of each bucket are sorted using any of the stable sorting algorithms. Here, we have used quicksort (inbuilt function).</a:t>
            </a:r>
            <a:br>
              <a:rPr lang="en-US" dirty="0"/>
            </a:br>
            <a:endParaRPr lang="en-US" b="0" i="0" dirty="0">
              <a:solidFill>
                <a:srgbClr val="0D0D0D"/>
              </a:solidFill>
              <a:effectLst/>
              <a:highlight>
                <a:srgbClr val="FFFFFF"/>
              </a:highlight>
              <a:latin typeface="Time "/>
            </a:endParaRPr>
          </a:p>
        </p:txBody>
      </p:sp>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2CC8A9F3-7934-51C3-CB6B-7E4E90C759AB}"/>
              </a:ext>
            </a:extLst>
          </p:cNvPr>
          <p:cNvPicPr>
            <a:picLocks noChangeAspect="1"/>
          </p:cNvPicPr>
          <p:nvPr/>
        </p:nvPicPr>
        <p:blipFill>
          <a:blip r:embed="rId3"/>
          <a:stretch>
            <a:fillRect/>
          </a:stretch>
        </p:blipFill>
        <p:spPr>
          <a:xfrm>
            <a:off x="1739087" y="1272381"/>
            <a:ext cx="5772150" cy="1438275"/>
          </a:xfrm>
          <a:prstGeom prst="rect">
            <a:avLst/>
          </a:prstGeom>
        </p:spPr>
      </p:pic>
      <p:sp>
        <p:nvSpPr>
          <p:cNvPr id="9" name="TextBox 8">
            <a:extLst>
              <a:ext uri="{FF2B5EF4-FFF2-40B4-BE49-F238E27FC236}">
                <a16:creationId xmlns:a16="http://schemas.microsoft.com/office/drawing/2014/main" id="{AF6569F3-8256-867B-D8EB-704489AC00A5}"/>
              </a:ext>
            </a:extLst>
          </p:cNvPr>
          <p:cNvSpPr txBox="1"/>
          <p:nvPr/>
        </p:nvSpPr>
        <p:spPr>
          <a:xfrm>
            <a:off x="491108" y="2850900"/>
            <a:ext cx="8057066" cy="738664"/>
          </a:xfrm>
          <a:prstGeom prst="rect">
            <a:avLst/>
          </a:prstGeom>
          <a:noFill/>
        </p:spPr>
        <p:txBody>
          <a:bodyPr wrap="square">
            <a:spAutoFit/>
          </a:bodyPr>
          <a:lstStyle/>
          <a:p>
            <a:r>
              <a:rPr lang="en-US" b="0" i="0" dirty="0">
                <a:effectLst/>
                <a:highlight>
                  <a:srgbClr val="F9FAFC"/>
                </a:highlight>
                <a:latin typeface="euclid_circular_a"/>
              </a:rPr>
              <a:t>The elements from each bucket are gathered. It is done by iterating through the bucket and inserting an individual element into the original array in each cycle. The element from the bucket is erased once it is copied into the original array.</a:t>
            </a:r>
            <a:endParaRPr lang="en-IN" dirty="0"/>
          </a:p>
        </p:txBody>
      </p:sp>
      <p:pic>
        <p:nvPicPr>
          <p:cNvPr id="12" name="Picture 11">
            <a:extLst>
              <a:ext uri="{FF2B5EF4-FFF2-40B4-BE49-F238E27FC236}">
                <a16:creationId xmlns:a16="http://schemas.microsoft.com/office/drawing/2014/main" id="{0AFAF9D5-EA39-E992-728B-F97458894A93}"/>
              </a:ext>
            </a:extLst>
          </p:cNvPr>
          <p:cNvPicPr>
            <a:picLocks noChangeAspect="1"/>
          </p:cNvPicPr>
          <p:nvPr/>
        </p:nvPicPr>
        <p:blipFill>
          <a:blip r:embed="rId4"/>
          <a:stretch>
            <a:fillRect/>
          </a:stretch>
        </p:blipFill>
        <p:spPr>
          <a:xfrm>
            <a:off x="1870333" y="3589563"/>
            <a:ext cx="5743575" cy="1292891"/>
          </a:xfrm>
          <a:prstGeom prst="rect">
            <a:avLst/>
          </a:prstGeom>
        </p:spPr>
      </p:pic>
      <p:sp>
        <p:nvSpPr>
          <p:cNvPr id="5" name="Rectangle 4">
            <a:extLst>
              <a:ext uri="{FF2B5EF4-FFF2-40B4-BE49-F238E27FC236}">
                <a16:creationId xmlns:a16="http://schemas.microsoft.com/office/drawing/2014/main" id="{C3DC1A3D-BD36-B2F9-09E2-14117A195BB4}"/>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42972908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Algorithms of Bucket Sort </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2193EA28-66E2-8741-C348-2F2298F43A22}"/>
              </a:ext>
            </a:extLst>
          </p:cNvPr>
          <p:cNvPicPr>
            <a:picLocks noChangeAspect="1"/>
          </p:cNvPicPr>
          <p:nvPr/>
        </p:nvPicPr>
        <p:blipFill>
          <a:blip r:embed="rId3"/>
          <a:stretch>
            <a:fillRect/>
          </a:stretch>
        </p:blipFill>
        <p:spPr>
          <a:xfrm>
            <a:off x="1600200" y="552450"/>
            <a:ext cx="5943600" cy="2019300"/>
          </a:xfrm>
          <a:prstGeom prst="rect">
            <a:avLst/>
          </a:prstGeom>
        </p:spPr>
      </p:pic>
      <p:pic>
        <p:nvPicPr>
          <p:cNvPr id="13" name="Picture 12">
            <a:extLst>
              <a:ext uri="{FF2B5EF4-FFF2-40B4-BE49-F238E27FC236}">
                <a16:creationId xmlns:a16="http://schemas.microsoft.com/office/drawing/2014/main" id="{F26609EE-8C61-0DAC-F0F4-6B67E58C3CAB}"/>
              </a:ext>
            </a:extLst>
          </p:cNvPr>
          <p:cNvPicPr>
            <a:picLocks noChangeAspect="1"/>
          </p:cNvPicPr>
          <p:nvPr/>
        </p:nvPicPr>
        <p:blipFill>
          <a:blip r:embed="rId4"/>
          <a:stretch>
            <a:fillRect/>
          </a:stretch>
        </p:blipFill>
        <p:spPr>
          <a:xfrm>
            <a:off x="1860698" y="2571750"/>
            <a:ext cx="5062648" cy="2019301"/>
          </a:xfrm>
          <a:prstGeom prst="rect">
            <a:avLst/>
          </a:prstGeom>
        </p:spPr>
      </p:pic>
      <p:sp>
        <p:nvSpPr>
          <p:cNvPr id="5" name="Rectangle 4">
            <a:extLst>
              <a:ext uri="{FF2B5EF4-FFF2-40B4-BE49-F238E27FC236}">
                <a16:creationId xmlns:a16="http://schemas.microsoft.com/office/drawing/2014/main" id="{571DC4A0-A31F-ACDA-517D-17E4E241B44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29845763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US" sz="1500" b="1" dirty="0">
                <a:latin typeface="Time "/>
              </a:rPr>
              <a:t>Quick Sort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2031325"/>
          </a:xfrm>
          <a:prstGeom prst="rect">
            <a:avLst/>
          </a:prstGeom>
          <a:noFill/>
        </p:spPr>
        <p:txBody>
          <a:bodyPr wrap="square">
            <a:spAutoFit/>
          </a:bodyPr>
          <a:lstStyle/>
          <a:p>
            <a:pPr algn="just"/>
            <a:r>
              <a:rPr lang="en-US" dirty="0">
                <a:latin typeface="Time "/>
              </a:rPr>
              <a:t>Quicksort is </a:t>
            </a:r>
            <a:r>
              <a:rPr lang="en-US" dirty="0">
                <a:latin typeface="Time "/>
                <a:hlinkClick r:id="rId3">
                  <a:extLst>
                    <a:ext uri="{A12FA001-AC4F-418D-AE19-62706E023703}">
                      <ahyp:hlinkClr xmlns:ahyp="http://schemas.microsoft.com/office/drawing/2018/hyperlinkcolor" val="tx"/>
                    </a:ext>
                  </a:extLst>
                </a:hlinkClick>
              </a:rPr>
              <a:t>a sorting algorithm</a:t>
            </a:r>
            <a:r>
              <a:rPr lang="en-US" dirty="0">
                <a:latin typeface="Time "/>
              </a:rPr>
              <a:t> based on the divide and conquer approach where</a:t>
            </a:r>
          </a:p>
          <a:p>
            <a:pPr algn="just"/>
            <a:endParaRPr lang="en-US" dirty="0">
              <a:latin typeface="Time "/>
            </a:endParaRPr>
          </a:p>
          <a:p>
            <a:pPr algn="just"/>
            <a:r>
              <a:rPr lang="en-US" dirty="0">
                <a:latin typeface="Time "/>
              </a:rPr>
              <a:t>1. An array is divided into subarrays by selecting a pivot element (element selected from the array). While dividing the array, the pivot element should be positioned in such a way that elements less than pivot are kept on the left side and elements greater than pivot are on the right side of the pivot.</a:t>
            </a:r>
          </a:p>
          <a:p>
            <a:pPr algn="just"/>
            <a:r>
              <a:rPr lang="en-US" dirty="0">
                <a:latin typeface="Time "/>
              </a:rPr>
              <a:t>2. The left and right subarrays are also divided using the same approach. This process continues until each subarray contains a single element.</a:t>
            </a:r>
          </a:p>
          <a:p>
            <a:pPr algn="just"/>
            <a:r>
              <a:rPr lang="en-US" dirty="0">
                <a:latin typeface="Time "/>
              </a:rPr>
              <a:t>3. At this point, elements are already sorted. Finally, elements are combined to form a sorted array.</a:t>
            </a:r>
          </a:p>
          <a:p>
            <a:endParaRPr lang="en-US" b="0" i="0" dirty="0">
              <a:solidFill>
                <a:srgbClr val="0D0D0D"/>
              </a:solidFill>
              <a:effectLst/>
              <a:highlight>
                <a:srgbClr val="FFFFFF"/>
              </a:highlight>
              <a:latin typeface="Time "/>
            </a:endParaRPr>
          </a:p>
        </p:txBody>
      </p:sp>
      <p:sp>
        <p:nvSpPr>
          <p:cNvPr id="8" name="TextBox 7">
            <a:extLst>
              <a:ext uri="{FF2B5EF4-FFF2-40B4-BE49-F238E27FC236}">
                <a16:creationId xmlns:a16="http://schemas.microsoft.com/office/drawing/2014/main" id="{EB9227B5-1B86-47AF-20C2-982E6CA5E0CA}"/>
              </a:ext>
            </a:extLst>
          </p:cNvPr>
          <p:cNvSpPr txBox="1"/>
          <p:nvPr/>
        </p:nvSpPr>
        <p:spPr>
          <a:xfrm>
            <a:off x="467028" y="2794211"/>
            <a:ext cx="7123814" cy="1169551"/>
          </a:xfrm>
          <a:prstGeom prst="rect">
            <a:avLst/>
          </a:prstGeom>
          <a:noFill/>
        </p:spPr>
        <p:txBody>
          <a:bodyPr wrap="square">
            <a:spAutoFit/>
          </a:bodyPr>
          <a:lstStyle/>
          <a:p>
            <a:pPr algn="just"/>
            <a:r>
              <a:rPr lang="en-US" sz="1400" b="1" dirty="0">
                <a:latin typeface="Time "/>
              </a:rPr>
              <a:t>Pick the middle as the pivot.</a:t>
            </a:r>
          </a:p>
          <a:p>
            <a:pPr marL="342900" indent="-342900" algn="just">
              <a:buFont typeface="+mj-lt"/>
              <a:buAutoNum type="arabicPeriod"/>
            </a:pPr>
            <a:r>
              <a:rPr lang="en-US" sz="1400" dirty="0">
                <a:latin typeface="Time "/>
              </a:rPr>
              <a:t>Always pick the last element as a pivot.</a:t>
            </a:r>
          </a:p>
          <a:p>
            <a:pPr marL="342900" indent="-342900" algn="just">
              <a:buFont typeface="+mj-lt"/>
              <a:buAutoNum type="arabicPeriod"/>
            </a:pPr>
            <a:r>
              <a:rPr lang="en-US" sz="1400" b="1" dirty="0">
                <a:latin typeface="Time "/>
              </a:rPr>
              <a:t>There are many different choices for picking pivots.</a:t>
            </a:r>
          </a:p>
          <a:p>
            <a:pPr marL="342900" indent="-342900" algn="just">
              <a:buFont typeface="+mj-lt"/>
              <a:buAutoNum type="arabicPeriod"/>
            </a:pPr>
            <a:r>
              <a:rPr lang="en-US" sz="1400" dirty="0">
                <a:latin typeface="Time "/>
              </a:rPr>
              <a:t>Always pick the first element as a pivot.</a:t>
            </a:r>
          </a:p>
          <a:p>
            <a:pPr marL="342900" indent="-342900" algn="just">
              <a:buFont typeface="+mj-lt"/>
              <a:buAutoNum type="arabicPeriod"/>
            </a:pPr>
            <a:r>
              <a:rPr lang="en-US" sz="1400" dirty="0">
                <a:latin typeface="Time "/>
              </a:rPr>
              <a:t>Pick a random element as a pivot.</a:t>
            </a:r>
          </a:p>
        </p:txBody>
      </p:sp>
      <p:sp>
        <p:nvSpPr>
          <p:cNvPr id="5" name="Rectangle 4">
            <a:extLst>
              <a:ext uri="{FF2B5EF4-FFF2-40B4-BE49-F238E27FC236}">
                <a16:creationId xmlns:a16="http://schemas.microsoft.com/office/drawing/2014/main" id="{DF47B4C6-CDF9-8587-B877-18CE393C8F6F}"/>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310285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Quick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954107"/>
          </a:xfrm>
          <a:prstGeom prst="rect">
            <a:avLst/>
          </a:prstGeom>
          <a:noFill/>
        </p:spPr>
        <p:txBody>
          <a:bodyPr wrap="square">
            <a:spAutoFit/>
          </a:bodyPr>
          <a:lstStyle/>
          <a:p>
            <a:pPr algn="l"/>
            <a:r>
              <a:rPr lang="en-US" b="1" i="0" dirty="0">
                <a:effectLst/>
                <a:highlight>
                  <a:srgbClr val="F9FAFC"/>
                </a:highlight>
                <a:latin typeface="euclid_circular_a"/>
              </a:rPr>
              <a:t>1. Select the Pivot Element</a:t>
            </a:r>
            <a:endParaRPr lang="en-US" b="0" i="0" dirty="0">
              <a:effectLst/>
              <a:highlight>
                <a:srgbClr val="F9FAFC"/>
              </a:highlight>
              <a:latin typeface="euclid_circular_a"/>
            </a:endParaRPr>
          </a:p>
          <a:p>
            <a:pPr algn="l"/>
            <a:r>
              <a:rPr lang="en-US" b="0" i="0" dirty="0">
                <a:effectLst/>
                <a:highlight>
                  <a:srgbClr val="F9FAFC"/>
                </a:highlight>
                <a:latin typeface="euclid_circular_a"/>
              </a:rPr>
              <a:t>There are different variations of quicksort where the pivot element is selected from different positions. Here, we will be selecting the rightmost element of the array as the pivot element.</a:t>
            </a:r>
          </a:p>
          <a:p>
            <a:pPr algn="l"/>
            <a:endParaRPr lang="en-US" b="0" i="0" dirty="0">
              <a:solidFill>
                <a:srgbClr val="0D0D0D"/>
              </a:solidFill>
              <a:effectLst/>
              <a:highlight>
                <a:srgbClr val="FFFFFF"/>
              </a:highlight>
              <a:latin typeface="Time "/>
            </a:endParaRPr>
          </a:p>
        </p:txBody>
      </p:sp>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CFD6BC86-7441-C43B-B9BD-B2E55B3292AF}"/>
              </a:ext>
            </a:extLst>
          </p:cNvPr>
          <p:cNvPicPr>
            <a:picLocks noChangeAspect="1"/>
          </p:cNvPicPr>
          <p:nvPr/>
        </p:nvPicPr>
        <p:blipFill>
          <a:blip r:embed="rId3"/>
          <a:stretch>
            <a:fillRect/>
          </a:stretch>
        </p:blipFill>
        <p:spPr>
          <a:xfrm>
            <a:off x="1562100" y="1540212"/>
            <a:ext cx="6019800" cy="1333500"/>
          </a:xfrm>
          <a:prstGeom prst="rect">
            <a:avLst/>
          </a:prstGeom>
        </p:spPr>
      </p:pic>
      <p:sp>
        <p:nvSpPr>
          <p:cNvPr id="9" name="TextBox 8">
            <a:extLst>
              <a:ext uri="{FF2B5EF4-FFF2-40B4-BE49-F238E27FC236}">
                <a16:creationId xmlns:a16="http://schemas.microsoft.com/office/drawing/2014/main" id="{D3895AD7-9251-258E-BF93-8FD7A46D43AC}"/>
              </a:ext>
            </a:extLst>
          </p:cNvPr>
          <p:cNvSpPr txBox="1"/>
          <p:nvPr/>
        </p:nvSpPr>
        <p:spPr>
          <a:xfrm>
            <a:off x="372139" y="2771159"/>
            <a:ext cx="4572000" cy="307777"/>
          </a:xfrm>
          <a:prstGeom prst="rect">
            <a:avLst/>
          </a:prstGeom>
          <a:noFill/>
        </p:spPr>
        <p:txBody>
          <a:bodyPr wrap="square">
            <a:spAutoFit/>
          </a:bodyPr>
          <a:lstStyle/>
          <a:p>
            <a:r>
              <a:rPr lang="en-IN" b="1" i="0" dirty="0">
                <a:effectLst/>
                <a:highlight>
                  <a:srgbClr val="F9FAFC"/>
                </a:highlight>
                <a:latin typeface="euclid_circular_a"/>
              </a:rPr>
              <a:t>Rearrange the Array</a:t>
            </a:r>
            <a:endParaRPr lang="en-IN" dirty="0"/>
          </a:p>
        </p:txBody>
      </p:sp>
      <p:sp>
        <p:nvSpPr>
          <p:cNvPr id="12" name="TextBox 11">
            <a:extLst>
              <a:ext uri="{FF2B5EF4-FFF2-40B4-BE49-F238E27FC236}">
                <a16:creationId xmlns:a16="http://schemas.microsoft.com/office/drawing/2014/main" id="{E23CA12B-DEF2-A6D2-641C-FF9B604CECDA}"/>
              </a:ext>
            </a:extLst>
          </p:cNvPr>
          <p:cNvSpPr txBox="1"/>
          <p:nvPr/>
        </p:nvSpPr>
        <p:spPr>
          <a:xfrm>
            <a:off x="372139" y="3043457"/>
            <a:ext cx="8409550" cy="523220"/>
          </a:xfrm>
          <a:prstGeom prst="rect">
            <a:avLst/>
          </a:prstGeom>
          <a:noFill/>
        </p:spPr>
        <p:txBody>
          <a:bodyPr wrap="square">
            <a:spAutoFit/>
          </a:bodyPr>
          <a:lstStyle/>
          <a:p>
            <a:r>
              <a:rPr lang="en-US" b="0" i="0" dirty="0">
                <a:effectLst/>
                <a:highlight>
                  <a:srgbClr val="F9FAFC"/>
                </a:highlight>
                <a:latin typeface="euclid_circular_a"/>
              </a:rPr>
              <a:t>Now the elements of the array are rearranged so that elements that are smaller than the pivot are put on the left and the elements greater than the pivot are put on the right.</a:t>
            </a:r>
            <a:endParaRPr lang="en-IN" dirty="0"/>
          </a:p>
        </p:txBody>
      </p:sp>
      <p:pic>
        <p:nvPicPr>
          <p:cNvPr id="15" name="Picture 14">
            <a:extLst>
              <a:ext uri="{FF2B5EF4-FFF2-40B4-BE49-F238E27FC236}">
                <a16:creationId xmlns:a16="http://schemas.microsoft.com/office/drawing/2014/main" id="{8D8A7510-2734-F700-183E-06711DCD52C8}"/>
              </a:ext>
            </a:extLst>
          </p:cNvPr>
          <p:cNvPicPr>
            <a:picLocks noChangeAspect="1"/>
          </p:cNvPicPr>
          <p:nvPr/>
        </p:nvPicPr>
        <p:blipFill>
          <a:blip r:embed="rId4"/>
          <a:stretch>
            <a:fillRect/>
          </a:stretch>
        </p:blipFill>
        <p:spPr>
          <a:xfrm>
            <a:off x="1742078" y="3692991"/>
            <a:ext cx="5915025" cy="1200150"/>
          </a:xfrm>
          <a:prstGeom prst="rect">
            <a:avLst/>
          </a:prstGeom>
        </p:spPr>
      </p:pic>
      <p:sp>
        <p:nvSpPr>
          <p:cNvPr id="5" name="Rectangle 4">
            <a:extLst>
              <a:ext uri="{FF2B5EF4-FFF2-40B4-BE49-F238E27FC236}">
                <a16:creationId xmlns:a16="http://schemas.microsoft.com/office/drawing/2014/main" id="{EA11054C-C8EE-B31B-30A1-3ABB0896B1D0}"/>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99143572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Quick Sort</a:t>
            </a:r>
          </a:p>
          <a:p>
            <a:pPr algn="l"/>
            <a:br>
              <a:rPr lang="en-IN" sz="1200" b="1" i="0" dirty="0">
                <a:effectLst/>
                <a:highlight>
                  <a:srgbClr val="F9FAFC"/>
                </a:highlight>
                <a:latin typeface="euclid_circular_a"/>
              </a:rPr>
            </a:br>
            <a:r>
              <a:rPr lang="en-US" sz="1500" b="1" dirty="0">
                <a:latin typeface="Time "/>
              </a:rPr>
              <a:t> </a:t>
            </a:r>
            <a:r>
              <a:rPr lang="en-US" sz="1200" b="0" i="0" dirty="0">
                <a:effectLst/>
                <a:highlight>
                  <a:srgbClr val="F9FAFC"/>
                </a:highlight>
                <a:latin typeface="euclid_circular_a"/>
              </a:rPr>
              <a:t>Now, pivot is compared with other elements. If an element smaller than the pivot element is reached, the smaller element is swapped with the greater element found earlier.</a:t>
            </a:r>
            <a:endParaRPr lang="en-US" sz="1500" b="1"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8" name="Picture 17">
            <a:extLst>
              <a:ext uri="{FF2B5EF4-FFF2-40B4-BE49-F238E27FC236}">
                <a16:creationId xmlns:a16="http://schemas.microsoft.com/office/drawing/2014/main" id="{7B8F1660-24A6-7B16-AC33-C6BF97303904}"/>
              </a:ext>
            </a:extLst>
          </p:cNvPr>
          <p:cNvPicPr>
            <a:picLocks noChangeAspect="1"/>
          </p:cNvPicPr>
          <p:nvPr/>
        </p:nvPicPr>
        <p:blipFill>
          <a:blip r:embed="rId3"/>
          <a:stretch>
            <a:fillRect/>
          </a:stretch>
        </p:blipFill>
        <p:spPr>
          <a:xfrm>
            <a:off x="1719704" y="1417388"/>
            <a:ext cx="5867400" cy="2867025"/>
          </a:xfrm>
          <a:prstGeom prst="rect">
            <a:avLst/>
          </a:prstGeom>
        </p:spPr>
      </p:pic>
      <p:sp>
        <p:nvSpPr>
          <p:cNvPr id="5" name="Rectangle 4">
            <a:extLst>
              <a:ext uri="{FF2B5EF4-FFF2-40B4-BE49-F238E27FC236}">
                <a16:creationId xmlns:a16="http://schemas.microsoft.com/office/drawing/2014/main" id="{88BBB66C-3A09-A5A9-DF6A-382B9EC4F9F2}"/>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9611203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Quick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523220"/>
          </a:xfrm>
          <a:prstGeom prst="rect">
            <a:avLst/>
          </a:prstGeom>
          <a:noFill/>
        </p:spPr>
        <p:txBody>
          <a:bodyPr wrap="square">
            <a:spAutoFit/>
          </a:bodyPr>
          <a:lstStyle/>
          <a:p>
            <a:pPr algn="l"/>
            <a:r>
              <a:rPr lang="en-US" b="0" i="0" dirty="0">
                <a:effectLst/>
                <a:highlight>
                  <a:srgbClr val="F9FAFC"/>
                </a:highlight>
                <a:latin typeface="euclid_circular_a"/>
              </a:rPr>
              <a:t>Again, the process is repeated to set the next greater element as the second pointer. And, swap it with another smaller element.</a:t>
            </a:r>
            <a:endParaRPr lang="en-US" b="0" i="0" dirty="0">
              <a:solidFill>
                <a:srgbClr val="0D0D0D"/>
              </a:solidFill>
              <a:effectLst/>
              <a:highlight>
                <a:srgbClr val="FFFFFF"/>
              </a:highlight>
              <a:latin typeface="Time "/>
            </a:endParaRPr>
          </a:p>
        </p:txBody>
      </p:sp>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E0099FAD-3377-50ED-1628-C091B679960F}"/>
              </a:ext>
            </a:extLst>
          </p:cNvPr>
          <p:cNvPicPr>
            <a:picLocks noChangeAspect="1"/>
          </p:cNvPicPr>
          <p:nvPr/>
        </p:nvPicPr>
        <p:blipFill>
          <a:blip r:embed="rId3"/>
          <a:stretch>
            <a:fillRect/>
          </a:stretch>
        </p:blipFill>
        <p:spPr>
          <a:xfrm>
            <a:off x="1624012" y="1287161"/>
            <a:ext cx="5895975" cy="1380044"/>
          </a:xfrm>
          <a:prstGeom prst="rect">
            <a:avLst/>
          </a:prstGeom>
        </p:spPr>
      </p:pic>
      <p:sp>
        <p:nvSpPr>
          <p:cNvPr id="13" name="TextBox 12">
            <a:extLst>
              <a:ext uri="{FF2B5EF4-FFF2-40B4-BE49-F238E27FC236}">
                <a16:creationId xmlns:a16="http://schemas.microsoft.com/office/drawing/2014/main" id="{D6318BB8-59AC-1B0D-3D13-A8BF1FB2C164}"/>
              </a:ext>
            </a:extLst>
          </p:cNvPr>
          <p:cNvSpPr txBox="1"/>
          <p:nvPr/>
        </p:nvSpPr>
        <p:spPr>
          <a:xfrm>
            <a:off x="372139" y="2822670"/>
            <a:ext cx="7666879" cy="523220"/>
          </a:xfrm>
          <a:prstGeom prst="rect">
            <a:avLst/>
          </a:prstGeom>
          <a:noFill/>
        </p:spPr>
        <p:txBody>
          <a:bodyPr wrap="square">
            <a:spAutoFit/>
          </a:bodyPr>
          <a:lstStyle/>
          <a:p>
            <a:r>
              <a:rPr lang="en-US" b="0" i="0" dirty="0">
                <a:effectLst/>
                <a:highlight>
                  <a:srgbClr val="F9FAFC"/>
                </a:highlight>
                <a:latin typeface="euclid_circular_a"/>
              </a:rPr>
              <a:t>The process goes on until the second last element is reached.</a:t>
            </a:r>
            <a:br>
              <a:rPr lang="en-US" dirty="0"/>
            </a:br>
            <a:endParaRPr lang="en-IN" dirty="0"/>
          </a:p>
        </p:txBody>
      </p:sp>
      <p:pic>
        <p:nvPicPr>
          <p:cNvPr id="16" name="Picture 15">
            <a:extLst>
              <a:ext uri="{FF2B5EF4-FFF2-40B4-BE49-F238E27FC236}">
                <a16:creationId xmlns:a16="http://schemas.microsoft.com/office/drawing/2014/main" id="{454C85E0-43CB-07BC-F03A-CB4D362861C3}"/>
              </a:ext>
            </a:extLst>
          </p:cNvPr>
          <p:cNvPicPr>
            <a:picLocks noChangeAspect="1"/>
          </p:cNvPicPr>
          <p:nvPr/>
        </p:nvPicPr>
        <p:blipFill>
          <a:blip r:embed="rId4"/>
          <a:stretch>
            <a:fillRect/>
          </a:stretch>
        </p:blipFill>
        <p:spPr>
          <a:xfrm>
            <a:off x="1624012" y="3180407"/>
            <a:ext cx="5800725" cy="1807968"/>
          </a:xfrm>
          <a:prstGeom prst="rect">
            <a:avLst/>
          </a:prstGeom>
        </p:spPr>
      </p:pic>
      <p:sp>
        <p:nvSpPr>
          <p:cNvPr id="5" name="Rectangle 4">
            <a:extLst>
              <a:ext uri="{FF2B5EF4-FFF2-40B4-BE49-F238E27FC236}">
                <a16:creationId xmlns:a16="http://schemas.microsoft.com/office/drawing/2014/main" id="{5B4B6C16-017C-3D4D-E888-55A349C57039}"/>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61936832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Quick Sort</a:t>
            </a:r>
          </a:p>
          <a:p>
            <a:br>
              <a:rPr lang="en-IN" sz="1200" b="0" i="0" dirty="0">
                <a:effectLst/>
                <a:highlight>
                  <a:srgbClr val="F9FAFC"/>
                </a:highlight>
                <a:latin typeface="euclid_circular_a"/>
              </a:rPr>
            </a:br>
            <a:r>
              <a:rPr lang="en-US" sz="1500" b="1" dirty="0">
                <a:latin typeface="Time "/>
              </a:rPr>
              <a:t> </a:t>
            </a:r>
            <a:r>
              <a:rPr lang="en-US" sz="1200" b="0" i="0" dirty="0">
                <a:effectLst/>
                <a:highlight>
                  <a:srgbClr val="F9FAFC"/>
                </a:highlight>
                <a:latin typeface="euclid_circular_a"/>
              </a:rPr>
              <a:t>Finally, the pivot element is swapped with the second pointer.</a:t>
            </a:r>
            <a:endParaRPr lang="en-US" sz="1500" b="1" dirty="0">
              <a:latin typeface="Time "/>
            </a:endParaRP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970DFF75-D6CC-573C-8A8B-2D8D7B3A2666}"/>
              </a:ext>
            </a:extLst>
          </p:cNvPr>
          <p:cNvPicPr>
            <a:picLocks noChangeAspect="1"/>
          </p:cNvPicPr>
          <p:nvPr/>
        </p:nvPicPr>
        <p:blipFill>
          <a:blip r:embed="rId3"/>
          <a:stretch>
            <a:fillRect/>
          </a:stretch>
        </p:blipFill>
        <p:spPr>
          <a:xfrm>
            <a:off x="1850508" y="1144557"/>
            <a:ext cx="5676900" cy="1457325"/>
          </a:xfrm>
          <a:prstGeom prst="rect">
            <a:avLst/>
          </a:prstGeom>
        </p:spPr>
      </p:pic>
      <p:sp>
        <p:nvSpPr>
          <p:cNvPr id="5" name="Rectangle 4">
            <a:extLst>
              <a:ext uri="{FF2B5EF4-FFF2-40B4-BE49-F238E27FC236}">
                <a16:creationId xmlns:a16="http://schemas.microsoft.com/office/drawing/2014/main" id="{0C4BD8B2-E7E1-6D9F-5CFF-A359A1B903F5}"/>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05038255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Quick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TextBox 5">
            <a:extLst>
              <a:ext uri="{FF2B5EF4-FFF2-40B4-BE49-F238E27FC236}">
                <a16:creationId xmlns:a16="http://schemas.microsoft.com/office/drawing/2014/main" id="{8EE93C90-2B28-6E63-A805-FE6C7722A520}"/>
              </a:ext>
            </a:extLst>
          </p:cNvPr>
          <p:cNvSpPr txBox="1"/>
          <p:nvPr/>
        </p:nvSpPr>
        <p:spPr>
          <a:xfrm>
            <a:off x="372139" y="762886"/>
            <a:ext cx="8506047" cy="738664"/>
          </a:xfrm>
          <a:prstGeom prst="rect">
            <a:avLst/>
          </a:prstGeom>
          <a:noFill/>
        </p:spPr>
        <p:txBody>
          <a:bodyPr wrap="square">
            <a:spAutoFit/>
          </a:bodyPr>
          <a:lstStyle/>
          <a:p>
            <a:pPr algn="l"/>
            <a:r>
              <a:rPr lang="en-US" b="1" i="0" dirty="0">
                <a:effectLst/>
                <a:highlight>
                  <a:srgbClr val="F9FAFC"/>
                </a:highlight>
                <a:latin typeface="euclid_circular_a"/>
              </a:rPr>
              <a:t>3. Divide Subarrays</a:t>
            </a:r>
            <a:endParaRPr lang="en-US" b="0" i="0" dirty="0">
              <a:effectLst/>
              <a:highlight>
                <a:srgbClr val="F9FAFC"/>
              </a:highlight>
              <a:latin typeface="euclid_circular_a"/>
            </a:endParaRPr>
          </a:p>
          <a:p>
            <a:pPr algn="l"/>
            <a:r>
              <a:rPr lang="en-US" b="0" i="0" dirty="0">
                <a:effectLst/>
                <a:highlight>
                  <a:srgbClr val="F9FAFC"/>
                </a:highlight>
                <a:latin typeface="euclid_circular_a"/>
              </a:rPr>
              <a:t>Pivot elements are again chosen for the left and the right sub-parts separately. And, </a:t>
            </a:r>
            <a:r>
              <a:rPr lang="en-US" b="1" i="0" dirty="0">
                <a:effectLst/>
                <a:highlight>
                  <a:srgbClr val="F9FAFC"/>
                </a:highlight>
                <a:latin typeface="euclid_circular_a"/>
              </a:rPr>
              <a:t>step 2</a:t>
            </a:r>
            <a:r>
              <a:rPr lang="en-US" b="0" i="0" dirty="0">
                <a:effectLst/>
                <a:highlight>
                  <a:srgbClr val="F9FAFC"/>
                </a:highlight>
                <a:latin typeface="euclid_circular_a"/>
              </a:rPr>
              <a:t> is repeated</a:t>
            </a:r>
          </a:p>
          <a:p>
            <a:pPr algn="l"/>
            <a:endParaRPr lang="en-US" b="0" i="0" dirty="0">
              <a:solidFill>
                <a:srgbClr val="0D0D0D"/>
              </a:solidFill>
              <a:effectLst/>
              <a:highlight>
                <a:srgbClr val="FFFFFF"/>
              </a:highlight>
              <a:latin typeface="Time "/>
            </a:endParaRPr>
          </a:p>
        </p:txBody>
      </p:sp>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716EA143-82DB-457E-0603-493883BA8419}"/>
              </a:ext>
            </a:extLst>
          </p:cNvPr>
          <p:cNvPicPr>
            <a:picLocks noChangeAspect="1"/>
          </p:cNvPicPr>
          <p:nvPr/>
        </p:nvPicPr>
        <p:blipFill>
          <a:blip r:embed="rId3"/>
          <a:stretch>
            <a:fillRect/>
          </a:stretch>
        </p:blipFill>
        <p:spPr>
          <a:xfrm>
            <a:off x="1485900" y="1402169"/>
            <a:ext cx="6391275" cy="2714625"/>
          </a:xfrm>
          <a:prstGeom prst="rect">
            <a:avLst/>
          </a:prstGeom>
        </p:spPr>
      </p:pic>
      <p:sp>
        <p:nvSpPr>
          <p:cNvPr id="5" name="Rectangle 4">
            <a:extLst>
              <a:ext uri="{FF2B5EF4-FFF2-40B4-BE49-F238E27FC236}">
                <a16:creationId xmlns:a16="http://schemas.microsoft.com/office/drawing/2014/main" id="{BD062282-3839-5AC7-6541-86F8E4FDFB7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4205373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IN" sz="1200" b="1" i="0" dirty="0">
                <a:solidFill>
                  <a:srgbClr val="25265E"/>
                </a:solidFill>
                <a:effectLst/>
                <a:highlight>
                  <a:srgbClr val="F9FAFC"/>
                </a:highlight>
                <a:latin typeface="euclid_circular_a"/>
              </a:rPr>
              <a:t>Working of  Quick Sort</a:t>
            </a: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74726E22-3608-2082-2C87-B98FBE86D754}"/>
              </a:ext>
            </a:extLst>
          </p:cNvPr>
          <p:cNvPicPr>
            <a:picLocks noChangeAspect="1"/>
          </p:cNvPicPr>
          <p:nvPr/>
        </p:nvPicPr>
        <p:blipFill>
          <a:blip r:embed="rId3"/>
          <a:stretch>
            <a:fillRect/>
          </a:stretch>
        </p:blipFill>
        <p:spPr>
          <a:xfrm>
            <a:off x="1504950" y="1138237"/>
            <a:ext cx="6134100" cy="2867025"/>
          </a:xfrm>
          <a:prstGeom prst="rect">
            <a:avLst/>
          </a:prstGeom>
        </p:spPr>
      </p:pic>
      <p:sp>
        <p:nvSpPr>
          <p:cNvPr id="5" name="Rectangle 4">
            <a:extLst>
              <a:ext uri="{FF2B5EF4-FFF2-40B4-BE49-F238E27FC236}">
                <a16:creationId xmlns:a16="http://schemas.microsoft.com/office/drawing/2014/main" id="{BB4A048D-EBEC-5F2F-62D7-6E52F15B98A7}"/>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53358430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pPr marL="0" indent="0" algn="ctr">
              <a:buNone/>
            </a:pPr>
            <a:r>
              <a:rPr lang="en-US" sz="1800" b="0" i="0" u="none" strike="noStrike" baseline="0" dirty="0">
                <a:solidFill>
                  <a:srgbClr val="000000"/>
                </a:solidFill>
                <a:latin typeface="Times New Roman" panose="02020603050405020304" pitchFamily="18" charset="0"/>
              </a:rPr>
              <a:t>Comparison of Complexities of all sorting techniques. 	</a:t>
            </a:r>
          </a:p>
          <a:p>
            <a:pPr marL="0" indent="0" algn="ctr">
              <a:buNone/>
            </a:pPr>
            <a:endParaRPr lang="en-IN" sz="1200" b="1" i="0" dirty="0">
              <a:solidFill>
                <a:srgbClr val="25265E"/>
              </a:solidFill>
              <a:effectLst/>
              <a:highlight>
                <a:srgbClr val="F9FAFC"/>
              </a:highlight>
              <a:latin typeface="euclid_circular_a"/>
            </a:endParaRPr>
          </a:p>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B0ED463B-6B18-81E8-B354-FA439B59C42E}"/>
              </a:ext>
            </a:extLst>
          </p:cNvPr>
          <p:cNvPicPr>
            <a:picLocks noChangeAspect="1"/>
          </p:cNvPicPr>
          <p:nvPr/>
        </p:nvPicPr>
        <p:blipFill>
          <a:blip r:embed="rId3"/>
          <a:stretch>
            <a:fillRect/>
          </a:stretch>
        </p:blipFill>
        <p:spPr>
          <a:xfrm>
            <a:off x="1190625" y="702620"/>
            <a:ext cx="6762750" cy="3971925"/>
          </a:xfrm>
          <a:prstGeom prst="rect">
            <a:avLst/>
          </a:prstGeom>
        </p:spPr>
      </p:pic>
      <p:sp>
        <p:nvSpPr>
          <p:cNvPr id="5" name="Rectangle 4">
            <a:extLst>
              <a:ext uri="{FF2B5EF4-FFF2-40B4-BE49-F238E27FC236}">
                <a16:creationId xmlns:a16="http://schemas.microsoft.com/office/drawing/2014/main" id="{934B3844-B512-3BA9-4331-29C569CCE472}"/>
              </a:ext>
            </a:extLst>
          </p:cNvPr>
          <p:cNvSpPr/>
          <p:nvPr/>
        </p:nvSpPr>
        <p:spPr>
          <a:xfrm>
            <a:off x="0" y="4877121"/>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80715286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AE031F-CC20-AAD2-76FD-DAC083BC848F}"/>
              </a:ext>
            </a:extLst>
          </p:cNvPr>
          <p:cNvSpPr>
            <a:spLocks noGrp="1"/>
          </p:cNvSpPr>
          <p:nvPr>
            <p:ph idx="1"/>
          </p:nvPr>
        </p:nvSpPr>
        <p:spPr>
          <a:xfrm>
            <a:off x="362311" y="272917"/>
            <a:ext cx="8314661" cy="4167963"/>
          </a:xfrm>
        </p:spPr>
        <p:txBody>
          <a:bodyPr/>
          <a:lstStyle/>
          <a:p>
            <a:br>
              <a:rPr lang="en-IN" sz="1200" b="0" i="0" dirty="0">
                <a:effectLst/>
                <a:highlight>
                  <a:srgbClr val="F9FAFC"/>
                </a:highlight>
                <a:latin typeface="euclid_circular_a"/>
              </a:rPr>
            </a:br>
            <a:r>
              <a:rPr lang="en-US" sz="1500" b="1" dirty="0">
                <a:latin typeface="Time "/>
              </a:rPr>
              <a:t> </a:t>
            </a:r>
          </a:p>
          <a:p>
            <a:pPr marL="0" indent="0" algn="just">
              <a:buNone/>
            </a:pPr>
            <a:endParaRPr lang="en-US" dirty="0">
              <a:latin typeface="Time "/>
            </a:endParaRPr>
          </a:p>
        </p:txBody>
      </p:sp>
      <p:pic>
        <p:nvPicPr>
          <p:cNvPr id="4" name="Picture 3">
            <a:extLst>
              <a:ext uri="{FF2B5EF4-FFF2-40B4-BE49-F238E27FC236}">
                <a16:creationId xmlns:a16="http://schemas.microsoft.com/office/drawing/2014/main" id="{23AE003D-CF53-DADF-54C4-57C5AC8BF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Rectangle 4">
            <a:extLst>
              <a:ext uri="{FF2B5EF4-FFF2-40B4-BE49-F238E27FC236}">
                <a16:creationId xmlns:a16="http://schemas.microsoft.com/office/drawing/2014/main" id="{18B73808-82F0-A764-3A6E-8362B9837B4B}"/>
              </a:ext>
            </a:extLst>
          </p:cNvPr>
          <p:cNvSpPr>
            <a:spLocks noChangeArrowheads="1"/>
          </p:cNvSpPr>
          <p:nvPr/>
        </p:nvSpPr>
        <p:spPr bwMode="auto">
          <a:xfrm>
            <a:off x="0" y="-138499"/>
            <a:ext cx="65" cy="276999"/>
          </a:xfrm>
          <a:prstGeom prst="rect">
            <a:avLst/>
          </a:prstGeom>
          <a:solidFill>
            <a:srgbClr val="F9FA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E82A0017-FCC6-3381-6A1B-6C4F4C0A9B82}"/>
              </a:ext>
            </a:extLst>
          </p:cNvPr>
          <p:cNvSpPr txBox="1"/>
          <p:nvPr/>
        </p:nvSpPr>
        <p:spPr>
          <a:xfrm>
            <a:off x="1709530" y="1361661"/>
            <a:ext cx="5059018" cy="769441"/>
          </a:xfrm>
          <a:prstGeom prst="rect">
            <a:avLst/>
          </a:prstGeom>
          <a:noFill/>
        </p:spPr>
        <p:txBody>
          <a:bodyPr wrap="square" rtlCol="0">
            <a:spAutoFit/>
          </a:bodyPr>
          <a:lstStyle/>
          <a:p>
            <a:pPr algn="ctr"/>
            <a:r>
              <a:rPr lang="en-US" sz="4400" dirty="0">
                <a:latin typeface="Time "/>
              </a:rPr>
              <a:t>Thank You </a:t>
            </a:r>
            <a:endParaRPr lang="en-IN" sz="4400" dirty="0">
              <a:latin typeface="Time "/>
            </a:endParaRPr>
          </a:p>
        </p:txBody>
      </p:sp>
      <p:sp>
        <p:nvSpPr>
          <p:cNvPr id="6" name="Rectangle 5">
            <a:extLst>
              <a:ext uri="{FF2B5EF4-FFF2-40B4-BE49-F238E27FC236}">
                <a16:creationId xmlns:a16="http://schemas.microsoft.com/office/drawing/2014/main" id="{FA331C84-526B-06D0-B088-FC2885EA3C15}"/>
              </a:ext>
            </a:extLst>
          </p:cNvPr>
          <p:cNvSpPr/>
          <p:nvPr/>
        </p:nvSpPr>
        <p:spPr>
          <a:xfrm>
            <a:off x="0" y="4872526"/>
            <a:ext cx="9144000" cy="252687"/>
          </a:xfrm>
          <a:prstGeom prst="rect">
            <a:avLst/>
          </a:prstGeom>
          <a:solidFill>
            <a:srgbClr val="25A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itchFamily="18" charset="0"/>
                <a:cs typeface="Times New Roman" pitchFamily="18" charset="0"/>
              </a:rPr>
              <a:t>Mr. Vikas Maral, Department of  Computer engineering, VIT, Pune- 411037</a:t>
            </a:r>
            <a:endParaRPr lang="en-IN"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044780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10741</TotalTime>
  <Words>10416</Words>
  <Application>Microsoft Office PowerPoint</Application>
  <PresentationFormat>On-screen Show (16:9)</PresentationFormat>
  <Paragraphs>1161</Paragraphs>
  <Slides>118</Slides>
  <Notes>44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118</vt:i4>
      </vt:variant>
    </vt:vector>
  </HeadingPairs>
  <TitlesOfParts>
    <vt:vector size="133" baseType="lpstr">
      <vt:lpstr>Amasis MT Pro</vt:lpstr>
      <vt:lpstr>Arial</vt:lpstr>
      <vt:lpstr>Calibri</vt:lpstr>
      <vt:lpstr>Calibri Light</vt:lpstr>
      <vt:lpstr>Courier New</vt:lpstr>
      <vt:lpstr>Droid Sans Mono</vt:lpstr>
      <vt:lpstr>euclid_circular_a</vt:lpstr>
      <vt:lpstr>Nunito</vt:lpstr>
      <vt:lpstr>Sitka Heading Semibold</vt:lpstr>
      <vt:lpstr>Söhne</vt:lpstr>
      <vt:lpstr>Tahoma</vt:lpstr>
      <vt:lpstr>Time </vt:lpstr>
      <vt:lpstr>Times New Roman</vt:lpstr>
      <vt:lpstr>Wingdings</vt:lpstr>
      <vt:lpstr>Office Theme</vt:lpstr>
      <vt:lpstr>  </vt:lpstr>
      <vt:lpstr>Syllabus of this Subject</vt:lpstr>
      <vt:lpstr>Syllabus of this Subject</vt:lpstr>
      <vt:lpstr>Objective/s of this session </vt:lpstr>
      <vt:lpstr>Session Content</vt:lpstr>
      <vt:lpstr>What is Data Structure</vt:lpstr>
      <vt:lpstr>What is Data Structure</vt:lpstr>
      <vt:lpstr>     Algorithm Design Tools: Flowcharts and Pseudocode  </vt:lpstr>
      <vt:lpstr>     Algorithm Design Tools: Flowcharts and Pseudocode  </vt:lpstr>
      <vt:lpstr>     Algorithm Design Tools: Flowcharts and Pseudocode  </vt:lpstr>
      <vt:lpstr>     Algorithm Design Tools: Flowcharts and Pseudocode  </vt:lpstr>
      <vt:lpstr>     Algorithm Design Tools: Flowcharts and Pseudocode  </vt:lpstr>
      <vt:lpstr>Homework on Algorithms Desing Tool </vt:lpstr>
      <vt:lpstr>Asymptotic Notation</vt:lpstr>
      <vt:lpstr>Asymptotic Notation</vt:lpstr>
      <vt:lpstr>Asymptotic Notation</vt:lpstr>
      <vt:lpstr>Asymptotic Notation</vt:lpstr>
      <vt:lpstr>Asymptotic Notation</vt:lpstr>
      <vt:lpstr>What is Data Structure</vt:lpstr>
      <vt:lpstr>Real Time Application of Data Structure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Array</vt:lpstr>
      <vt:lpstr>1D  Array</vt:lpstr>
      <vt:lpstr>Array implementation of a List</vt:lpstr>
      <vt:lpstr>Storage representation of 1D Array</vt:lpstr>
      <vt:lpstr>Address Calculation in 1D Array</vt:lpstr>
      <vt:lpstr>Contd…Address Calculation in 1D Array Example</vt:lpstr>
      <vt:lpstr>Two-Dimensional Array</vt:lpstr>
      <vt:lpstr>Two-Dimensional Array</vt:lpstr>
      <vt:lpstr>Two-Dimensional Array</vt:lpstr>
      <vt:lpstr>Storage Representation of 2D Array</vt:lpstr>
      <vt:lpstr>Row Major Representation</vt:lpstr>
      <vt:lpstr>Column Major Representation</vt:lpstr>
      <vt:lpstr>Address Calculation in 2D Array</vt:lpstr>
      <vt:lpstr>Contd.. Address Calculation in 2D Array Example</vt:lpstr>
      <vt:lpstr>Contd.. Address Calculation in 2D Array Example</vt:lpstr>
      <vt:lpstr>Note </vt:lpstr>
      <vt:lpstr>Exercise</vt:lpstr>
      <vt:lpstr>Exercise Solution</vt:lpstr>
      <vt:lpstr>Sparse Matrices using Array</vt:lpstr>
      <vt:lpstr>Matrix Addition</vt:lpstr>
      <vt:lpstr>Sparse Matrix Addition</vt:lpstr>
      <vt:lpstr>Matrix Transpose</vt:lpstr>
      <vt:lpstr>Sparse Matrix  Simple Transpose</vt:lpstr>
      <vt:lpstr>Running Time Analysis of Simple Transpose </vt:lpstr>
      <vt:lpstr>Sparse Matrix  Fast Transpose</vt:lpstr>
      <vt:lpstr>Fast Transpose Algorithm</vt:lpstr>
      <vt:lpstr>Fast Transpose –Pseudo Code</vt:lpstr>
      <vt:lpstr>Running Time Analysis of Fast Transpose </vt:lpstr>
      <vt:lpstr>Polynomial representation using Array</vt:lpstr>
      <vt:lpstr>Polynomial Addition using Array</vt:lpstr>
      <vt:lpstr>Searching</vt:lpstr>
      <vt:lpstr>Searching Examples </vt:lpstr>
      <vt:lpstr>Important of Searching</vt:lpstr>
      <vt:lpstr>Application of Searching</vt:lpstr>
      <vt:lpstr>How to Find Out</vt:lpstr>
      <vt:lpstr>Linear Search</vt:lpstr>
      <vt:lpstr>Linear Search Algorithms </vt:lpstr>
      <vt:lpstr>Linear Search Code </vt:lpstr>
      <vt:lpstr>Time Complexity Linear Search </vt:lpstr>
      <vt:lpstr>Disadvantages of Linear Search</vt:lpstr>
      <vt:lpstr>Binary Search Algorithms </vt:lpstr>
      <vt:lpstr>Steps of Binary Search</vt:lpstr>
      <vt:lpstr>Algorithms for Binary Search</vt:lpstr>
      <vt:lpstr>Code using C++</vt:lpstr>
      <vt:lpstr>Importance Binary Search Algorithms </vt:lpstr>
      <vt:lpstr>Time Complexity Binary Search Algorithms </vt:lpstr>
      <vt:lpstr>Difference Between Linear and Binary Search </vt:lpstr>
      <vt:lpstr>Sorting</vt:lpstr>
      <vt:lpstr>Types of Sorting </vt:lpstr>
      <vt:lpstr>Bubble Sort</vt:lpstr>
      <vt:lpstr>Bubble Sort</vt:lpstr>
      <vt:lpstr>Advantages Bubble Sort</vt:lpstr>
      <vt:lpstr>Algorithms Bubble Sort</vt:lpstr>
      <vt:lpstr>Bubble Sort</vt:lpstr>
      <vt:lpstr>Disadvantages Bubble Sort</vt:lpstr>
      <vt:lpstr> Selection Sort  </vt:lpstr>
      <vt:lpstr> Selection Sort  </vt:lpstr>
      <vt:lpstr> Selection Sort  </vt:lpstr>
      <vt:lpstr> Selection Sort  </vt:lpstr>
      <vt:lpstr> Selection Sort  </vt:lpstr>
      <vt:lpstr> Selection Sort  </vt:lpstr>
      <vt:lpstr> Selection Sort  </vt:lpstr>
      <vt:lpstr> Selection Sort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Standard Practices for Engineers</dc:title>
  <dc:creator>Viit Viit</dc:creator>
  <cp:lastModifiedBy>VIKAS MARAL</cp:lastModifiedBy>
  <cp:revision>306</cp:revision>
  <dcterms:created xsi:type="dcterms:W3CDTF">2020-04-02T16:05:06Z</dcterms:created>
  <dcterms:modified xsi:type="dcterms:W3CDTF">2025-09-04T02:59:56Z</dcterms:modified>
</cp:coreProperties>
</file>